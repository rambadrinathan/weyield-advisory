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1417320"/>
            <a:ext cx="822960" cy="54864"/>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645920"/>
            <a:ext cx="9601200" cy="1737360"/>
          </a:xfrm>
          <a:prstGeom prst="rect">
            <a:avLst/>
          </a:prstGeom>
          <a:noFill/>
        </p:spPr>
        <p:txBody>
          <a:bodyPr wrap="square" lIns="0" tIns="0" rIns="0" bIns="0" anchor="t">
            <a:spAutoFit/>
          </a:bodyPr>
          <a:lstStyle/>
          <a:p>
            <a:pPr algn="l">
              <a:lnSpc>
                <a:spcPct val="100000"/>
              </a:lnSpc>
              <a:spcAft>
                <a:spcPts val="0"/>
              </a:spcAft>
            </a:pPr>
            <a:r>
              <a:rPr sz="4400" b="0" i="0">
                <a:solidFill>
                  <a:srgbClr val="FFFFFF"/>
                </a:solidFill>
                <a:latin typeface="Georgia"/>
              </a:rPr>
              <a:t>Building the</a:t>
            </a:r>
          </a:p>
          <a:p>
            <a:pPr algn="l">
              <a:lnSpc>
                <a:spcPct val="100000"/>
              </a:lnSpc>
              <a:spcAft>
                <a:spcPts val="0"/>
              </a:spcAft>
            </a:pPr>
            <a:r>
              <a:rPr sz="4400" b="0" i="0">
                <a:solidFill>
                  <a:srgbClr val="FFFFFF"/>
                </a:solidFill>
                <a:latin typeface="Georgia"/>
              </a:rPr>
              <a:t>AI-native WeYield</a:t>
            </a:r>
          </a:p>
        </p:txBody>
      </p:sp>
      <p:sp>
        <p:nvSpPr>
          <p:cNvPr id="5" name="TextBox 4"/>
          <p:cNvSpPr txBox="1"/>
          <p:nvPr/>
        </p:nvSpPr>
        <p:spPr>
          <a:xfrm>
            <a:off x="457200" y="3429000"/>
            <a:ext cx="8686800" cy="822960"/>
          </a:xfrm>
          <a:prstGeom prst="rect">
            <a:avLst/>
          </a:prstGeom>
          <a:noFill/>
        </p:spPr>
        <p:txBody>
          <a:bodyPr wrap="square" lIns="0" tIns="0" rIns="0" bIns="0" anchor="t">
            <a:spAutoFit/>
          </a:bodyPr>
          <a:lstStyle/>
          <a:p>
            <a:pPr algn="l">
              <a:lnSpc>
                <a:spcPct val="115000"/>
              </a:lnSpc>
              <a:spcAft>
                <a:spcPts val="400"/>
              </a:spcAft>
            </a:pPr>
            <a:r>
              <a:rPr sz="1600" b="0" i="0">
                <a:solidFill>
                  <a:srgbClr val="99B4FF"/>
                </a:solidFill>
                <a:latin typeface="Arial"/>
              </a:rPr>
              <a:t>From rate optimisation for revenue managers to fleet P&amp;L optimisation for owners</a:t>
            </a:r>
          </a:p>
        </p:txBody>
      </p:sp>
      <p:sp>
        <p:nvSpPr>
          <p:cNvPr id="6" name="TextBox 5"/>
          <p:cNvSpPr txBox="1"/>
          <p:nvPr/>
        </p:nvSpPr>
        <p:spPr>
          <a:xfrm>
            <a:off x="457200" y="4617720"/>
            <a:ext cx="7315200" cy="822960"/>
          </a:xfrm>
          <a:prstGeom prst="rect">
            <a:avLst/>
          </a:prstGeom>
          <a:noFill/>
        </p:spPr>
        <p:txBody>
          <a:bodyPr wrap="square" lIns="0" tIns="0" rIns="0" bIns="0" anchor="t">
            <a:spAutoFit/>
          </a:bodyPr>
          <a:lstStyle/>
          <a:p>
            <a:pPr algn="l">
              <a:spcAft>
                <a:spcPts val="300"/>
              </a:spcAft>
            </a:pPr>
            <a:r>
              <a:rPr sz="1200" b="1" i="0">
                <a:solidFill>
                  <a:srgbClr val="FFFFFF"/>
                </a:solidFill>
                <a:latin typeface="Arial"/>
              </a:rPr>
              <a:t>Strategic recommendation</a:t>
            </a:r>
          </a:p>
          <a:p>
            <a:pPr algn="l">
              <a:spcAft>
                <a:spcPts val="300"/>
              </a:spcAft>
            </a:pPr>
            <a:r>
              <a:rPr sz="1100" b="0" i="0">
                <a:solidFill>
                  <a:srgbClr val="99B4FF"/>
                </a:solidFill>
                <a:latin typeface="Arial"/>
              </a:rPr>
              <a:t>Prepared for Emmanuel Scuto, Chief Executive Officer</a:t>
            </a:r>
          </a:p>
          <a:p>
            <a:pPr algn="l">
              <a:spcAft>
                <a:spcPts val="400"/>
              </a:spcAft>
            </a:pPr>
            <a:r>
              <a:rPr sz="1100" b="0" i="0">
                <a:solidFill>
                  <a:srgbClr val="99B4FF"/>
                </a:solidFill>
                <a:latin typeface="Arial"/>
              </a:rPr>
              <a:t>Ram Badrinathan  ·  September 2026</a:t>
            </a:r>
          </a:p>
        </p:txBody>
      </p:sp>
      <p:cxnSp>
        <p:nvCxnSpPr>
          <p:cNvPr id="7" name="Connector 6"/>
          <p:cNvCxnSpPr/>
          <p:nvPr/>
        </p:nvCxnSpPr>
        <p:spPr>
          <a:xfrm>
            <a:off x="457200" y="6126480"/>
            <a:ext cx="11277295" cy="0"/>
          </a:xfrm>
          <a:prstGeom prst="line">
            <a:avLst/>
          </a:prstGeom>
          <a:ln w="6350">
            <a:solidFill>
              <a:srgbClr val="2A3F5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217920"/>
            <a:ext cx="7315200" cy="274320"/>
          </a:xfrm>
          <a:prstGeom prst="rect">
            <a:avLst/>
          </a:prstGeom>
          <a:noFill/>
        </p:spPr>
        <p:txBody>
          <a:bodyPr wrap="square" lIns="0" tIns="0" rIns="0" bIns="0" anchor="t">
            <a:spAutoFit/>
          </a:bodyPr>
          <a:lstStyle/>
          <a:p>
            <a:pPr algn="l">
              <a:spcAft>
                <a:spcPts val="400"/>
              </a:spcAft>
            </a:pPr>
            <a:r>
              <a:rPr sz="800" b="0" i="0">
                <a:solidFill>
                  <a:srgbClr val="99B4FF"/>
                </a:solidFill>
                <a:latin typeface="Arial"/>
              </a:rPr>
              <a:t>PRELIMINARY — FOR DISCUSSION  ·  CONFIDENTIAL</a:t>
            </a:r>
          </a:p>
        </p:txBody>
      </p:sp>
      <p:sp>
        <p:nvSpPr>
          <p:cNvPr id="9" name="TextBox 8"/>
          <p:cNvSpPr txBox="1"/>
          <p:nvPr/>
        </p:nvSpPr>
        <p:spPr>
          <a:xfrm>
            <a:off x="8046720" y="6217920"/>
            <a:ext cx="3657600" cy="274320"/>
          </a:xfrm>
          <a:prstGeom prst="rect">
            <a:avLst/>
          </a:prstGeom>
          <a:noFill/>
        </p:spPr>
        <p:txBody>
          <a:bodyPr wrap="square" lIns="0" tIns="0" rIns="0" bIns="0" anchor="t">
            <a:spAutoFit/>
          </a:bodyPr>
          <a:lstStyle/>
          <a:p>
            <a:pPr algn="r">
              <a:spcAft>
                <a:spcPts val="400"/>
              </a:spcAft>
            </a:pPr>
            <a:r>
              <a:rPr sz="800" b="0" i="0">
                <a:solidFill>
                  <a:srgbClr val="99B4FF"/>
                </a:solidFill>
                <a:latin typeface="Arial"/>
              </a:rPr>
              <a:t>Figures as reported 10 September 2026; not verified against company accounts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Executive summary — WeYield should stop selling rates to revenue managers and start selling fleet P&amp;L to owners; AI is what makes that affordable</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EXECUTIVE SUMMARY</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Olivier Jager strategic review and briefing call, 10 Sep 2026; The AI Turn for WeYield (Sep 2026); analysis. Year-3 figures illustrative — see appendix for treatment of every number.</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2</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63624"/>
            <a:ext cx="310896" cy="3108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563624"/>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1</a:t>
            </a:r>
          </a:p>
        </p:txBody>
      </p:sp>
      <p:sp>
        <p:nvSpPr>
          <p:cNvPr id="10" name="TextBox 9"/>
          <p:cNvSpPr txBox="1"/>
          <p:nvPr/>
        </p:nvSpPr>
        <p:spPr>
          <a:xfrm>
            <a:off x="914400" y="1527048"/>
            <a:ext cx="10820095" cy="731520"/>
          </a:xfrm>
          <a:prstGeom prst="rect">
            <a:avLst/>
          </a:prstGeom>
          <a:noFill/>
        </p:spPr>
        <p:txBody>
          <a:bodyPr wrap="square" lIns="0" tIns="0" rIns="0" bIns="0" anchor="t">
            <a:spAutoFit/>
          </a:bodyPr>
          <a:lstStyle/>
          <a:p>
            <a:pPr algn="l">
              <a:lnSpc>
                <a:spcPct val="112000"/>
              </a:lnSpc>
              <a:spcAft>
                <a:spcPts val="0"/>
              </a:spcAft>
            </a:pPr>
            <a:r>
              <a:rPr sz="1100" b="1" i="0">
                <a:solidFill>
                  <a:srgbClr val="262626"/>
                </a:solidFill>
                <a:latin typeface="Arial"/>
              </a:rPr>
              <a:t>A sound business with broken operating leverage.</a:t>
            </a:r>
            <a:r>
              <a:rPr sz="1100" b="0" i="0">
                <a:solidFill>
                  <a:srgbClr val="262626"/>
                </a:solidFill>
                <a:latin typeface="Arial"/>
              </a:rPr>
              <a:t> €1.5M revenue, ~120 customers, 10–15% growth, EBITDA flat to contracting. The standing ~€2M offer (1.3× revenue) is the correct price for that profile — not a lowball.</a:t>
            </a:r>
          </a:p>
        </p:txBody>
      </p:sp>
      <p:sp>
        <p:nvSpPr>
          <p:cNvPr id="11" name="Rectangle 10"/>
          <p:cNvSpPr/>
          <p:nvPr/>
        </p:nvSpPr>
        <p:spPr>
          <a:xfrm>
            <a:off x="457200" y="2331720"/>
            <a:ext cx="310896" cy="3108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7200" y="2331720"/>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2</a:t>
            </a:r>
          </a:p>
        </p:txBody>
      </p:sp>
      <p:sp>
        <p:nvSpPr>
          <p:cNvPr id="13" name="TextBox 12"/>
          <p:cNvSpPr txBox="1"/>
          <p:nvPr/>
        </p:nvSpPr>
        <p:spPr>
          <a:xfrm>
            <a:off x="914400" y="2295144"/>
            <a:ext cx="10820095" cy="731520"/>
          </a:xfrm>
          <a:prstGeom prst="rect">
            <a:avLst/>
          </a:prstGeom>
          <a:noFill/>
        </p:spPr>
        <p:txBody>
          <a:bodyPr wrap="square" lIns="0" tIns="0" rIns="0" bIns="0" anchor="t">
            <a:spAutoFit/>
          </a:bodyPr>
          <a:lstStyle/>
          <a:p>
            <a:pPr algn="l">
              <a:lnSpc>
                <a:spcPct val="112000"/>
              </a:lnSpc>
              <a:spcAft>
                <a:spcPts val="0"/>
              </a:spcAft>
            </a:pPr>
            <a:r>
              <a:rPr sz="1100" b="1" i="0">
                <a:solidFill>
                  <a:srgbClr val="262626"/>
                </a:solidFill>
                <a:latin typeface="Arial"/>
              </a:rPr>
              <a:t>The current product is structurally capped.</a:t>
            </a:r>
            <a:r>
              <a:rPr sz="1100" b="0" i="0">
                <a:solidFill>
                  <a:srgbClr val="262626"/>
                </a:solidFill>
                <a:latin typeface="Arial"/>
              </a:rPr>
              <a:t> Car rental operators pull five levers — price, move, substitute, buy, sell. WeYield optimises price and sizes the fleet for demand; </a:t>
            </a:r>
            <a:r>
              <a:rPr sz="1100" b="1" i="0">
                <a:solidFill>
                  <a:srgbClr val="262626"/>
                </a:solidFill>
                <a:latin typeface="Arial"/>
              </a:rPr>
              <a:t>nobody in this market optimises the fleet for value.</a:t>
            </a:r>
            <a:r>
              <a:rPr sz="1100" b="0" i="0">
                <a:solidFill>
                  <a:srgbClr val="262626"/>
                </a:solidFill>
                <a:latin typeface="Arial"/>
              </a:rPr>
              <a:t> At €12.5K implied ACV, the entire addressable market is ~€7.5M.</a:t>
            </a:r>
          </a:p>
        </p:txBody>
      </p:sp>
      <p:sp>
        <p:nvSpPr>
          <p:cNvPr id="14" name="Rectangle 13"/>
          <p:cNvSpPr/>
          <p:nvPr/>
        </p:nvSpPr>
        <p:spPr>
          <a:xfrm>
            <a:off x="457200" y="3099816"/>
            <a:ext cx="310896" cy="3108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 y="3099816"/>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3</a:t>
            </a:r>
          </a:p>
        </p:txBody>
      </p:sp>
      <p:sp>
        <p:nvSpPr>
          <p:cNvPr id="16" name="TextBox 15"/>
          <p:cNvSpPr txBox="1"/>
          <p:nvPr/>
        </p:nvSpPr>
        <p:spPr>
          <a:xfrm>
            <a:off x="914400" y="3063240"/>
            <a:ext cx="10820095" cy="731520"/>
          </a:xfrm>
          <a:prstGeom prst="rect">
            <a:avLst/>
          </a:prstGeom>
          <a:noFill/>
        </p:spPr>
        <p:txBody>
          <a:bodyPr wrap="square" lIns="0" tIns="0" rIns="0" bIns="0" anchor="t">
            <a:spAutoFit/>
          </a:bodyPr>
          <a:lstStyle/>
          <a:p>
            <a:pPr algn="l">
              <a:lnSpc>
                <a:spcPct val="112000"/>
              </a:lnSpc>
              <a:spcAft>
                <a:spcPts val="0"/>
              </a:spcAft>
            </a:pPr>
            <a:r>
              <a:rPr sz="1100" b="1" i="0">
                <a:solidFill>
                  <a:srgbClr val="262626"/>
                </a:solidFill>
                <a:latin typeface="Arial"/>
              </a:rPr>
              <a:t>The profit sits in a bracket WeYield does not touch.</a:t>
            </a:r>
            <a:r>
              <a:rPr sz="1100" b="0" i="0">
                <a:solidFill>
                  <a:srgbClr val="262626"/>
                </a:solidFill>
                <a:latin typeface="Arial"/>
              </a:rPr>
              <a:t> Operator net margin is ~4%; the year's result is decided at remarketing. A 1% gain in residual realisation is worth 20–45% of a 1,000-car operator's annual profit.</a:t>
            </a:r>
          </a:p>
        </p:txBody>
      </p:sp>
      <p:sp>
        <p:nvSpPr>
          <p:cNvPr id="17" name="Rectangle 16"/>
          <p:cNvSpPr/>
          <p:nvPr/>
        </p:nvSpPr>
        <p:spPr>
          <a:xfrm>
            <a:off x="457200" y="3867912"/>
            <a:ext cx="310896" cy="3108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200" y="3867912"/>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4</a:t>
            </a:r>
          </a:p>
        </p:txBody>
      </p:sp>
      <p:sp>
        <p:nvSpPr>
          <p:cNvPr id="19" name="TextBox 18"/>
          <p:cNvSpPr txBox="1"/>
          <p:nvPr/>
        </p:nvSpPr>
        <p:spPr>
          <a:xfrm>
            <a:off x="914400" y="3831336"/>
            <a:ext cx="10820095" cy="731520"/>
          </a:xfrm>
          <a:prstGeom prst="rect">
            <a:avLst/>
          </a:prstGeom>
          <a:noFill/>
        </p:spPr>
        <p:txBody>
          <a:bodyPr wrap="square" lIns="0" tIns="0" rIns="0" bIns="0" anchor="t">
            <a:spAutoFit/>
          </a:bodyPr>
          <a:lstStyle/>
          <a:p>
            <a:pPr algn="l">
              <a:lnSpc>
                <a:spcPct val="112000"/>
              </a:lnSpc>
              <a:spcAft>
                <a:spcPts val="0"/>
              </a:spcAft>
            </a:pPr>
            <a:r>
              <a:rPr sz="1100" b="1" i="0">
                <a:solidFill>
                  <a:srgbClr val="262626"/>
                </a:solidFill>
                <a:latin typeface="Arial"/>
              </a:rPr>
              <a:t>Five conditions converged since 2021.</a:t>
            </a:r>
            <a:r>
              <a:rPr sz="1100" b="0" i="0">
                <a:solidFill>
                  <a:srgbClr val="262626"/>
                </a:solidFill>
                <a:latin typeface="Arial"/>
              </a:rPr>
              <a:t> OEM buyback contraction moved residual risk to the long tail; EV/diesel volatility broke intuition; used-car data became an API; language models collapsed cost-to-serve; RateHighway is commoditising the pricing engine.</a:t>
            </a:r>
          </a:p>
        </p:txBody>
      </p:sp>
      <p:sp>
        <p:nvSpPr>
          <p:cNvPr id="20" name="Rectangle 19"/>
          <p:cNvSpPr/>
          <p:nvPr/>
        </p:nvSpPr>
        <p:spPr>
          <a:xfrm>
            <a:off x="457200" y="4636008"/>
            <a:ext cx="310896" cy="3108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4636008"/>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5</a:t>
            </a:r>
          </a:p>
        </p:txBody>
      </p:sp>
      <p:sp>
        <p:nvSpPr>
          <p:cNvPr id="22" name="TextBox 21"/>
          <p:cNvSpPr txBox="1"/>
          <p:nvPr/>
        </p:nvSpPr>
        <p:spPr>
          <a:xfrm>
            <a:off x="914400" y="4599432"/>
            <a:ext cx="10820095" cy="731520"/>
          </a:xfrm>
          <a:prstGeom prst="rect">
            <a:avLst/>
          </a:prstGeom>
          <a:noFill/>
        </p:spPr>
        <p:txBody>
          <a:bodyPr wrap="square" lIns="0" tIns="0" rIns="0" bIns="0" anchor="t">
            <a:spAutoFit/>
          </a:bodyPr>
          <a:lstStyle/>
          <a:p>
            <a:pPr algn="l">
              <a:lnSpc>
                <a:spcPct val="112000"/>
              </a:lnSpc>
              <a:spcAft>
                <a:spcPts val="0"/>
              </a:spcAft>
            </a:pPr>
            <a:r>
              <a:rPr sz="1100" b="1" i="0">
                <a:solidFill>
                  <a:srgbClr val="262626"/>
                </a:solidFill>
                <a:latin typeface="Arial"/>
              </a:rPr>
              <a:t>Recommendation — three changes in strict sequence.</a:t>
            </a:r>
            <a:r>
              <a:rPr sz="1100" b="0" i="0">
                <a:solidFill>
                  <a:srgbClr val="262626"/>
                </a:solidFill>
                <a:latin typeface="Arial"/>
              </a:rPr>
              <a:t> Change the object (rate → fleet plan), the buyer (revenue manager → owner) and the cost-to-serve (consultant-led → AI-native). Rebuild the interface and agent layer; never touch the integrations or the numeric core.</a:t>
            </a:r>
          </a:p>
        </p:txBody>
      </p:sp>
      <p:sp>
        <p:nvSpPr>
          <p:cNvPr id="23" name="Rectangle 22"/>
          <p:cNvSpPr/>
          <p:nvPr/>
        </p:nvSpPr>
        <p:spPr>
          <a:xfrm>
            <a:off x="457200" y="5404104"/>
            <a:ext cx="310896" cy="3108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7200" y="5404104"/>
            <a:ext cx="310896" cy="310896"/>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6</a:t>
            </a:r>
          </a:p>
        </p:txBody>
      </p:sp>
      <p:sp>
        <p:nvSpPr>
          <p:cNvPr id="25" name="TextBox 24"/>
          <p:cNvSpPr txBox="1"/>
          <p:nvPr/>
        </p:nvSpPr>
        <p:spPr>
          <a:xfrm>
            <a:off x="914400" y="5367528"/>
            <a:ext cx="10820095" cy="731520"/>
          </a:xfrm>
          <a:prstGeom prst="rect">
            <a:avLst/>
          </a:prstGeom>
          <a:noFill/>
        </p:spPr>
        <p:txBody>
          <a:bodyPr wrap="square" lIns="0" tIns="0" rIns="0" bIns="0" anchor="t">
            <a:spAutoFit/>
          </a:bodyPr>
          <a:lstStyle/>
          <a:p>
            <a:pPr algn="l">
              <a:lnSpc>
                <a:spcPct val="112000"/>
              </a:lnSpc>
              <a:spcAft>
                <a:spcPts val="0"/>
              </a:spcAft>
            </a:pPr>
            <a:r>
              <a:rPr sz="1100" b="1" i="0">
                <a:solidFill>
                  <a:srgbClr val="262626"/>
                </a:solidFill>
                <a:latin typeface="Arial"/>
              </a:rPr>
              <a:t>Self-funding across three horizons; illustratively €4.8M at ~31% EBITDA in Year 3</a:t>
            </a:r>
            <a:r>
              <a:rPr sz="1100" b="0" i="0">
                <a:solidFill>
                  <a:srgbClr val="262626"/>
                </a:solidFill>
                <a:latin typeface="Arial"/>
              </a:rPr>
              <a:t>, headcount 9 → 16 by not hiring rather than cutting. Three kill-risks — buyback exposure, PMS fleet-data coverage, fleet-size distribution — are testable in two weeks and gate every line of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WeYield is a sound, growing €1.5M business whose EBITDA has stopped responding to revenue</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1 · WHERE WEYIELD STANDS</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Olivier Jager, strategic review of 10 Sep 2026 and briefing call. All figures as reported; none verified against company accounts. ACV is derived (€1.5M ÷ 120).</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3</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1527048"/>
            <a:ext cx="1810512" cy="457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1709928"/>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€1.5M</a:t>
            </a:r>
          </a:p>
        </p:txBody>
      </p:sp>
      <p:sp>
        <p:nvSpPr>
          <p:cNvPr id="11" name="TextBox 10"/>
          <p:cNvSpPr txBox="1"/>
          <p:nvPr/>
        </p:nvSpPr>
        <p:spPr>
          <a:xfrm>
            <a:off x="594360" y="2240280"/>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Annual revenue</a:t>
            </a:r>
          </a:p>
          <a:p>
            <a:pPr algn="l">
              <a:lnSpc>
                <a:spcPct val="105000"/>
              </a:lnSpc>
              <a:spcAft>
                <a:spcPts val="400"/>
              </a:spcAft>
            </a:pPr>
            <a:r>
              <a:rPr sz="800" b="0" i="0">
                <a:solidFill>
                  <a:srgbClr val="7F7F7F"/>
                </a:solidFill>
                <a:latin typeface="Arial"/>
              </a:rPr>
              <a:t>Growing 10–15% p.a.</a:t>
            </a:r>
          </a:p>
        </p:txBody>
      </p:sp>
      <p:sp>
        <p:nvSpPr>
          <p:cNvPr id="12" name="Rectangle 11"/>
          <p:cNvSpPr/>
          <p:nvPr/>
        </p:nvSpPr>
        <p:spPr>
          <a:xfrm>
            <a:off x="2414016" y="1527048"/>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14016" y="1527048"/>
            <a:ext cx="1810512" cy="457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1176" y="1709928"/>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~120</a:t>
            </a:r>
          </a:p>
        </p:txBody>
      </p:sp>
      <p:sp>
        <p:nvSpPr>
          <p:cNvPr id="15" name="TextBox 14"/>
          <p:cNvSpPr txBox="1"/>
          <p:nvPr/>
        </p:nvSpPr>
        <p:spPr>
          <a:xfrm>
            <a:off x="2551176" y="2240280"/>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Paying customers</a:t>
            </a:r>
          </a:p>
          <a:p>
            <a:pPr algn="l">
              <a:lnSpc>
                <a:spcPct val="105000"/>
              </a:lnSpc>
              <a:spcAft>
                <a:spcPts val="400"/>
              </a:spcAft>
            </a:pPr>
            <a:r>
              <a:rPr sz="800" b="0" i="0">
                <a:solidFill>
                  <a:srgbClr val="7F7F7F"/>
                </a:solidFill>
                <a:latin typeface="Arial"/>
              </a:rPr>
              <a:t>600–1,000 addressable</a:t>
            </a:r>
          </a:p>
        </p:txBody>
      </p:sp>
      <p:sp>
        <p:nvSpPr>
          <p:cNvPr id="16" name="Rectangle 15"/>
          <p:cNvSpPr/>
          <p:nvPr/>
        </p:nvSpPr>
        <p:spPr>
          <a:xfrm>
            <a:off x="4370832" y="1527048"/>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70832" y="1527048"/>
            <a:ext cx="1810512" cy="457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07992" y="1709928"/>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€12.5K</a:t>
            </a:r>
          </a:p>
        </p:txBody>
      </p:sp>
      <p:sp>
        <p:nvSpPr>
          <p:cNvPr id="19" name="TextBox 18"/>
          <p:cNvSpPr txBox="1"/>
          <p:nvPr/>
        </p:nvSpPr>
        <p:spPr>
          <a:xfrm>
            <a:off x="4507992" y="2240280"/>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Implied average ACV</a:t>
            </a:r>
          </a:p>
          <a:p>
            <a:pPr algn="l">
              <a:lnSpc>
                <a:spcPct val="105000"/>
              </a:lnSpc>
              <a:spcAft>
                <a:spcPts val="400"/>
              </a:spcAft>
            </a:pPr>
            <a:r>
              <a:rPr sz="800" b="0" i="0">
                <a:solidFill>
                  <a:srgbClr val="7F7F7F"/>
                </a:solidFill>
                <a:latin typeface="Arial"/>
              </a:rPr>
              <a:t>Reported top deals &lt;€40K</a:t>
            </a:r>
          </a:p>
        </p:txBody>
      </p:sp>
      <p:sp>
        <p:nvSpPr>
          <p:cNvPr id="20" name="Rectangle 19"/>
          <p:cNvSpPr/>
          <p:nvPr/>
        </p:nvSpPr>
        <p:spPr>
          <a:xfrm>
            <a:off x="6327648" y="1527048"/>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27648" y="1527048"/>
            <a:ext cx="1810512" cy="457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64808" y="1709928"/>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9</a:t>
            </a:r>
          </a:p>
        </p:txBody>
      </p:sp>
      <p:sp>
        <p:nvSpPr>
          <p:cNvPr id="23" name="TextBox 22"/>
          <p:cNvSpPr txBox="1"/>
          <p:nvPr/>
        </p:nvSpPr>
        <p:spPr>
          <a:xfrm>
            <a:off x="6464808" y="2240280"/>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Employees</a:t>
            </a:r>
          </a:p>
          <a:p>
            <a:pPr algn="l">
              <a:lnSpc>
                <a:spcPct val="105000"/>
              </a:lnSpc>
              <a:spcAft>
                <a:spcPts val="400"/>
              </a:spcAft>
            </a:pPr>
            <a:r>
              <a:rPr sz="800" b="0" i="0">
                <a:solidFill>
                  <a:srgbClr val="7F7F7F"/>
                </a:solidFill>
                <a:latin typeface="Arial"/>
              </a:rPr>
              <a:t>2 in sales; ~5 in product</a:t>
            </a:r>
          </a:p>
        </p:txBody>
      </p:sp>
      <p:sp>
        <p:nvSpPr>
          <p:cNvPr id="24" name="Rectangle 23"/>
          <p:cNvSpPr/>
          <p:nvPr/>
        </p:nvSpPr>
        <p:spPr>
          <a:xfrm>
            <a:off x="457200" y="2971800"/>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57200" y="2971800"/>
            <a:ext cx="1810512" cy="4572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94360" y="3154680"/>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~0%</a:t>
            </a:r>
          </a:p>
        </p:txBody>
      </p:sp>
      <p:sp>
        <p:nvSpPr>
          <p:cNvPr id="27" name="TextBox 26"/>
          <p:cNvSpPr txBox="1"/>
          <p:nvPr/>
        </p:nvSpPr>
        <p:spPr>
          <a:xfrm>
            <a:off x="594360" y="3685032"/>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EBITDA margin</a:t>
            </a:r>
          </a:p>
          <a:p>
            <a:pPr algn="l">
              <a:lnSpc>
                <a:spcPct val="105000"/>
              </a:lnSpc>
              <a:spcAft>
                <a:spcPts val="400"/>
              </a:spcAft>
            </a:pPr>
            <a:r>
              <a:rPr sz="800" b="0" i="0">
                <a:solidFill>
                  <a:srgbClr val="7F7F7F"/>
                </a:solidFill>
                <a:latin typeface="Arial"/>
              </a:rPr>
              <a:t>Flat; contracting in periods</a:t>
            </a:r>
          </a:p>
        </p:txBody>
      </p:sp>
      <p:sp>
        <p:nvSpPr>
          <p:cNvPr id="28" name="Rectangle 27"/>
          <p:cNvSpPr/>
          <p:nvPr/>
        </p:nvSpPr>
        <p:spPr>
          <a:xfrm>
            <a:off x="2414016" y="2971800"/>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414016" y="2971800"/>
            <a:ext cx="1810512" cy="457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551176" y="3154680"/>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12–20%</a:t>
            </a:r>
          </a:p>
        </p:txBody>
      </p:sp>
      <p:sp>
        <p:nvSpPr>
          <p:cNvPr id="31" name="TextBox 30"/>
          <p:cNvSpPr txBox="1"/>
          <p:nvPr/>
        </p:nvSpPr>
        <p:spPr>
          <a:xfrm>
            <a:off x="2551176" y="3685032"/>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Market penetration</a:t>
            </a:r>
          </a:p>
          <a:p>
            <a:pPr algn="l">
              <a:lnSpc>
                <a:spcPct val="105000"/>
              </a:lnSpc>
              <a:spcAft>
                <a:spcPts val="400"/>
              </a:spcAft>
            </a:pPr>
            <a:r>
              <a:rPr sz="800" b="0" i="0">
                <a:solidFill>
                  <a:srgbClr val="7F7F7F"/>
                </a:solidFill>
                <a:latin typeface="Arial"/>
              </a:rPr>
              <a:t>Described as “embryonic”</a:t>
            </a:r>
          </a:p>
        </p:txBody>
      </p:sp>
      <p:sp>
        <p:nvSpPr>
          <p:cNvPr id="32" name="Rectangle 31"/>
          <p:cNvSpPr/>
          <p:nvPr/>
        </p:nvSpPr>
        <p:spPr>
          <a:xfrm>
            <a:off x="4370832" y="2971800"/>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370832" y="2971800"/>
            <a:ext cx="1810512" cy="457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07992" y="3154680"/>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50+</a:t>
            </a:r>
          </a:p>
        </p:txBody>
      </p:sp>
      <p:sp>
        <p:nvSpPr>
          <p:cNvPr id="35" name="TextBox 34"/>
          <p:cNvSpPr txBox="1"/>
          <p:nvPr/>
        </p:nvSpPr>
        <p:spPr>
          <a:xfrm>
            <a:off x="4507992" y="3685032"/>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Countries served</a:t>
            </a:r>
          </a:p>
          <a:p>
            <a:pPr algn="l">
              <a:lnSpc>
                <a:spcPct val="105000"/>
              </a:lnSpc>
              <a:spcAft>
                <a:spcPts val="400"/>
              </a:spcAft>
            </a:pPr>
            <a:r>
              <a:rPr sz="800" b="0" i="0">
                <a:solidFill>
                  <a:srgbClr val="7F7F7F"/>
                </a:solidFill>
                <a:latin typeface="Arial"/>
              </a:rPr>
              <a:t>EU core; islands, N. Africa, NZ</a:t>
            </a:r>
          </a:p>
        </p:txBody>
      </p:sp>
      <p:sp>
        <p:nvSpPr>
          <p:cNvPr id="36" name="Rectangle 35"/>
          <p:cNvSpPr/>
          <p:nvPr/>
        </p:nvSpPr>
        <p:spPr>
          <a:xfrm>
            <a:off x="6327648" y="2971800"/>
            <a:ext cx="1810512" cy="1298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327648" y="2971800"/>
            <a:ext cx="1810512" cy="4572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64808" y="3154680"/>
            <a:ext cx="1536192" cy="457200"/>
          </a:xfrm>
          <a:prstGeom prst="rect">
            <a:avLst/>
          </a:prstGeom>
          <a:noFill/>
        </p:spPr>
        <p:txBody>
          <a:bodyPr wrap="square" lIns="0" tIns="0" rIns="0" bIns="0" anchor="t">
            <a:spAutoFit/>
          </a:bodyPr>
          <a:lstStyle/>
          <a:p>
            <a:pPr algn="l">
              <a:spcAft>
                <a:spcPts val="0"/>
              </a:spcAft>
            </a:pPr>
            <a:r>
              <a:rPr sz="2200" b="0" i="0">
                <a:solidFill>
                  <a:srgbClr val="051C2C"/>
                </a:solidFill>
                <a:latin typeface="Georgia"/>
              </a:rPr>
              <a:t>~€2M</a:t>
            </a:r>
          </a:p>
        </p:txBody>
      </p:sp>
      <p:sp>
        <p:nvSpPr>
          <p:cNvPr id="39" name="TextBox 38"/>
          <p:cNvSpPr txBox="1"/>
          <p:nvPr/>
        </p:nvSpPr>
        <p:spPr>
          <a:xfrm>
            <a:off x="6464808" y="3685032"/>
            <a:ext cx="1536192" cy="521207"/>
          </a:xfrm>
          <a:prstGeom prst="rect">
            <a:avLst/>
          </a:prstGeom>
          <a:noFill/>
        </p:spPr>
        <p:txBody>
          <a:bodyPr wrap="square" lIns="0" tIns="0" rIns="0" bIns="0" anchor="t">
            <a:spAutoFit/>
          </a:bodyPr>
          <a:lstStyle/>
          <a:p>
            <a:pPr algn="l">
              <a:lnSpc>
                <a:spcPct val="105000"/>
              </a:lnSpc>
              <a:spcAft>
                <a:spcPts val="100"/>
              </a:spcAft>
            </a:pPr>
            <a:r>
              <a:rPr sz="900" b="1" i="0">
                <a:solidFill>
                  <a:srgbClr val="262626"/>
                </a:solidFill>
                <a:latin typeface="Arial"/>
              </a:rPr>
              <a:t>Standing acquisition offer</a:t>
            </a:r>
          </a:p>
          <a:p>
            <a:pPr algn="l">
              <a:lnSpc>
                <a:spcPct val="105000"/>
              </a:lnSpc>
              <a:spcAft>
                <a:spcPts val="400"/>
              </a:spcAft>
            </a:pPr>
            <a:r>
              <a:rPr sz="800" b="0" i="0">
                <a:solidFill>
                  <a:srgbClr val="7F7F7F"/>
                </a:solidFill>
                <a:latin typeface="Arial"/>
              </a:rPr>
              <a:t>1.3× revenue; exit intent 2–3 yrs</a:t>
            </a:r>
          </a:p>
        </p:txBody>
      </p:sp>
      <p:sp>
        <p:nvSpPr>
          <p:cNvPr id="40" name="Rectangle 39"/>
          <p:cNvSpPr/>
          <p:nvPr/>
        </p:nvSpPr>
        <p:spPr>
          <a:xfrm>
            <a:off x="8412480" y="1527048"/>
            <a:ext cx="3319272" cy="274320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412480" y="1527048"/>
            <a:ext cx="54864" cy="27432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595359" y="1655064"/>
            <a:ext cx="3008376" cy="252374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point of vigilance</a:t>
            </a:r>
          </a:p>
          <a:p>
            <a:pPr algn="l">
              <a:lnSpc>
                <a:spcPct val="110000"/>
              </a:lnSpc>
              <a:spcAft>
                <a:spcPts val="500"/>
              </a:spcAft>
            </a:pPr>
            <a:r>
              <a:rPr sz="950" b="0" i="0">
                <a:solidFill>
                  <a:srgbClr val="262626"/>
                </a:solidFill>
                <a:latin typeface="Arial"/>
              </a:rPr>
              <a:t>Sales have grown every year since founding. EBITDA has not moved — and has contracted in some periods.</a:t>
            </a:r>
          </a:p>
          <a:p>
            <a:pPr algn="l">
              <a:lnSpc>
                <a:spcPct val="110000"/>
              </a:lnSpc>
              <a:spcAft>
                <a:spcPts val="500"/>
              </a:spcAft>
            </a:pPr>
            <a:r>
              <a:rPr sz="950" b="1" i="0">
                <a:solidFill>
                  <a:srgbClr val="262626"/>
                </a:solidFill>
                <a:latin typeface="Arial"/>
              </a:rPr>
              <a:t>Working hypothesis (Olivier):</a:t>
            </a:r>
            <a:r>
              <a:rPr sz="950" b="0" i="0">
                <a:solidFill>
                  <a:srgbClr val="262626"/>
                </a:solidFill>
                <a:latin typeface="Arial"/>
              </a:rPr>
              <a:t> the company's strength — a strong product team and permanent product investment — is also its weakness. New features show no demonstrable return.</a:t>
            </a:r>
          </a:p>
          <a:p>
            <a:pPr algn="l">
              <a:lnSpc>
                <a:spcPct val="110000"/>
              </a:lnSpc>
              <a:spcAft>
                <a:spcPts val="500"/>
              </a:spcAft>
            </a:pPr>
            <a:r>
              <a:rPr sz="950" b="1" i="0">
                <a:solidFill>
                  <a:srgbClr val="262626"/>
                </a:solidFill>
                <a:latin typeface="Arial"/>
              </a:rPr>
              <a:t>Implication:</a:t>
            </a:r>
            <a:r>
              <a:rPr sz="950" b="0" i="0">
                <a:solidFill>
                  <a:srgbClr val="262626"/>
                </a:solidFill>
                <a:latin typeface="Arial"/>
              </a:rPr>
              <a:t> the financial value of a healthy, stable business is in question.</a:t>
            </a:r>
          </a:p>
        </p:txBody>
      </p:sp>
      <p:sp>
        <p:nvSpPr>
          <p:cNvPr id="43" name="Rectangle 42"/>
          <p:cNvSpPr/>
          <p:nvPr/>
        </p:nvSpPr>
        <p:spPr>
          <a:xfrm>
            <a:off x="8412480" y="4425696"/>
            <a:ext cx="3319272" cy="1051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412480" y="4425696"/>
            <a:ext cx="54864" cy="105156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595359" y="4553712"/>
            <a:ext cx="3008376" cy="832103"/>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Three numbers still to reconcile</a:t>
            </a:r>
          </a:p>
          <a:p>
            <a:pPr algn="l">
              <a:lnSpc>
                <a:spcPct val="110000"/>
              </a:lnSpc>
              <a:spcAft>
                <a:spcPts val="500"/>
              </a:spcAft>
            </a:pPr>
            <a:r>
              <a:rPr sz="900" b="0" i="0">
                <a:solidFill>
                  <a:srgbClr val="262626"/>
                </a:solidFill>
                <a:latin typeface="Arial"/>
              </a:rPr>
              <a:t>“Average deal &lt;€40K” vs €12.5K implied  ·  600 vs 600–1,000 addressable  ·  “120 customers” vs “100+ users”. See appendix.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The ~€2M offer is not a lowball — it is the correct price for a business growing 15% at zero margin</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1 · WHERE WEYIELD STANDS</a:t>
            </a:r>
          </a:p>
        </p:txBody>
      </p:sp>
      <p:sp>
        <p:nvSpPr>
          <p:cNvPr id="5" name="Rounded Rectangle 4"/>
          <p:cNvSpPr/>
          <p:nvPr/>
        </p:nvSpPr>
        <p:spPr>
          <a:xfrm>
            <a:off x="10543032" y="475488"/>
            <a:ext cx="1188720" cy="246888"/>
          </a:xfrm>
          <a:prstGeom prst="roundRect">
            <a:avLst>
              <a:gd name="adj" fmla="val 12000"/>
            </a:avLst>
          </a:prstGeom>
          <a:noFill/>
          <a:ln w="9525">
            <a:solidFill>
              <a:srgbClr val="051C2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750" b="1" i="0">
                <a:solidFill>
                  <a:srgbClr val="051C2C"/>
                </a:solidFill>
                <a:latin typeface="Arial"/>
              </a:rPr>
              <a:t>INDICATIVE</a:t>
            </a:r>
          </a:p>
        </p:txBody>
      </p:sp>
      <p:sp>
        <p:nvSpPr>
          <p:cNvPr id="6" name="TextBox 5"/>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Rule of 40 = revenue growth % + EBITDA margin %. Multiple ranges are indicative for vertical B2B SaaS and are not a valuation opinion. Year-3 score uses the illustrative plan in section 5.</a:t>
            </a:r>
          </a:p>
        </p:txBody>
      </p:sp>
      <p:sp>
        <p:nvSpPr>
          <p:cNvPr id="7" name="TextBox 6"/>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4</a:t>
            </a:r>
          </a:p>
        </p:txBody>
      </p:sp>
      <p:cxnSp>
        <p:nvCxnSpPr>
          <p:cNvPr id="8" name="Connector 7"/>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7200" y="1481328"/>
            <a:ext cx="603504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Rule of 40 score</a:t>
            </a:r>
          </a:p>
        </p:txBody>
      </p:sp>
      <p:sp>
        <p:nvSpPr>
          <p:cNvPr id="10" name="TextBox 9"/>
          <p:cNvSpPr txBox="1"/>
          <p:nvPr/>
        </p:nvSpPr>
        <p:spPr>
          <a:xfrm>
            <a:off x="457200" y="1737360"/>
            <a:ext cx="6035040" cy="274320"/>
          </a:xfrm>
          <a:prstGeom prst="rect">
            <a:avLst/>
          </a:prstGeom>
          <a:noFill/>
        </p:spPr>
        <p:txBody>
          <a:bodyPr wrap="square" lIns="0" tIns="0" rIns="0" bIns="0" anchor="t">
            <a:spAutoFit/>
          </a:bodyPr>
          <a:lstStyle/>
          <a:p>
            <a:pPr algn="l">
              <a:spcAft>
                <a:spcPts val="400"/>
              </a:spcAft>
            </a:pPr>
            <a:r>
              <a:rPr sz="900" b="0" i="0">
                <a:solidFill>
                  <a:srgbClr val="7F7F7F"/>
                </a:solidFill>
                <a:latin typeface="Arial"/>
              </a:rPr>
              <a:t>Growth % + EBITDA margin %</a:t>
            </a:r>
          </a:p>
        </p:txBody>
      </p:sp>
      <p:sp>
        <p:nvSpPr>
          <p:cNvPr id="11" name="TextBox 10"/>
          <p:cNvSpPr txBox="1"/>
          <p:nvPr/>
        </p:nvSpPr>
        <p:spPr>
          <a:xfrm>
            <a:off x="457200" y="2258568"/>
            <a:ext cx="2468880" cy="502920"/>
          </a:xfrm>
          <a:prstGeom prst="rect">
            <a:avLst/>
          </a:prstGeom>
          <a:noFill/>
        </p:spPr>
        <p:txBody>
          <a:bodyPr wrap="square" lIns="0" tIns="0" rIns="0" bIns="0" anchor="ctr">
            <a:spAutoFit/>
          </a:bodyPr>
          <a:lstStyle/>
          <a:p>
            <a:pPr algn="l">
              <a:spcAft>
                <a:spcPts val="0"/>
              </a:spcAft>
            </a:pPr>
            <a:r>
              <a:rPr sz="950" b="0" i="0">
                <a:solidFill>
                  <a:srgbClr val="262626"/>
                </a:solidFill>
                <a:latin typeface="Arial"/>
              </a:rPr>
              <a:t>WeYield today
15% growth + ~0% EBITDA</a:t>
            </a:r>
          </a:p>
        </p:txBody>
      </p:sp>
      <p:sp>
        <p:nvSpPr>
          <p:cNvPr id="12" name="Rectangle 11"/>
          <p:cNvSpPr/>
          <p:nvPr/>
        </p:nvSpPr>
        <p:spPr>
          <a:xfrm>
            <a:off x="3017520" y="2258568"/>
            <a:ext cx="370331" cy="502920"/>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61004" y="2258568"/>
            <a:ext cx="1463040" cy="502920"/>
          </a:xfrm>
          <a:prstGeom prst="rect">
            <a:avLst/>
          </a:prstGeom>
          <a:noFill/>
        </p:spPr>
        <p:txBody>
          <a:bodyPr wrap="square" lIns="0" tIns="0" rIns="0" bIns="0" anchor="ctr">
            <a:spAutoFit/>
          </a:bodyPr>
          <a:lstStyle/>
          <a:p>
            <a:pPr algn="l">
              <a:spcAft>
                <a:spcPts val="0"/>
              </a:spcAft>
            </a:pPr>
            <a:r>
              <a:rPr sz="950" b="1" i="0">
                <a:solidFill>
                  <a:srgbClr val="051C2C"/>
                </a:solidFill>
                <a:latin typeface="Arial"/>
              </a:rPr>
              <a:t>~15</a:t>
            </a:r>
          </a:p>
        </p:txBody>
      </p:sp>
      <p:sp>
        <p:nvSpPr>
          <p:cNvPr id="14" name="TextBox 13"/>
          <p:cNvSpPr txBox="1"/>
          <p:nvPr/>
        </p:nvSpPr>
        <p:spPr>
          <a:xfrm>
            <a:off x="457200" y="3264408"/>
            <a:ext cx="2468880" cy="502920"/>
          </a:xfrm>
          <a:prstGeom prst="rect">
            <a:avLst/>
          </a:prstGeom>
          <a:noFill/>
        </p:spPr>
        <p:txBody>
          <a:bodyPr wrap="square" lIns="0" tIns="0" rIns="0" bIns="0" anchor="ctr">
            <a:spAutoFit/>
          </a:bodyPr>
          <a:lstStyle/>
          <a:p>
            <a:pPr algn="l">
              <a:spcAft>
                <a:spcPts val="0"/>
              </a:spcAft>
            </a:pPr>
            <a:r>
              <a:rPr sz="950" b="0" i="0">
                <a:solidFill>
                  <a:srgbClr val="262626"/>
                </a:solidFill>
                <a:latin typeface="Arial"/>
              </a:rPr>
              <a:t>Year 3, illustrative plan
50% growth + 31% EBITDA</a:t>
            </a:r>
          </a:p>
        </p:txBody>
      </p:sp>
      <p:sp>
        <p:nvSpPr>
          <p:cNvPr id="15" name="Rectangle 14"/>
          <p:cNvSpPr/>
          <p:nvPr/>
        </p:nvSpPr>
        <p:spPr>
          <a:xfrm>
            <a:off x="3017520" y="3264408"/>
            <a:ext cx="1999792" cy="50292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90464" y="3264408"/>
            <a:ext cx="1463040" cy="502920"/>
          </a:xfrm>
          <a:prstGeom prst="rect">
            <a:avLst/>
          </a:prstGeom>
          <a:noFill/>
        </p:spPr>
        <p:txBody>
          <a:bodyPr wrap="square" lIns="0" tIns="0" rIns="0" bIns="0" anchor="ctr">
            <a:spAutoFit/>
          </a:bodyPr>
          <a:lstStyle/>
          <a:p>
            <a:pPr algn="l">
              <a:spcAft>
                <a:spcPts val="0"/>
              </a:spcAft>
            </a:pPr>
            <a:r>
              <a:rPr sz="950" b="1" i="0">
                <a:solidFill>
                  <a:srgbClr val="051C2C"/>
                </a:solidFill>
                <a:latin typeface="Arial"/>
              </a:rPr>
              <a:t>~81</a:t>
            </a:r>
          </a:p>
        </p:txBody>
      </p:sp>
      <p:cxnSp>
        <p:nvCxnSpPr>
          <p:cNvPr id="17" name="Connector 16"/>
          <p:cNvCxnSpPr/>
          <p:nvPr/>
        </p:nvCxnSpPr>
        <p:spPr>
          <a:xfrm>
            <a:off x="3017520" y="2212848"/>
            <a:ext cx="0" cy="160020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05072" y="2148840"/>
            <a:ext cx="0" cy="1728216"/>
          </a:xfrm>
          <a:prstGeom prst="line">
            <a:avLst/>
          </a:prstGeom>
          <a:ln w="15875">
            <a:solidFill>
              <a:srgbClr val="B51D1D"/>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090672" y="3913632"/>
            <a:ext cx="1828800" cy="274320"/>
          </a:xfrm>
          <a:prstGeom prst="rect">
            <a:avLst/>
          </a:prstGeom>
          <a:noFill/>
        </p:spPr>
        <p:txBody>
          <a:bodyPr wrap="square" lIns="0" tIns="0" rIns="0" bIns="0" anchor="t">
            <a:spAutoFit/>
          </a:bodyPr>
          <a:lstStyle/>
          <a:p>
            <a:pPr algn="ctr">
              <a:spcAft>
                <a:spcPts val="400"/>
              </a:spcAft>
            </a:pPr>
            <a:r>
              <a:rPr sz="850" b="1" i="0">
                <a:solidFill>
                  <a:srgbClr val="B51D1D"/>
                </a:solidFill>
                <a:latin typeface="Arial"/>
              </a:rPr>
              <a:t>Rule of 40</a:t>
            </a:r>
          </a:p>
        </p:txBody>
      </p:sp>
      <p:sp>
        <p:nvSpPr>
          <p:cNvPr id="20" name="TextBox 19"/>
          <p:cNvSpPr txBox="1"/>
          <p:nvPr/>
        </p:nvSpPr>
        <p:spPr>
          <a:xfrm>
            <a:off x="6949440" y="1481328"/>
            <a:ext cx="475488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What the market pays for each profile</a:t>
            </a:r>
          </a:p>
        </p:txBody>
      </p:sp>
      <p:graphicFrame>
        <p:nvGraphicFramePr>
          <p:cNvPr id="21" name="Table 20"/>
          <p:cNvGraphicFramePr>
            <a:graphicFrameLocks noGrp="1"/>
          </p:cNvGraphicFramePr>
          <p:nvPr/>
        </p:nvGraphicFramePr>
        <p:xfrm>
          <a:off x="6949440" y="1865376"/>
          <a:ext cx="4782312" cy="1481328"/>
        </p:xfrm>
        <a:graphic>
          <a:graphicData uri="http://schemas.openxmlformats.org/drawingml/2006/table">
            <a:tbl>
              <a:tblPr firstRow="0" bandRow="0">
                <a:tableStyleId>{2D5ABB26-0587-4C30-8999-92F81FD0307C}</a:tableStyleId>
              </a:tblPr>
              <a:tblGrid>
                <a:gridCol w="1417320"/>
                <a:gridCol w="1691640"/>
                <a:gridCol w="1673352"/>
              </a:tblGrid>
              <a:tr h="384048">
                <a:tc>
                  <a:txBody>
                    <a:bodyPr wrap="square"/>
                    <a:lstStyle/>
                    <a:p>
                      <a:r>
                        <a:rPr sz="950" b="1" i="0">
                          <a:solidFill>
                            <a:srgbClr val="FFFFFF"/>
                          </a:solidFill>
                          <a:latin typeface="Arial"/>
                        </a:rPr>
                        <a:t>Rule of 40 score</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Indicative revenue multiple</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Where WeYield sits</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365760">
                <a:tc>
                  <a:txBody>
                    <a:bodyPr wrap="square"/>
                    <a:lstStyle/>
                    <a:p>
                      <a:r>
                        <a:rPr sz="950" b="0" i="0">
                          <a:solidFill>
                            <a:srgbClr val="262626"/>
                          </a:solidFill>
                          <a:latin typeface="Arial"/>
                        </a:rPr>
                        <a:t>Below 20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1–2×</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262626"/>
                          </a:solidFill>
                          <a:latin typeface="Arial"/>
                        </a:rPr>
                        <a:t>Today: 1.3× (~€2M)</a:t>
                      </a:r>
                    </a:p>
                  </a:txBody>
                  <a:tcPr marL="54864" marR="54864" marT="41148" marB="41148" anchor="t">
                    <a:lnL w="0">
                      <a:noFill/>
                    </a:lnL>
                    <a:lnR w="0">
                      <a:noFill/>
                    </a:lnR>
                    <a:lnT w="0">
                      <a:noFill/>
                    </a:lnT>
                    <a:lnB w="9525" cap="flat" cmpd="sng" algn="ctr">
                      <a:solidFill>
                        <a:srgbClr val="D9D9D9"/>
                      </a:solidFill>
                      <a:prstDash val="solid"/>
                    </a:lnB>
                    <a:noFill/>
                  </a:tcPr>
                </a:tc>
              </a:tr>
              <a:tr h="365760">
                <a:tc>
                  <a:txBody>
                    <a:bodyPr wrap="square"/>
                    <a:lstStyle/>
                    <a:p>
                      <a:r>
                        <a:rPr sz="950" b="0" i="0">
                          <a:solidFill>
                            <a:srgbClr val="262626"/>
                          </a:solidFill>
                          <a:latin typeface="Arial"/>
                        </a:rPr>
                        <a:t>20–40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2–3×</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a:t>
                      </a:r>
                    </a:p>
                  </a:txBody>
                  <a:tcPr marL="54864" marR="54864" marT="41148" marB="41148" anchor="t">
                    <a:lnL w="0">
                      <a:noFill/>
                    </a:lnL>
                    <a:lnR w="0">
                      <a:noFill/>
                    </a:lnR>
                    <a:lnT w="0">
                      <a:noFill/>
                    </a:lnT>
                    <a:lnB w="9525" cap="flat" cmpd="sng" algn="ctr">
                      <a:solidFill>
                        <a:srgbClr val="D9D9D9"/>
                      </a:solidFill>
                      <a:prstDash val="solid"/>
                    </a:lnB>
                    <a:noFill/>
                  </a:tcPr>
                </a:tc>
              </a:tr>
              <a:tr h="365760">
                <a:tc>
                  <a:txBody>
                    <a:bodyPr wrap="square"/>
                    <a:lstStyle/>
                    <a:p>
                      <a:r>
                        <a:rPr sz="950" b="0" i="0">
                          <a:solidFill>
                            <a:srgbClr val="262626"/>
                          </a:solidFill>
                          <a:latin typeface="Arial"/>
                        </a:rPr>
                        <a:t>Above 40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4–6×</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Year 3 plan (illustrative)</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
        <p:nvSpPr>
          <p:cNvPr id="22" name="Rectangle 21"/>
          <p:cNvSpPr/>
          <p:nvPr/>
        </p:nvSpPr>
        <p:spPr>
          <a:xfrm>
            <a:off x="6949440" y="3721608"/>
            <a:ext cx="4782312" cy="160020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949440" y="3721608"/>
            <a:ext cx="54864" cy="16002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132320" y="3849624"/>
            <a:ext cx="4471416" cy="138074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point to make to the board</a:t>
            </a:r>
          </a:p>
          <a:p>
            <a:pPr algn="l">
              <a:lnSpc>
                <a:spcPct val="110000"/>
              </a:lnSpc>
              <a:spcAft>
                <a:spcPts val="500"/>
              </a:spcAft>
            </a:pPr>
            <a:r>
              <a:rPr sz="1000" b="0" i="0">
                <a:solidFill>
                  <a:srgbClr val="262626"/>
                </a:solidFill>
                <a:latin typeface="Arial"/>
              </a:rPr>
              <a:t>The offer is not a valuation of WeYield. It is a </a:t>
            </a:r>
            <a:r>
              <a:rPr sz="1000" b="1" i="0">
                <a:solidFill>
                  <a:srgbClr val="262626"/>
                </a:solidFill>
                <a:latin typeface="Arial"/>
              </a:rPr>
              <a:t>measurement of the current operating model.</a:t>
            </a:r>
          </a:p>
          <a:p>
            <a:pPr algn="l">
              <a:lnSpc>
                <a:spcPct val="110000"/>
              </a:lnSpc>
              <a:spcAft>
                <a:spcPts val="500"/>
              </a:spcAft>
            </a:pPr>
            <a:r>
              <a:rPr sz="1000" b="0" i="0">
                <a:solidFill>
                  <a:srgbClr val="262626"/>
                </a:solidFill>
                <a:latin typeface="Arial"/>
              </a:rPr>
              <a:t>Every recovered EBITDA point moves the number. Nothing in the AI narrative moves it on its own.</a:t>
            </a:r>
          </a:p>
        </p:txBody>
      </p:sp>
      <p:sp>
        <p:nvSpPr>
          <p:cNvPr id="25" name="Rectangle 24"/>
          <p:cNvSpPr/>
          <p:nvPr/>
        </p:nvSpPr>
        <p:spPr>
          <a:xfrm>
            <a:off x="457200" y="4727448"/>
            <a:ext cx="6035040" cy="9144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57200" y="4727448"/>
            <a:ext cx="54864" cy="9144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4855464"/>
            <a:ext cx="5724144" cy="694944"/>
          </a:xfrm>
          <a:prstGeom prst="rect">
            <a:avLst/>
          </a:prstGeom>
          <a:noFill/>
        </p:spPr>
        <p:txBody>
          <a:bodyPr wrap="square" lIns="0" tIns="0" rIns="0" bIns="0" anchor="t">
            <a:spAutoFit/>
          </a:bodyPr>
          <a:lstStyle/>
          <a:p>
            <a:pPr algn="l">
              <a:lnSpc>
                <a:spcPct val="110000"/>
              </a:lnSpc>
              <a:spcAft>
                <a:spcPts val="500"/>
              </a:spcAft>
            </a:pPr>
            <a:r>
              <a:rPr sz="1000" b="0" i="0">
                <a:solidFill>
                  <a:srgbClr val="262626"/>
                </a:solidFill>
                <a:latin typeface="Arial"/>
              </a:rPr>
              <a:t>Two roads — independent AI-native category leader, or attractive acquisition for a consolidator — </a:t>
            </a:r>
            <a:r>
              <a:rPr sz="1000" b="1" i="0">
                <a:solidFill>
                  <a:srgbClr val="262626"/>
                </a:solidFill>
                <a:latin typeface="Arial"/>
              </a:rPr>
              <a:t>run through the identical eighteen months of work.</a:t>
            </a:r>
            <a:r>
              <a:rPr sz="1000" b="0" i="0">
                <a:solidFill>
                  <a:srgbClr val="262626"/>
                </a:solidFill>
                <a:latin typeface="Arial"/>
              </a:rPr>
              <a:t> There is no strategic fork requiring a decision today; only work to start.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Even at 100% share, the current product tops out near €7.5M — this is a ceiling, not a sales-coverage gap</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1 · WHERE WEYIELD STANDS</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derived — addressable market of 600–1,000 operators (Olivier Jager, 10 Sep 2026) × €12.5K implied ACV. Realistic ceiling assumes a 35–40% share of the 600–1,000, which no vendor in a fragmented vertical exceeds.</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5</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1481328"/>
            <a:ext cx="694944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Revenue potential of the current product at current pricing, €M</a:t>
            </a:r>
          </a:p>
        </p:txBody>
      </p:sp>
      <p:cxnSp>
        <p:nvCxnSpPr>
          <p:cNvPr id="9" name="Connector 8"/>
          <p:cNvCxnSpPr/>
          <p:nvPr/>
        </p:nvCxnSpPr>
        <p:spPr>
          <a:xfrm>
            <a:off x="457200" y="5504688"/>
            <a:ext cx="6949440"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74166" y="5144008"/>
            <a:ext cx="903427" cy="360679"/>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9846" y="4814824"/>
            <a:ext cx="1452067" cy="292608"/>
          </a:xfrm>
          <a:prstGeom prst="rect">
            <a:avLst/>
          </a:prstGeom>
          <a:noFill/>
        </p:spPr>
        <p:txBody>
          <a:bodyPr wrap="square" lIns="0" tIns="0" rIns="0" bIns="0" anchor="b">
            <a:spAutoFit/>
          </a:bodyPr>
          <a:lstStyle/>
          <a:p>
            <a:pPr algn="ctr">
              <a:spcAft>
                <a:spcPts val="0"/>
              </a:spcAft>
            </a:pPr>
            <a:r>
              <a:rPr sz="1300" b="1" i="0">
                <a:solidFill>
                  <a:srgbClr val="051C2C"/>
                </a:solidFill>
                <a:latin typeface="Arial"/>
              </a:rPr>
              <a:t>€1.5M</a:t>
            </a:r>
          </a:p>
        </p:txBody>
      </p:sp>
      <p:sp>
        <p:nvSpPr>
          <p:cNvPr id="12" name="TextBox 11"/>
          <p:cNvSpPr txBox="1"/>
          <p:nvPr/>
        </p:nvSpPr>
        <p:spPr>
          <a:xfrm>
            <a:off x="457200" y="5559551"/>
            <a:ext cx="1737360" cy="402336"/>
          </a:xfrm>
          <a:prstGeom prst="rect">
            <a:avLst/>
          </a:prstGeom>
          <a:noFill/>
        </p:spPr>
        <p:txBody>
          <a:bodyPr wrap="square" lIns="0" tIns="0" rIns="0" bIns="0" anchor="t">
            <a:spAutoFit/>
          </a:bodyPr>
          <a:lstStyle/>
          <a:p>
            <a:pPr algn="ctr">
              <a:lnSpc>
                <a:spcPct val="100000"/>
              </a:lnSpc>
              <a:spcAft>
                <a:spcPts val="0"/>
              </a:spcAft>
            </a:pPr>
            <a:r>
              <a:rPr sz="950" b="0" i="0">
                <a:solidFill>
                  <a:srgbClr val="262626"/>
                </a:solidFill>
                <a:latin typeface="Arial"/>
              </a:rPr>
              <a:t>Today
~120 accounts</a:t>
            </a:r>
          </a:p>
        </p:txBody>
      </p:sp>
      <p:sp>
        <p:nvSpPr>
          <p:cNvPr id="13" name="Rectangle 12"/>
          <p:cNvSpPr/>
          <p:nvPr/>
        </p:nvSpPr>
        <p:spPr>
          <a:xfrm>
            <a:off x="2611526" y="4422647"/>
            <a:ext cx="903427" cy="108204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337206" y="4093463"/>
            <a:ext cx="1452067" cy="292608"/>
          </a:xfrm>
          <a:prstGeom prst="rect">
            <a:avLst/>
          </a:prstGeom>
          <a:noFill/>
        </p:spPr>
        <p:txBody>
          <a:bodyPr wrap="square" lIns="0" tIns="0" rIns="0" bIns="0" anchor="b">
            <a:spAutoFit/>
          </a:bodyPr>
          <a:lstStyle/>
          <a:p>
            <a:pPr algn="ctr">
              <a:spcAft>
                <a:spcPts val="0"/>
              </a:spcAft>
            </a:pPr>
            <a:r>
              <a:rPr sz="1300" b="1" i="0">
                <a:solidFill>
                  <a:srgbClr val="051C2C"/>
                </a:solidFill>
                <a:latin typeface="Arial"/>
              </a:rPr>
              <a:t>€4.5M</a:t>
            </a:r>
          </a:p>
        </p:txBody>
      </p:sp>
      <p:sp>
        <p:nvSpPr>
          <p:cNvPr id="15" name="TextBox 14"/>
          <p:cNvSpPr txBox="1"/>
          <p:nvPr/>
        </p:nvSpPr>
        <p:spPr>
          <a:xfrm>
            <a:off x="2194560" y="5559551"/>
            <a:ext cx="1737360" cy="402336"/>
          </a:xfrm>
          <a:prstGeom prst="rect">
            <a:avLst/>
          </a:prstGeom>
          <a:noFill/>
        </p:spPr>
        <p:txBody>
          <a:bodyPr wrap="square" lIns="0" tIns="0" rIns="0" bIns="0" anchor="t">
            <a:spAutoFit/>
          </a:bodyPr>
          <a:lstStyle/>
          <a:p>
            <a:pPr algn="ctr">
              <a:lnSpc>
                <a:spcPct val="100000"/>
              </a:lnSpc>
              <a:spcAft>
                <a:spcPts val="0"/>
              </a:spcAft>
            </a:pPr>
            <a:r>
              <a:rPr sz="950" b="0" i="0">
                <a:solidFill>
                  <a:srgbClr val="262626"/>
                </a:solidFill>
                <a:latin typeface="Arial"/>
              </a:rPr>
              <a:t>Realistic ceiling
35–40% share</a:t>
            </a:r>
          </a:p>
        </p:txBody>
      </p:sp>
      <p:sp>
        <p:nvSpPr>
          <p:cNvPr id="16" name="Rectangle 15"/>
          <p:cNvSpPr/>
          <p:nvPr/>
        </p:nvSpPr>
        <p:spPr>
          <a:xfrm>
            <a:off x="4348886" y="3701287"/>
            <a:ext cx="903427" cy="1803400"/>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074566" y="3372103"/>
            <a:ext cx="1452067" cy="292608"/>
          </a:xfrm>
          <a:prstGeom prst="rect">
            <a:avLst/>
          </a:prstGeom>
          <a:noFill/>
        </p:spPr>
        <p:txBody>
          <a:bodyPr wrap="square" lIns="0" tIns="0" rIns="0" bIns="0" anchor="b">
            <a:spAutoFit/>
          </a:bodyPr>
          <a:lstStyle/>
          <a:p>
            <a:pPr algn="ctr">
              <a:spcAft>
                <a:spcPts val="0"/>
              </a:spcAft>
            </a:pPr>
            <a:r>
              <a:rPr sz="1300" b="1" i="0">
                <a:solidFill>
                  <a:srgbClr val="051C2C"/>
                </a:solidFill>
                <a:latin typeface="Arial"/>
              </a:rPr>
              <a:t>€7.5M</a:t>
            </a:r>
          </a:p>
        </p:txBody>
      </p:sp>
      <p:sp>
        <p:nvSpPr>
          <p:cNvPr id="18" name="TextBox 17"/>
          <p:cNvSpPr txBox="1"/>
          <p:nvPr/>
        </p:nvSpPr>
        <p:spPr>
          <a:xfrm>
            <a:off x="3931920" y="5559551"/>
            <a:ext cx="1737360" cy="402336"/>
          </a:xfrm>
          <a:prstGeom prst="rect">
            <a:avLst/>
          </a:prstGeom>
          <a:noFill/>
        </p:spPr>
        <p:txBody>
          <a:bodyPr wrap="square" lIns="0" tIns="0" rIns="0" bIns="0" anchor="t">
            <a:spAutoFit/>
          </a:bodyPr>
          <a:lstStyle/>
          <a:p>
            <a:pPr algn="ctr">
              <a:lnSpc>
                <a:spcPct val="100000"/>
              </a:lnSpc>
              <a:spcAft>
                <a:spcPts val="0"/>
              </a:spcAft>
            </a:pPr>
            <a:r>
              <a:rPr sz="950" b="0" i="0">
                <a:solidFill>
                  <a:srgbClr val="262626"/>
                </a:solidFill>
                <a:latin typeface="Arial"/>
              </a:rPr>
              <a:t>600 accounts
100% share</a:t>
            </a:r>
          </a:p>
        </p:txBody>
      </p:sp>
      <p:sp>
        <p:nvSpPr>
          <p:cNvPr id="19" name="Rectangle 18"/>
          <p:cNvSpPr/>
          <p:nvPr/>
        </p:nvSpPr>
        <p:spPr>
          <a:xfrm>
            <a:off x="6086246" y="2499021"/>
            <a:ext cx="903427" cy="300566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811926" y="2169837"/>
            <a:ext cx="1452067" cy="292608"/>
          </a:xfrm>
          <a:prstGeom prst="rect">
            <a:avLst/>
          </a:prstGeom>
          <a:noFill/>
        </p:spPr>
        <p:txBody>
          <a:bodyPr wrap="square" lIns="0" tIns="0" rIns="0" bIns="0" anchor="b">
            <a:spAutoFit/>
          </a:bodyPr>
          <a:lstStyle/>
          <a:p>
            <a:pPr algn="ctr">
              <a:spcAft>
                <a:spcPts val="0"/>
              </a:spcAft>
            </a:pPr>
            <a:r>
              <a:rPr sz="1300" b="1" i="0">
                <a:solidFill>
                  <a:srgbClr val="051C2C"/>
                </a:solidFill>
                <a:latin typeface="Arial"/>
              </a:rPr>
              <a:t>€12.5M</a:t>
            </a:r>
          </a:p>
        </p:txBody>
      </p:sp>
      <p:sp>
        <p:nvSpPr>
          <p:cNvPr id="21" name="TextBox 20"/>
          <p:cNvSpPr txBox="1"/>
          <p:nvPr/>
        </p:nvSpPr>
        <p:spPr>
          <a:xfrm>
            <a:off x="5669279" y="5559551"/>
            <a:ext cx="1737360" cy="402336"/>
          </a:xfrm>
          <a:prstGeom prst="rect">
            <a:avLst/>
          </a:prstGeom>
          <a:noFill/>
        </p:spPr>
        <p:txBody>
          <a:bodyPr wrap="square" lIns="0" tIns="0" rIns="0" bIns="0" anchor="t">
            <a:spAutoFit/>
          </a:bodyPr>
          <a:lstStyle/>
          <a:p>
            <a:pPr algn="ctr">
              <a:lnSpc>
                <a:spcPct val="100000"/>
              </a:lnSpc>
              <a:spcAft>
                <a:spcPts val="0"/>
              </a:spcAft>
            </a:pPr>
            <a:r>
              <a:rPr sz="950" b="0" i="0">
                <a:solidFill>
                  <a:srgbClr val="262626"/>
                </a:solidFill>
                <a:latin typeface="Arial"/>
              </a:rPr>
              <a:t>1,000 accounts
100% share</a:t>
            </a:r>
          </a:p>
        </p:txBody>
      </p:sp>
      <p:sp>
        <p:nvSpPr>
          <p:cNvPr id="22" name="Rectangle 21"/>
          <p:cNvSpPr/>
          <p:nvPr/>
        </p:nvSpPr>
        <p:spPr>
          <a:xfrm>
            <a:off x="7863840" y="1572768"/>
            <a:ext cx="3867912" cy="178308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863840" y="1572768"/>
            <a:ext cx="54864" cy="178308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19" y="1700784"/>
            <a:ext cx="3557016" cy="156362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You cannot sell your way out of a TAM ceiling</a:t>
            </a:r>
          </a:p>
          <a:p>
            <a:pPr algn="l">
              <a:lnSpc>
                <a:spcPct val="110000"/>
              </a:lnSpc>
              <a:spcAft>
                <a:spcPts val="500"/>
              </a:spcAft>
            </a:pPr>
            <a:r>
              <a:rPr sz="1000" b="0" i="0">
                <a:solidFill>
                  <a:srgbClr val="262626"/>
                </a:solidFill>
                <a:latin typeface="Arial"/>
              </a:rPr>
              <a:t>Perfect sales execution on the current product makes WeYield a €4–5M company. That is the arithmetic behind Olivier's </a:t>
            </a:r>
            <a:r>
              <a:rPr sz="1000" b="0" i="1">
                <a:solidFill>
                  <a:srgbClr val="262626"/>
                </a:solidFill>
                <a:latin typeface="Arial"/>
              </a:rPr>
              <a:t>remontée dans la chaîne de valeur</a:t>
            </a:r>
            <a:r>
              <a:rPr sz="1000" b="0" i="0">
                <a:solidFill>
                  <a:srgbClr val="262626"/>
                </a:solidFill>
                <a:latin typeface="Arial"/>
              </a:rPr>
              <a:t> — it is mandatory, not aspirational.</a:t>
            </a:r>
          </a:p>
          <a:p>
            <a:pPr algn="l">
              <a:lnSpc>
                <a:spcPct val="110000"/>
              </a:lnSpc>
              <a:spcAft>
                <a:spcPts val="500"/>
              </a:spcAft>
            </a:pPr>
            <a:r>
              <a:rPr sz="1000" b="0" i="0">
                <a:solidFill>
                  <a:srgbClr val="262626"/>
                </a:solidFill>
                <a:latin typeface="Arial"/>
              </a:rPr>
              <a:t>There are only two exits: </a:t>
            </a:r>
            <a:r>
              <a:rPr sz="1000" b="1" i="0">
                <a:solidFill>
                  <a:srgbClr val="262626"/>
                </a:solidFill>
                <a:latin typeface="Arial"/>
              </a:rPr>
              <a:t>price up</a:t>
            </a:r>
            <a:r>
              <a:rPr sz="1000" b="0" i="0">
                <a:solidFill>
                  <a:srgbClr val="262626"/>
                </a:solidFill>
                <a:latin typeface="Arial"/>
              </a:rPr>
              <a:t>, or </a:t>
            </a:r>
            <a:r>
              <a:rPr sz="1000" b="1" i="0">
                <a:solidFill>
                  <a:srgbClr val="262626"/>
                </a:solidFill>
                <a:latin typeface="Arial"/>
              </a:rPr>
              <a:t>move up the stack</a:t>
            </a:r>
            <a:r>
              <a:rPr sz="1000" b="0" i="0">
                <a:solidFill>
                  <a:srgbClr val="262626"/>
                </a:solidFill>
                <a:latin typeface="Arial"/>
              </a:rPr>
              <a:t>. The recommendation is both.</a:t>
            </a:r>
          </a:p>
        </p:txBody>
      </p:sp>
      <p:sp>
        <p:nvSpPr>
          <p:cNvPr id="25" name="Rectangle 24"/>
          <p:cNvSpPr/>
          <p:nvPr/>
        </p:nvSpPr>
        <p:spPr>
          <a:xfrm>
            <a:off x="7863840" y="3493008"/>
            <a:ext cx="3867912" cy="1874519"/>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863840" y="3493008"/>
            <a:ext cx="54864" cy="1874519"/>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046719" y="3621024"/>
            <a:ext cx="3557016" cy="1655063"/>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Why franchisees make it worse</a:t>
            </a:r>
          </a:p>
          <a:p>
            <a:pPr algn="l">
              <a:lnSpc>
                <a:spcPct val="110000"/>
              </a:lnSpc>
              <a:spcAft>
                <a:spcPts val="500"/>
              </a:spcAft>
            </a:pPr>
            <a:r>
              <a:rPr sz="950" b="0" i="0">
                <a:solidFill>
                  <a:srgbClr val="262626"/>
                </a:solidFill>
                <a:latin typeface="Arial"/>
              </a:rPr>
              <a:t>A material share of the base are Hertz, Avis, Europcar and Sixt franchisees. They pay a royalty, receive the brand and the reservation feed — and </a:t>
            </a:r>
            <a:r>
              <a:rPr sz="950" b="1" i="0">
                <a:solidFill>
                  <a:srgbClr val="262626"/>
                </a:solidFill>
                <a:latin typeface="Arial"/>
              </a:rPr>
              <a:t>do not hold full rate autonomy.</a:t>
            </a:r>
          </a:p>
          <a:p>
            <a:pPr algn="l">
              <a:lnSpc>
                <a:spcPct val="110000"/>
              </a:lnSpc>
              <a:spcAft>
                <a:spcPts val="500"/>
              </a:spcAft>
            </a:pPr>
            <a:r>
              <a:rPr sz="950" b="0" i="0">
                <a:solidFill>
                  <a:srgbClr val="262626"/>
                </a:solidFill>
                <a:latin typeface="Arial"/>
              </a:rPr>
              <a:t>WeYield is therefore selling partial control of the weakest lever, while the four levers the customer fully controls go untouched.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At €12.5K ACV a salesperson barely pays back in year one — hiring reps first would not repair EBITDA</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1 · WHERE WEYIELD STANDS</a:t>
            </a:r>
          </a:p>
        </p:txBody>
      </p:sp>
      <p:sp>
        <p:nvSpPr>
          <p:cNvPr id="5" name="Rounded Rectangle 4"/>
          <p:cNvSpPr/>
          <p:nvPr/>
        </p:nvSpPr>
        <p:spPr>
          <a:xfrm>
            <a:off x="10543032" y="475488"/>
            <a:ext cx="1188720" cy="246888"/>
          </a:xfrm>
          <a:prstGeom prst="roundRect">
            <a:avLst>
              <a:gd name="adj" fmla="val 12000"/>
            </a:avLst>
          </a:prstGeom>
          <a:noFill/>
          <a:ln w="9525">
            <a:solidFill>
              <a:srgbClr val="051C2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750" b="1" i="0">
                <a:solidFill>
                  <a:srgbClr val="051C2C"/>
                </a:solidFill>
                <a:latin typeface="Arial"/>
              </a:rPr>
              <a:t>ILLUSTRATIVE</a:t>
            </a:r>
          </a:p>
        </p:txBody>
      </p:sp>
      <p:sp>
        <p:nvSpPr>
          <p:cNvPr id="6" name="TextBox 5"/>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Assumptions: two reps produce the reported 10–15% growth (~€170K new ARR p.a.) → ~7 new logos per rep per year; fully loaded French sales cost €90K. Payback = loaded cost ÷ first-year ARR landed. Logo velocity held constant across ACV scenarios.</a:t>
            </a:r>
          </a:p>
        </p:txBody>
      </p:sp>
      <p:sp>
        <p:nvSpPr>
          <p:cNvPr id="7" name="TextBox 6"/>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6</a:t>
            </a:r>
          </a:p>
        </p:txBody>
      </p:sp>
      <p:cxnSp>
        <p:nvCxnSpPr>
          <p:cNvPr id="8" name="Connector 7"/>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7200" y="1481328"/>
            <a:ext cx="676656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Months for a new rep to pay back a €90K loaded cost, by ACV</a:t>
            </a:r>
          </a:p>
        </p:txBody>
      </p:sp>
      <p:sp>
        <p:nvSpPr>
          <p:cNvPr id="10" name="TextBox 9"/>
          <p:cNvSpPr txBox="1"/>
          <p:nvPr/>
        </p:nvSpPr>
        <p:spPr>
          <a:xfrm>
            <a:off x="457200" y="1737360"/>
            <a:ext cx="6766560" cy="274320"/>
          </a:xfrm>
          <a:prstGeom prst="rect">
            <a:avLst/>
          </a:prstGeom>
          <a:noFill/>
        </p:spPr>
        <p:txBody>
          <a:bodyPr wrap="square" lIns="0" tIns="0" rIns="0" bIns="0" anchor="t">
            <a:spAutoFit/>
          </a:bodyPr>
          <a:lstStyle/>
          <a:p>
            <a:pPr algn="l">
              <a:spcAft>
                <a:spcPts val="400"/>
              </a:spcAft>
            </a:pPr>
            <a:r>
              <a:rPr sz="900" b="0" i="0">
                <a:solidFill>
                  <a:srgbClr val="7F7F7F"/>
                </a:solidFill>
                <a:latin typeface="Arial"/>
              </a:rPr>
              <a:t>~7 new logos per rep per year</a:t>
            </a:r>
          </a:p>
        </p:txBody>
      </p:sp>
      <p:sp>
        <p:nvSpPr>
          <p:cNvPr id="11" name="TextBox 10"/>
          <p:cNvSpPr txBox="1"/>
          <p:nvPr/>
        </p:nvSpPr>
        <p:spPr>
          <a:xfrm>
            <a:off x="457200" y="2258568"/>
            <a:ext cx="2651760" cy="457200"/>
          </a:xfrm>
          <a:prstGeom prst="rect">
            <a:avLst/>
          </a:prstGeom>
          <a:noFill/>
        </p:spPr>
        <p:txBody>
          <a:bodyPr wrap="square" lIns="0" tIns="0" rIns="0" bIns="0" anchor="ctr">
            <a:spAutoFit/>
          </a:bodyPr>
          <a:lstStyle/>
          <a:p>
            <a:pPr algn="l">
              <a:spcAft>
                <a:spcPts val="0"/>
              </a:spcAft>
            </a:pPr>
            <a:r>
              <a:rPr sz="1000" b="0" i="0">
                <a:solidFill>
                  <a:srgbClr val="262626"/>
                </a:solidFill>
                <a:latin typeface="Arial"/>
              </a:rPr>
              <a:t>€12.5K ACV — today</a:t>
            </a:r>
          </a:p>
        </p:txBody>
      </p:sp>
      <p:sp>
        <p:nvSpPr>
          <p:cNvPr id="12" name="Rectangle 11"/>
          <p:cNvSpPr/>
          <p:nvPr/>
        </p:nvSpPr>
        <p:spPr>
          <a:xfrm>
            <a:off x="3200400" y="2258568"/>
            <a:ext cx="2615184" cy="457200"/>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888736" y="2258568"/>
            <a:ext cx="1463040" cy="457200"/>
          </a:xfrm>
          <a:prstGeom prst="rect">
            <a:avLst/>
          </a:prstGeom>
          <a:noFill/>
        </p:spPr>
        <p:txBody>
          <a:bodyPr wrap="square" lIns="0" tIns="0" rIns="0" bIns="0" anchor="ctr">
            <a:spAutoFit/>
          </a:bodyPr>
          <a:lstStyle/>
          <a:p>
            <a:pPr algn="l">
              <a:spcAft>
                <a:spcPts val="0"/>
              </a:spcAft>
            </a:pPr>
            <a:r>
              <a:rPr sz="1000" b="1" i="0">
                <a:solidFill>
                  <a:srgbClr val="051C2C"/>
                </a:solidFill>
                <a:latin typeface="Arial"/>
              </a:rPr>
              <a:t>~13 months</a:t>
            </a:r>
          </a:p>
        </p:txBody>
      </p:sp>
      <p:sp>
        <p:nvSpPr>
          <p:cNvPr id="14" name="TextBox 13"/>
          <p:cNvSpPr txBox="1"/>
          <p:nvPr/>
        </p:nvSpPr>
        <p:spPr>
          <a:xfrm>
            <a:off x="457200" y="3099816"/>
            <a:ext cx="2651760" cy="457200"/>
          </a:xfrm>
          <a:prstGeom prst="rect">
            <a:avLst/>
          </a:prstGeom>
          <a:noFill/>
        </p:spPr>
        <p:txBody>
          <a:bodyPr wrap="square" lIns="0" tIns="0" rIns="0" bIns="0" anchor="ctr">
            <a:spAutoFit/>
          </a:bodyPr>
          <a:lstStyle/>
          <a:p>
            <a:pPr algn="l">
              <a:spcAft>
                <a:spcPts val="0"/>
              </a:spcAft>
            </a:pPr>
            <a:r>
              <a:rPr sz="1000" b="0" i="0">
                <a:solidFill>
                  <a:srgbClr val="262626"/>
                </a:solidFill>
                <a:latin typeface="Arial"/>
              </a:rPr>
              <a:t>€16K ACV — after top-20 repricing</a:t>
            </a:r>
          </a:p>
        </p:txBody>
      </p:sp>
      <p:sp>
        <p:nvSpPr>
          <p:cNvPr id="15" name="Rectangle 14"/>
          <p:cNvSpPr/>
          <p:nvPr/>
        </p:nvSpPr>
        <p:spPr>
          <a:xfrm>
            <a:off x="3200400" y="3099816"/>
            <a:ext cx="2011680" cy="457200"/>
          </a:xfrm>
          <a:prstGeom prst="rect">
            <a:avLst/>
          </a:prstGeom>
          <a:solidFill>
            <a:srgbClr val="99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85232" y="3099816"/>
            <a:ext cx="1463040" cy="457200"/>
          </a:xfrm>
          <a:prstGeom prst="rect">
            <a:avLst/>
          </a:prstGeom>
          <a:noFill/>
        </p:spPr>
        <p:txBody>
          <a:bodyPr wrap="square" lIns="0" tIns="0" rIns="0" bIns="0" anchor="ctr">
            <a:spAutoFit/>
          </a:bodyPr>
          <a:lstStyle/>
          <a:p>
            <a:pPr algn="l">
              <a:spcAft>
                <a:spcPts val="0"/>
              </a:spcAft>
            </a:pPr>
            <a:r>
              <a:rPr sz="1000" b="1" i="0">
                <a:solidFill>
                  <a:srgbClr val="051C2C"/>
                </a:solidFill>
                <a:latin typeface="Arial"/>
              </a:rPr>
              <a:t>~10 months</a:t>
            </a:r>
          </a:p>
        </p:txBody>
      </p:sp>
      <p:sp>
        <p:nvSpPr>
          <p:cNvPr id="17" name="TextBox 16"/>
          <p:cNvSpPr txBox="1"/>
          <p:nvPr/>
        </p:nvSpPr>
        <p:spPr>
          <a:xfrm>
            <a:off x="457200" y="3941064"/>
            <a:ext cx="2651760" cy="457200"/>
          </a:xfrm>
          <a:prstGeom prst="rect">
            <a:avLst/>
          </a:prstGeom>
          <a:noFill/>
        </p:spPr>
        <p:txBody>
          <a:bodyPr wrap="square" lIns="0" tIns="0" rIns="0" bIns="0" anchor="ctr">
            <a:spAutoFit/>
          </a:bodyPr>
          <a:lstStyle/>
          <a:p>
            <a:pPr algn="l">
              <a:spcAft>
                <a:spcPts val="0"/>
              </a:spcAft>
            </a:pPr>
            <a:r>
              <a:rPr sz="1000" b="0" i="0">
                <a:solidFill>
                  <a:srgbClr val="262626"/>
                </a:solidFill>
                <a:latin typeface="Arial"/>
              </a:rPr>
              <a:t>€22K ACV — with the fleet module</a:t>
            </a:r>
          </a:p>
        </p:txBody>
      </p:sp>
      <p:sp>
        <p:nvSpPr>
          <p:cNvPr id="18" name="Rectangle 17"/>
          <p:cNvSpPr/>
          <p:nvPr/>
        </p:nvSpPr>
        <p:spPr>
          <a:xfrm>
            <a:off x="3200400" y="3941064"/>
            <a:ext cx="1408176" cy="4572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81728" y="3941064"/>
            <a:ext cx="1463040" cy="457200"/>
          </a:xfrm>
          <a:prstGeom prst="rect">
            <a:avLst/>
          </a:prstGeom>
          <a:noFill/>
        </p:spPr>
        <p:txBody>
          <a:bodyPr wrap="square" lIns="0" tIns="0" rIns="0" bIns="0" anchor="ctr">
            <a:spAutoFit/>
          </a:bodyPr>
          <a:lstStyle/>
          <a:p>
            <a:pPr algn="l">
              <a:spcAft>
                <a:spcPts val="0"/>
              </a:spcAft>
            </a:pPr>
            <a:r>
              <a:rPr sz="1000" b="1" i="0">
                <a:solidFill>
                  <a:srgbClr val="051C2C"/>
                </a:solidFill>
                <a:latin typeface="Arial"/>
              </a:rPr>
              <a:t>~7 months</a:t>
            </a:r>
          </a:p>
        </p:txBody>
      </p:sp>
      <p:cxnSp>
        <p:nvCxnSpPr>
          <p:cNvPr id="20" name="Connector 19"/>
          <p:cNvCxnSpPr/>
          <p:nvPr/>
        </p:nvCxnSpPr>
        <p:spPr>
          <a:xfrm>
            <a:off x="3200400" y="2212848"/>
            <a:ext cx="0" cy="2231136"/>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680960" y="1572768"/>
            <a:ext cx="4050791" cy="164592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680960" y="1572768"/>
            <a:ext cx="54864" cy="164592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63840" y="1700784"/>
            <a:ext cx="3739896" cy="142646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Olivier's prescription is right and mistimed</a:t>
            </a:r>
          </a:p>
          <a:p>
            <a:pPr algn="l">
              <a:lnSpc>
                <a:spcPct val="110000"/>
              </a:lnSpc>
              <a:spcAft>
                <a:spcPts val="500"/>
              </a:spcAft>
            </a:pPr>
            <a:r>
              <a:rPr sz="1000" b="0" i="0">
                <a:solidFill>
                  <a:srgbClr val="262626"/>
                </a:solidFill>
                <a:latin typeface="Arial"/>
              </a:rPr>
              <a:t>“Move money from product to sales” is directionally correct. But at €12.5K a rep returns ~€85K of new ARR against €80–100K of cost. </a:t>
            </a:r>
            <a:r>
              <a:rPr sz="1000" b="1" i="0">
                <a:solidFill>
                  <a:srgbClr val="262626"/>
                </a:solidFill>
                <a:latin typeface="Arial"/>
              </a:rPr>
              <a:t>The unit does not pay for the rep fast enough.</a:t>
            </a:r>
          </a:p>
          <a:p>
            <a:pPr algn="l">
              <a:lnSpc>
                <a:spcPct val="110000"/>
              </a:lnSpc>
              <a:spcAft>
                <a:spcPts val="500"/>
              </a:spcAft>
            </a:pPr>
            <a:r>
              <a:rPr sz="1000" b="0" i="0">
                <a:solidFill>
                  <a:srgbClr val="262626"/>
                </a:solidFill>
                <a:latin typeface="Arial"/>
              </a:rPr>
              <a:t>That is why Emmanuel has not hired — and why he should not yet.</a:t>
            </a:r>
          </a:p>
        </p:txBody>
      </p:sp>
      <p:sp>
        <p:nvSpPr>
          <p:cNvPr id="24" name="Rectangle 23"/>
          <p:cNvSpPr/>
          <p:nvPr/>
        </p:nvSpPr>
        <p:spPr>
          <a:xfrm>
            <a:off x="7680960" y="3401568"/>
            <a:ext cx="4050791" cy="16459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09560" y="3538728"/>
            <a:ext cx="3657600" cy="365760"/>
          </a:xfrm>
          <a:prstGeom prst="rect">
            <a:avLst/>
          </a:prstGeom>
          <a:noFill/>
        </p:spPr>
        <p:txBody>
          <a:bodyPr wrap="square" lIns="0" tIns="0" rIns="0" bIns="0" anchor="t">
            <a:spAutoFit/>
          </a:bodyPr>
          <a:lstStyle/>
          <a:p>
            <a:pPr algn="l">
              <a:spcAft>
                <a:spcPts val="400"/>
              </a:spcAft>
            </a:pPr>
            <a:r>
              <a:rPr sz="1000" b="1" i="0">
                <a:solidFill>
                  <a:srgbClr val="99B4FF"/>
                </a:solidFill>
                <a:latin typeface="Arial"/>
              </a:rPr>
              <a:t>The sequence this forces</a:t>
            </a:r>
          </a:p>
        </p:txBody>
      </p:sp>
      <p:sp>
        <p:nvSpPr>
          <p:cNvPr id="26" name="TextBox 25"/>
          <p:cNvSpPr txBox="1"/>
          <p:nvPr/>
        </p:nvSpPr>
        <p:spPr>
          <a:xfrm>
            <a:off x="7909560" y="3877056"/>
            <a:ext cx="3657600" cy="1143000"/>
          </a:xfrm>
          <a:prstGeom prst="rect">
            <a:avLst/>
          </a:prstGeom>
          <a:noFill/>
        </p:spPr>
        <p:txBody>
          <a:bodyPr wrap="square" lIns="0" tIns="0" rIns="0" bIns="0" anchor="t">
            <a:spAutoFit/>
          </a:bodyPr>
          <a:lstStyle/>
          <a:p>
            <a:pPr algn="l">
              <a:lnSpc>
                <a:spcPct val="110000"/>
              </a:lnSpc>
              <a:spcAft>
                <a:spcPts val="800"/>
              </a:spcAft>
            </a:pPr>
            <a:r>
              <a:rPr sz="1700" b="0" i="0">
                <a:solidFill>
                  <a:srgbClr val="FFFFFF"/>
                </a:solidFill>
                <a:latin typeface="Georgia"/>
              </a:rPr>
              <a:t>Price  →  Cost  →  Sell  →  Build</a:t>
            </a:r>
          </a:p>
          <a:p>
            <a:pPr algn="l">
              <a:lnSpc>
                <a:spcPct val="110000"/>
              </a:lnSpc>
              <a:spcAft>
                <a:spcPts val="400"/>
              </a:spcAft>
            </a:pPr>
            <a:r>
              <a:rPr sz="950" b="0" i="0">
                <a:solidFill>
                  <a:srgbClr val="99B4FF"/>
                </a:solidFill>
                <a:latin typeface="Arial"/>
              </a:rPr>
              <a:t>Reprice the top 20 accounts first. Fix cost-to-serve. </a:t>
            </a:r>
            <a:r>
              <a:rPr sz="950" b="0" i="1">
                <a:solidFill>
                  <a:srgbClr val="99B4FF"/>
                </a:solidFill>
                <a:latin typeface="Arial"/>
              </a:rPr>
              <a:t>Then</a:t>
            </a:r>
            <a:r>
              <a:rPr sz="950" b="0" i="0">
                <a:solidFill>
                  <a:srgbClr val="99B4FF"/>
                </a:solidFill>
                <a:latin typeface="Arial"/>
              </a:rPr>
              <a:t> hire salespeople three and four. </a:t>
            </a:r>
            <a:r>
              <a:rPr sz="950" b="0" i="1">
                <a:solidFill>
                  <a:srgbClr val="99B4FF"/>
                </a:solidFill>
                <a:latin typeface="Arial"/>
              </a:rPr>
              <a:t>Then</a:t>
            </a:r>
            <a:r>
              <a:rPr sz="950" b="0" i="0">
                <a:solidFill>
                  <a:srgbClr val="99B4FF"/>
                </a:solidFill>
                <a:latin typeface="Arial"/>
              </a:rPr>
              <a:t> build.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Car rental is not hotel revenue management: WeYield sizes the fleet for demand — no one in this market optimises it for value</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2 · WHY THE PRODUCT IS CAPPED</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Status column inferred from weyield.io product and role pages (Sep 2026): Performance Hub and Revenue Horizon analyse fleet; the Revenue Manager page claims “fleet and price optimization” — verify on the call. ACRISS/SIPP codes (e.g. ECMR) define the substitution ladder. Franchisee rate autonomy varies by franchisor.</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7</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3200400" cy="452628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57200" y="1527048"/>
            <a:ext cx="54864" cy="452628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655064"/>
            <a:ext cx="2889504" cy="430682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structural difference</a:t>
            </a:r>
          </a:p>
          <a:p>
            <a:pPr algn="l">
              <a:lnSpc>
                <a:spcPct val="110000"/>
              </a:lnSpc>
              <a:spcAft>
                <a:spcPts val="500"/>
              </a:spcAft>
            </a:pPr>
            <a:r>
              <a:rPr sz="1000" b="1" i="0">
                <a:solidFill>
                  <a:srgbClr val="262626"/>
                </a:solidFill>
                <a:latin typeface="Arial"/>
              </a:rPr>
              <a:t>In hotels, inventory is fixed.</a:t>
            </a:r>
            <a:r>
              <a:rPr sz="1000" b="0" i="0">
                <a:solidFill>
                  <a:srgbClr val="262626"/>
                </a:solidFill>
                <a:latin typeface="Arial"/>
              </a:rPr>
              <a:t> Room 301 exists whether or not it is sold, cannot be moved to another city, and cannot be sold off at season end. Rate is the only lever — so an RMS that optimises rate is a </a:t>
            </a:r>
            <a:r>
              <a:rPr sz="1000" b="0" i="1">
                <a:solidFill>
                  <a:srgbClr val="262626"/>
                </a:solidFill>
                <a:latin typeface="Arial"/>
              </a:rPr>
              <a:t>complete</a:t>
            </a:r>
            <a:r>
              <a:rPr sz="1000" b="0" i="0">
                <a:solidFill>
                  <a:srgbClr val="262626"/>
                </a:solidFill>
                <a:latin typeface="Arial"/>
              </a:rPr>
              <a:t> product.</a:t>
            </a:r>
          </a:p>
          <a:p>
            <a:pPr algn="l">
              <a:lnSpc>
                <a:spcPct val="110000"/>
              </a:lnSpc>
              <a:spcAft>
                <a:spcPts val="500"/>
              </a:spcAft>
            </a:pPr>
            <a:r>
              <a:rPr sz="1000" b="1" i="0">
                <a:solidFill>
                  <a:srgbClr val="262626"/>
                </a:solidFill>
                <a:latin typeface="Arial"/>
              </a:rPr>
              <a:t>In car rental, inventory is mobile, substitutable and disposable.</a:t>
            </a:r>
            <a:r>
              <a:rPr sz="1000" b="0" i="0">
                <a:solidFill>
                  <a:srgbClr val="262626"/>
                </a:solidFill>
                <a:latin typeface="Arial"/>
              </a:rPr>
              <a:t> The operator has five levers. WeYield prices, and plans the fleet against demand. Nobody tells the owner what the fleet is </a:t>
            </a:r>
            <a:r>
              <a:rPr sz="1000" b="0" i="1">
                <a:solidFill>
                  <a:srgbClr val="262626"/>
                </a:solidFill>
                <a:latin typeface="Arial"/>
              </a:rPr>
              <a:t>worth</a:t>
            </a:r>
            <a:r>
              <a:rPr sz="1000" b="0" i="0">
                <a:solidFill>
                  <a:srgbClr val="262626"/>
                </a:solidFill>
                <a:latin typeface="Arial"/>
              </a:rPr>
              <a:t>, or when to sell it.</a:t>
            </a:r>
          </a:p>
          <a:p>
            <a:pPr algn="l">
              <a:lnSpc>
                <a:spcPct val="110000"/>
              </a:lnSpc>
              <a:spcAft>
                <a:spcPts val="500"/>
              </a:spcAft>
            </a:pPr>
            <a:r>
              <a:rPr sz="1000" b="0" i="0">
                <a:solidFill>
                  <a:srgbClr val="262626"/>
                </a:solidFill>
                <a:latin typeface="Arial"/>
              </a:rPr>
              <a:t>That gap — not sales coverage, and not AI — is the mechanical reason ACV sits at €12.5K.</a:t>
            </a:r>
          </a:p>
        </p:txBody>
      </p:sp>
      <p:graphicFrame>
        <p:nvGraphicFramePr>
          <p:cNvPr id="11" name="Table 10"/>
          <p:cNvGraphicFramePr>
            <a:graphicFrameLocks noGrp="1"/>
          </p:cNvGraphicFramePr>
          <p:nvPr/>
        </p:nvGraphicFramePr>
        <p:xfrm>
          <a:off x="3886200" y="1527048"/>
          <a:ext cx="7845552" cy="3218688"/>
        </p:xfrm>
        <a:graphic>
          <a:graphicData uri="http://schemas.openxmlformats.org/drawingml/2006/table">
            <a:tbl>
              <a:tblPr firstRow="0" bandRow="0">
                <a:tableStyleId>{2D5ABB26-0587-4C30-8999-92F81FD0307C}</a:tableStyleId>
              </a:tblPr>
              <a:tblGrid>
                <a:gridCol w="1005840"/>
                <a:gridCol w="2788920"/>
                <a:gridCol w="2331720"/>
                <a:gridCol w="1719072"/>
              </a:tblGrid>
              <a:tr h="384048">
                <a:tc>
                  <a:txBody>
                    <a:bodyPr wrap="square"/>
                    <a:lstStyle/>
                    <a:p>
                      <a:r>
                        <a:rPr sz="950" b="1" i="0">
                          <a:solidFill>
                            <a:srgbClr val="FFFFFF"/>
                          </a:solidFill>
                          <a:latin typeface="Arial"/>
                        </a:rPr>
                        <a:t>Lever</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The decision</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Who makes it today</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WeYield today</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566928">
                <a:tc>
                  <a:txBody>
                    <a:bodyPr wrap="square"/>
                    <a:lstStyle/>
                    <a:p>
                      <a:r>
                        <a:rPr sz="950" b="1" i="0">
                          <a:solidFill>
                            <a:srgbClr val="262626"/>
                          </a:solidFill>
                          <a:latin typeface="Arial"/>
                        </a:rPr>
                        <a:t>Price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Rate by car group, channel, booking window, length of rental</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Revenue manager — WeYield's user. Franchisees control it only partly</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1E7F4F"/>
                          </a:solidFill>
                          <a:latin typeface="Arial"/>
                        </a:rPr>
                        <a:t>Covered</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Move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Transfer units between stations to meet peak demand (Jaipur → Udaipur)</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Operations, by instinct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B36B00"/>
                          </a:solidFill>
                          <a:latin typeface="Arial"/>
                        </a:rPr>
                        <a:t>Analytics only — utilisation reported, no redistribution recommended</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Substitute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Walk the customer up the ACRISS ladder (ECMR → CDMR)</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Counter staff, ad hoc</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B51D1D"/>
                          </a:solidFill>
                          <a:latin typeface="Arial"/>
                        </a:rPr>
                        <a:t>Not covered</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Buy</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How many of each group, when, at what acquisition cost — and what they will be worth</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Owner, annually, by gut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B36B00"/>
                          </a:solidFill>
                          <a:latin typeface="Arial"/>
                        </a:rPr>
                        <a:t>Demand-side only — no cost or residual view</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Sell</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When to de-fleet each cohort — the decision that sets the year's profit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Owner, by gut or by lease expiry</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B36B00"/>
                          </a:solidFill>
                          <a:latin typeface="Arial"/>
                        </a:rPr>
                        <a:t>Demand-side only — no residual view</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The operator's profit is made on the residual, not the rental — a bracket WeYield does not touch</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2 · WHY THE PRODUCT IS CAPPED</a:t>
            </a:r>
          </a:p>
        </p:txBody>
      </p:sp>
      <p:sp>
        <p:nvSpPr>
          <p:cNvPr id="5" name="Rounded Rectangle 4"/>
          <p:cNvSpPr/>
          <p:nvPr/>
        </p:nvSpPr>
        <p:spPr>
          <a:xfrm>
            <a:off x="10543032" y="475488"/>
            <a:ext cx="1188720" cy="246888"/>
          </a:xfrm>
          <a:prstGeom prst="roundRect">
            <a:avLst>
              <a:gd name="adj" fmla="val 12000"/>
            </a:avLst>
          </a:prstGeom>
          <a:noFill/>
          <a:ln w="9525">
            <a:solidFill>
              <a:srgbClr val="051C2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750" b="1" i="0">
                <a:solidFill>
                  <a:srgbClr val="051C2C"/>
                </a:solidFill>
                <a:latin typeface="Arial"/>
              </a:rPr>
              <a:t>ILLUSTRATIVE</a:t>
            </a:r>
          </a:p>
        </p:txBody>
      </p:sp>
      <p:sp>
        <p:nvSpPr>
          <p:cNvPr id="6" name="TextBox 5"/>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Assumptions: 1,000-vehicle operator; €700 revenue per unit per month (€8.4M p.a.); 4% net margin as cited by Olivier Jager; €15K average disposal value; 24-month holding period, so ~500 disposals p.a. Hertz Tesla write-down per public filings, 2023–24.</a:t>
            </a:r>
          </a:p>
        </p:txBody>
      </p:sp>
      <p:sp>
        <p:nvSpPr>
          <p:cNvPr id="7" name="TextBox 6"/>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8</a:t>
            </a:r>
          </a:p>
        </p:txBody>
      </p:sp>
      <p:cxnSp>
        <p:nvCxnSpPr>
          <p:cNvPr id="8" name="Connector 7"/>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1618488"/>
            <a:ext cx="1371600" cy="8686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1709928"/>
            <a:ext cx="1188720" cy="411480"/>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Profit</a:t>
            </a:r>
          </a:p>
        </p:txBody>
      </p:sp>
      <p:sp>
        <p:nvSpPr>
          <p:cNvPr id="11" name="TextBox 10"/>
          <p:cNvSpPr txBox="1"/>
          <p:nvPr/>
        </p:nvSpPr>
        <p:spPr>
          <a:xfrm>
            <a:off x="548640" y="2121408"/>
            <a:ext cx="1188720" cy="320040"/>
          </a:xfrm>
          <a:prstGeom prst="rect">
            <a:avLst/>
          </a:prstGeom>
          <a:noFill/>
        </p:spPr>
        <p:txBody>
          <a:bodyPr wrap="square" lIns="0" tIns="0" rIns="0" bIns="0" anchor="t">
            <a:spAutoFit/>
          </a:bodyPr>
          <a:lstStyle/>
          <a:p>
            <a:pPr algn="ctr">
              <a:lnSpc>
                <a:spcPct val="100000"/>
              </a:lnSpc>
              <a:spcAft>
                <a:spcPts val="0"/>
              </a:spcAft>
            </a:pPr>
            <a:r>
              <a:rPr sz="850" b="0" i="0">
                <a:solidFill>
                  <a:srgbClr val="99B4FF"/>
                </a:solidFill>
                <a:latin typeface="Arial"/>
              </a:rPr>
              <a:t>the operator's annual result</a:t>
            </a:r>
          </a:p>
        </p:txBody>
      </p:sp>
      <p:sp>
        <p:nvSpPr>
          <p:cNvPr id="12" name="TextBox 11"/>
          <p:cNvSpPr txBox="1"/>
          <p:nvPr/>
        </p:nvSpPr>
        <p:spPr>
          <a:xfrm>
            <a:off x="1828800" y="1618488"/>
            <a:ext cx="365760" cy="868680"/>
          </a:xfrm>
          <a:prstGeom prst="rect">
            <a:avLst/>
          </a:prstGeom>
          <a:noFill/>
        </p:spPr>
        <p:txBody>
          <a:bodyPr wrap="square" lIns="0" tIns="0" rIns="0" bIns="0" anchor="ctr">
            <a:spAutoFit/>
          </a:bodyPr>
          <a:lstStyle/>
          <a:p>
            <a:pPr algn="ctr">
              <a:spcAft>
                <a:spcPts val="0"/>
              </a:spcAft>
            </a:pPr>
            <a:r>
              <a:rPr sz="2000" b="0" i="0">
                <a:solidFill>
                  <a:srgbClr val="051C2C"/>
                </a:solidFill>
                <a:latin typeface="Georgia"/>
              </a:rPr>
              <a:t>=</a:t>
            </a:r>
          </a:p>
        </p:txBody>
      </p:sp>
      <p:sp>
        <p:nvSpPr>
          <p:cNvPr id="13" name="Rectangle 12"/>
          <p:cNvSpPr/>
          <p:nvPr/>
        </p:nvSpPr>
        <p:spPr>
          <a:xfrm>
            <a:off x="2194560" y="1618488"/>
            <a:ext cx="3108960" cy="8686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86000" y="1709928"/>
            <a:ext cx="2926079" cy="411480"/>
          </a:xfrm>
          <a:prstGeom prst="rect">
            <a:avLst/>
          </a:prstGeom>
          <a:noFill/>
        </p:spPr>
        <p:txBody>
          <a:bodyPr wrap="square" lIns="0" tIns="0" rIns="0" bIns="0" anchor="ctr">
            <a:spAutoFit/>
          </a:bodyPr>
          <a:lstStyle/>
          <a:p>
            <a:pPr algn="ctr">
              <a:spcAft>
                <a:spcPts val="0"/>
              </a:spcAft>
            </a:pPr>
            <a:r>
              <a:rPr sz="1100" b="1" i="0">
                <a:solidFill>
                  <a:srgbClr val="262626"/>
                </a:solidFill>
                <a:latin typeface="Arial"/>
              </a:rPr>
              <a:t>Rental revenue − Operating cost</a:t>
            </a:r>
          </a:p>
        </p:txBody>
      </p:sp>
      <p:sp>
        <p:nvSpPr>
          <p:cNvPr id="15" name="TextBox 14"/>
          <p:cNvSpPr txBox="1"/>
          <p:nvPr/>
        </p:nvSpPr>
        <p:spPr>
          <a:xfrm>
            <a:off x="2286000" y="2121408"/>
            <a:ext cx="2926079" cy="320040"/>
          </a:xfrm>
          <a:prstGeom prst="rect">
            <a:avLst/>
          </a:prstGeom>
          <a:noFill/>
        </p:spPr>
        <p:txBody>
          <a:bodyPr wrap="square" lIns="0" tIns="0" rIns="0" bIns="0" anchor="t">
            <a:spAutoFit/>
          </a:bodyPr>
          <a:lstStyle/>
          <a:p>
            <a:pPr algn="ctr">
              <a:lnSpc>
                <a:spcPct val="100000"/>
              </a:lnSpc>
              <a:spcAft>
                <a:spcPts val="0"/>
              </a:spcAft>
            </a:pPr>
            <a:r>
              <a:rPr sz="850" b="0" i="0">
                <a:solidFill>
                  <a:srgbClr val="7F7F7F"/>
                </a:solidFill>
                <a:latin typeface="Arial"/>
              </a:rPr>
              <a:t>Revenue management · WeYield today</a:t>
            </a:r>
          </a:p>
        </p:txBody>
      </p:sp>
      <p:sp>
        <p:nvSpPr>
          <p:cNvPr id="16" name="TextBox 15"/>
          <p:cNvSpPr txBox="1"/>
          <p:nvPr/>
        </p:nvSpPr>
        <p:spPr>
          <a:xfrm>
            <a:off x="5303520" y="1618488"/>
            <a:ext cx="365760" cy="868680"/>
          </a:xfrm>
          <a:prstGeom prst="rect">
            <a:avLst/>
          </a:prstGeom>
          <a:noFill/>
        </p:spPr>
        <p:txBody>
          <a:bodyPr wrap="square" lIns="0" tIns="0" rIns="0" bIns="0" anchor="ctr">
            <a:spAutoFit/>
          </a:bodyPr>
          <a:lstStyle/>
          <a:p>
            <a:pPr algn="ctr">
              <a:spcAft>
                <a:spcPts val="0"/>
              </a:spcAft>
            </a:pPr>
            <a:r>
              <a:rPr sz="2000" b="0" i="0">
                <a:solidFill>
                  <a:srgbClr val="051C2C"/>
                </a:solidFill>
                <a:latin typeface="Georgia"/>
              </a:rPr>
              <a:t>+</a:t>
            </a:r>
          </a:p>
        </p:txBody>
      </p:sp>
      <p:sp>
        <p:nvSpPr>
          <p:cNvPr id="17" name="Rectangle 16"/>
          <p:cNvSpPr/>
          <p:nvPr/>
        </p:nvSpPr>
        <p:spPr>
          <a:xfrm>
            <a:off x="5669280" y="1618488"/>
            <a:ext cx="3566160" cy="86868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1709928"/>
            <a:ext cx="3383279" cy="411480"/>
          </a:xfrm>
          <a:prstGeom prst="rect">
            <a:avLst/>
          </a:prstGeom>
          <a:noFill/>
        </p:spPr>
        <p:txBody>
          <a:bodyPr wrap="square" lIns="0" tIns="0" rIns="0" bIns="0" anchor="ctr">
            <a:spAutoFit/>
          </a:bodyPr>
          <a:lstStyle/>
          <a:p>
            <a:pPr algn="ctr">
              <a:spcAft>
                <a:spcPts val="0"/>
              </a:spcAft>
            </a:pPr>
            <a:r>
              <a:rPr sz="1100" b="1" i="0">
                <a:solidFill>
                  <a:srgbClr val="FFFFFF"/>
                </a:solidFill>
                <a:latin typeface="Arial"/>
              </a:rPr>
              <a:t>Residual realised − Depreciation booked</a:t>
            </a:r>
          </a:p>
        </p:txBody>
      </p:sp>
      <p:sp>
        <p:nvSpPr>
          <p:cNvPr id="19" name="TextBox 18"/>
          <p:cNvSpPr txBox="1"/>
          <p:nvPr/>
        </p:nvSpPr>
        <p:spPr>
          <a:xfrm>
            <a:off x="5760720" y="2121408"/>
            <a:ext cx="3383279" cy="320040"/>
          </a:xfrm>
          <a:prstGeom prst="rect">
            <a:avLst/>
          </a:prstGeom>
          <a:noFill/>
        </p:spPr>
        <p:txBody>
          <a:bodyPr wrap="square" lIns="0" tIns="0" rIns="0" bIns="0" anchor="t">
            <a:spAutoFit/>
          </a:bodyPr>
          <a:lstStyle/>
          <a:p>
            <a:pPr algn="ctr">
              <a:lnSpc>
                <a:spcPct val="100000"/>
              </a:lnSpc>
              <a:spcAft>
                <a:spcPts val="0"/>
              </a:spcAft>
            </a:pPr>
            <a:r>
              <a:rPr sz="850" b="0" i="0">
                <a:solidFill>
                  <a:srgbClr val="E8EEFF"/>
                </a:solidFill>
                <a:latin typeface="Arial"/>
              </a:rPr>
              <a:t>Where the volatility and often the whole margin live · unserved</a:t>
            </a:r>
          </a:p>
        </p:txBody>
      </p:sp>
      <p:sp>
        <p:nvSpPr>
          <p:cNvPr id="20" name="TextBox 19"/>
          <p:cNvSpPr txBox="1"/>
          <p:nvPr/>
        </p:nvSpPr>
        <p:spPr>
          <a:xfrm>
            <a:off x="9235440" y="1618488"/>
            <a:ext cx="365760" cy="868680"/>
          </a:xfrm>
          <a:prstGeom prst="rect">
            <a:avLst/>
          </a:prstGeom>
          <a:noFill/>
        </p:spPr>
        <p:txBody>
          <a:bodyPr wrap="square" lIns="0" tIns="0" rIns="0" bIns="0" anchor="ctr">
            <a:spAutoFit/>
          </a:bodyPr>
          <a:lstStyle/>
          <a:p>
            <a:pPr algn="ctr">
              <a:spcAft>
                <a:spcPts val="0"/>
              </a:spcAft>
            </a:pPr>
            <a:r>
              <a:rPr sz="2000" b="0" i="0">
                <a:solidFill>
                  <a:srgbClr val="051C2C"/>
                </a:solidFill>
                <a:latin typeface="Georgia"/>
              </a:rPr>
              <a:t>−</a:t>
            </a:r>
          </a:p>
        </p:txBody>
      </p:sp>
      <p:sp>
        <p:nvSpPr>
          <p:cNvPr id="21" name="Rectangle 20"/>
          <p:cNvSpPr/>
          <p:nvPr/>
        </p:nvSpPr>
        <p:spPr>
          <a:xfrm>
            <a:off x="9601200" y="1618488"/>
            <a:ext cx="2130552" cy="8686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0" y="1709928"/>
            <a:ext cx="1947672" cy="411480"/>
          </a:xfrm>
          <a:prstGeom prst="rect">
            <a:avLst/>
          </a:prstGeom>
          <a:noFill/>
        </p:spPr>
        <p:txBody>
          <a:bodyPr wrap="square" lIns="0" tIns="0" rIns="0" bIns="0" anchor="ctr">
            <a:spAutoFit/>
          </a:bodyPr>
          <a:lstStyle/>
          <a:p>
            <a:pPr algn="ctr">
              <a:spcAft>
                <a:spcPts val="0"/>
              </a:spcAft>
            </a:pPr>
            <a:r>
              <a:rPr sz="1100" b="1" i="0">
                <a:solidFill>
                  <a:srgbClr val="262626"/>
                </a:solidFill>
                <a:latin typeface="Arial"/>
              </a:rPr>
              <a:t>Holding cost</a:t>
            </a:r>
          </a:p>
        </p:txBody>
      </p:sp>
      <p:sp>
        <p:nvSpPr>
          <p:cNvPr id="23" name="TextBox 22"/>
          <p:cNvSpPr txBox="1"/>
          <p:nvPr/>
        </p:nvSpPr>
        <p:spPr>
          <a:xfrm>
            <a:off x="9692640" y="2121408"/>
            <a:ext cx="1947672" cy="320040"/>
          </a:xfrm>
          <a:prstGeom prst="rect">
            <a:avLst/>
          </a:prstGeom>
          <a:noFill/>
        </p:spPr>
        <p:txBody>
          <a:bodyPr wrap="square" lIns="0" tIns="0" rIns="0" bIns="0" anchor="t">
            <a:spAutoFit/>
          </a:bodyPr>
          <a:lstStyle/>
          <a:p>
            <a:pPr algn="ctr">
              <a:lnSpc>
                <a:spcPct val="100000"/>
              </a:lnSpc>
              <a:spcAft>
                <a:spcPts val="0"/>
              </a:spcAft>
            </a:pPr>
            <a:r>
              <a:rPr sz="850" b="0" i="0">
                <a:solidFill>
                  <a:srgbClr val="7F7F7F"/>
                </a:solidFill>
                <a:latin typeface="Arial"/>
              </a:rPr>
              <a:t>financing, insurance, storage</a:t>
            </a:r>
          </a:p>
        </p:txBody>
      </p:sp>
      <p:sp>
        <p:nvSpPr>
          <p:cNvPr id="24" name="TextBox 23"/>
          <p:cNvSpPr txBox="1"/>
          <p:nvPr/>
        </p:nvSpPr>
        <p:spPr>
          <a:xfrm>
            <a:off x="457200" y="2761488"/>
            <a:ext cx="658368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Sizing the second bracket for a 1,000-vehicle operator, €K per year</a:t>
            </a:r>
          </a:p>
        </p:txBody>
      </p:sp>
      <p:sp>
        <p:nvSpPr>
          <p:cNvPr id="25" name="TextBox 24"/>
          <p:cNvSpPr txBox="1"/>
          <p:nvPr/>
        </p:nvSpPr>
        <p:spPr>
          <a:xfrm>
            <a:off x="457200" y="3218688"/>
            <a:ext cx="2834640" cy="384048"/>
          </a:xfrm>
          <a:prstGeom prst="rect">
            <a:avLst/>
          </a:prstGeom>
          <a:noFill/>
        </p:spPr>
        <p:txBody>
          <a:bodyPr wrap="square" lIns="0" tIns="0" rIns="0" bIns="0" anchor="ctr">
            <a:spAutoFit/>
          </a:bodyPr>
          <a:lstStyle/>
          <a:p>
            <a:pPr algn="l">
              <a:spcAft>
                <a:spcPts val="0"/>
              </a:spcAft>
            </a:pPr>
            <a:r>
              <a:rPr sz="950" b="0" i="0">
                <a:solidFill>
                  <a:srgbClr val="262626"/>
                </a:solidFill>
                <a:latin typeface="Arial"/>
              </a:rPr>
              <a:t>Annual net profit at 4% margin</a:t>
            </a:r>
          </a:p>
        </p:txBody>
      </p:sp>
      <p:sp>
        <p:nvSpPr>
          <p:cNvPr id="26" name="Rectangle 25"/>
          <p:cNvSpPr/>
          <p:nvPr/>
        </p:nvSpPr>
        <p:spPr>
          <a:xfrm>
            <a:off x="3383280" y="3218688"/>
            <a:ext cx="1613001" cy="384048"/>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069433" y="3218688"/>
            <a:ext cx="2194560" cy="384048"/>
          </a:xfrm>
          <a:prstGeom prst="rect">
            <a:avLst/>
          </a:prstGeom>
          <a:noFill/>
        </p:spPr>
        <p:txBody>
          <a:bodyPr wrap="square" lIns="0" tIns="0" rIns="0" bIns="0" anchor="ctr">
            <a:spAutoFit/>
          </a:bodyPr>
          <a:lstStyle/>
          <a:p>
            <a:pPr algn="l">
              <a:spcAft>
                <a:spcPts val="0"/>
              </a:spcAft>
            </a:pPr>
            <a:r>
              <a:rPr sz="950" b="1" i="0">
                <a:solidFill>
                  <a:srgbClr val="051C2C"/>
                </a:solidFill>
                <a:latin typeface="Arial"/>
              </a:rPr>
              <a:t>€336K</a:t>
            </a:r>
          </a:p>
        </p:txBody>
      </p:sp>
      <p:sp>
        <p:nvSpPr>
          <p:cNvPr id="28" name="TextBox 27"/>
          <p:cNvSpPr txBox="1"/>
          <p:nvPr/>
        </p:nvSpPr>
        <p:spPr>
          <a:xfrm>
            <a:off x="457200" y="3913632"/>
            <a:ext cx="2834640" cy="384048"/>
          </a:xfrm>
          <a:prstGeom prst="rect">
            <a:avLst/>
          </a:prstGeom>
          <a:noFill/>
        </p:spPr>
        <p:txBody>
          <a:bodyPr wrap="square" lIns="0" tIns="0" rIns="0" bIns="0" anchor="ctr">
            <a:spAutoFit/>
          </a:bodyPr>
          <a:lstStyle/>
          <a:p>
            <a:pPr algn="l">
              <a:spcAft>
                <a:spcPts val="0"/>
              </a:spcAft>
            </a:pPr>
            <a:r>
              <a:rPr sz="950" b="0" i="0">
                <a:solidFill>
                  <a:srgbClr val="262626"/>
                </a:solidFill>
                <a:latin typeface="Arial"/>
              </a:rPr>
              <a:t>Value of +1% residual realisation — low case</a:t>
            </a:r>
          </a:p>
        </p:txBody>
      </p:sp>
      <p:sp>
        <p:nvSpPr>
          <p:cNvPr id="29" name="Rectangle 28"/>
          <p:cNvSpPr/>
          <p:nvPr/>
        </p:nvSpPr>
        <p:spPr>
          <a:xfrm>
            <a:off x="3383280" y="3913632"/>
            <a:ext cx="360044" cy="384048"/>
          </a:xfrm>
          <a:prstGeom prst="rect">
            <a:avLst/>
          </a:prstGeom>
          <a:solidFill>
            <a:srgbClr val="99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816477" y="3913632"/>
            <a:ext cx="2194560" cy="384048"/>
          </a:xfrm>
          <a:prstGeom prst="rect">
            <a:avLst/>
          </a:prstGeom>
          <a:noFill/>
        </p:spPr>
        <p:txBody>
          <a:bodyPr wrap="square" lIns="0" tIns="0" rIns="0" bIns="0" anchor="ctr">
            <a:spAutoFit/>
          </a:bodyPr>
          <a:lstStyle/>
          <a:p>
            <a:pPr algn="l">
              <a:spcAft>
                <a:spcPts val="0"/>
              </a:spcAft>
            </a:pPr>
            <a:r>
              <a:rPr sz="950" b="1" i="0">
                <a:solidFill>
                  <a:srgbClr val="051C2C"/>
                </a:solidFill>
                <a:latin typeface="Arial"/>
              </a:rPr>
              <a:t>€75K  (22% of profit)</a:t>
            </a:r>
          </a:p>
        </p:txBody>
      </p:sp>
      <p:sp>
        <p:nvSpPr>
          <p:cNvPr id="31" name="TextBox 30"/>
          <p:cNvSpPr txBox="1"/>
          <p:nvPr/>
        </p:nvSpPr>
        <p:spPr>
          <a:xfrm>
            <a:off x="457200" y="4608576"/>
            <a:ext cx="2834640" cy="384048"/>
          </a:xfrm>
          <a:prstGeom prst="rect">
            <a:avLst/>
          </a:prstGeom>
          <a:noFill/>
        </p:spPr>
        <p:txBody>
          <a:bodyPr wrap="square" lIns="0" tIns="0" rIns="0" bIns="0" anchor="ctr">
            <a:spAutoFit/>
          </a:bodyPr>
          <a:lstStyle/>
          <a:p>
            <a:pPr algn="l">
              <a:spcAft>
                <a:spcPts val="0"/>
              </a:spcAft>
            </a:pPr>
            <a:r>
              <a:rPr sz="950" b="0" i="0">
                <a:solidFill>
                  <a:srgbClr val="262626"/>
                </a:solidFill>
                <a:latin typeface="Arial"/>
              </a:rPr>
              <a:t>Value of +1% residual realisation — high case</a:t>
            </a:r>
          </a:p>
        </p:txBody>
      </p:sp>
      <p:sp>
        <p:nvSpPr>
          <p:cNvPr id="32" name="Rectangle 31"/>
          <p:cNvSpPr/>
          <p:nvPr/>
        </p:nvSpPr>
        <p:spPr>
          <a:xfrm>
            <a:off x="3383280" y="4608576"/>
            <a:ext cx="720089" cy="384048"/>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176522" y="4608576"/>
            <a:ext cx="2194560" cy="384048"/>
          </a:xfrm>
          <a:prstGeom prst="rect">
            <a:avLst/>
          </a:prstGeom>
          <a:noFill/>
        </p:spPr>
        <p:txBody>
          <a:bodyPr wrap="square" lIns="0" tIns="0" rIns="0" bIns="0" anchor="ctr">
            <a:spAutoFit/>
          </a:bodyPr>
          <a:lstStyle/>
          <a:p>
            <a:pPr algn="l">
              <a:spcAft>
                <a:spcPts val="0"/>
              </a:spcAft>
            </a:pPr>
            <a:r>
              <a:rPr sz="950" b="1" i="0">
                <a:solidFill>
                  <a:srgbClr val="051C2C"/>
                </a:solidFill>
                <a:latin typeface="Arial"/>
              </a:rPr>
              <a:t>€150K  (45% of profit)</a:t>
            </a:r>
          </a:p>
        </p:txBody>
      </p:sp>
      <p:cxnSp>
        <p:nvCxnSpPr>
          <p:cNvPr id="34" name="Connector 33"/>
          <p:cNvCxnSpPr/>
          <p:nvPr/>
        </p:nvCxnSpPr>
        <p:spPr>
          <a:xfrm>
            <a:off x="3383280" y="3172968"/>
            <a:ext cx="0" cy="1865376"/>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406640" y="2807208"/>
            <a:ext cx="4325112" cy="150876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406640" y="2807208"/>
            <a:ext cx="54864" cy="150876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589519" y="2935224"/>
            <a:ext cx="4014216" cy="128930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Booked vs realised</a:t>
            </a:r>
          </a:p>
          <a:p>
            <a:pPr algn="l">
              <a:lnSpc>
                <a:spcPct val="110000"/>
              </a:lnSpc>
              <a:spcAft>
                <a:spcPts val="500"/>
              </a:spcAft>
            </a:pPr>
            <a:r>
              <a:rPr sz="950" b="0" i="0">
                <a:solidFill>
                  <a:srgbClr val="262626"/>
                </a:solidFill>
                <a:latin typeface="Arial"/>
              </a:rPr>
              <a:t>Depreciation is </a:t>
            </a:r>
            <a:r>
              <a:rPr sz="950" b="0" i="1">
                <a:solidFill>
                  <a:srgbClr val="262626"/>
                </a:solidFill>
                <a:latin typeface="Arial"/>
              </a:rPr>
              <a:t>booked</a:t>
            </a:r>
            <a:r>
              <a:rPr sz="950" b="0" i="0">
                <a:solidFill>
                  <a:srgbClr val="262626"/>
                </a:solidFill>
                <a:latin typeface="Arial"/>
              </a:rPr>
              <a:t> as an estimate at acquisition and </a:t>
            </a:r>
            <a:r>
              <a:rPr sz="950" b="0" i="1">
                <a:solidFill>
                  <a:srgbClr val="262626"/>
                </a:solidFill>
                <a:latin typeface="Arial"/>
              </a:rPr>
              <a:t>realised</a:t>
            </a:r>
            <a:r>
              <a:rPr sz="950" b="0" i="0">
                <a:solidFill>
                  <a:srgbClr val="262626"/>
                </a:solidFill>
                <a:latin typeface="Arial"/>
              </a:rPr>
              <a:t> years later at remarketing. Book €300/month, lose €380, and a year of operating profit is gone.</a:t>
            </a:r>
          </a:p>
        </p:txBody>
      </p:sp>
      <p:sp>
        <p:nvSpPr>
          <p:cNvPr id="38" name="Rectangle 37"/>
          <p:cNvSpPr/>
          <p:nvPr/>
        </p:nvSpPr>
        <p:spPr>
          <a:xfrm>
            <a:off x="7406640" y="4407408"/>
            <a:ext cx="4325112" cy="13716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406640" y="4407408"/>
            <a:ext cx="54864" cy="137160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589519" y="4535424"/>
            <a:ext cx="4014216" cy="115214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This happens to professionals too</a:t>
            </a:r>
          </a:p>
          <a:p>
            <a:pPr algn="l">
              <a:lnSpc>
                <a:spcPct val="110000"/>
              </a:lnSpc>
              <a:spcAft>
                <a:spcPts val="500"/>
              </a:spcAft>
            </a:pPr>
            <a:r>
              <a:rPr sz="950" b="0" i="0">
                <a:solidFill>
                  <a:srgbClr val="262626"/>
                </a:solidFill>
                <a:latin typeface="Arial"/>
              </a:rPr>
              <a:t>Hertz wrote down roughly </a:t>
            </a:r>
            <a:r>
              <a:rPr sz="950" b="1" i="0">
                <a:solidFill>
                  <a:srgbClr val="262626"/>
                </a:solidFill>
                <a:latin typeface="Arial"/>
              </a:rPr>
              <a:t>$2.9bn</a:t>
            </a:r>
            <a:r>
              <a:rPr sz="950" b="0" i="0">
                <a:solidFill>
                  <a:srgbClr val="262626"/>
                </a:solidFill>
                <a:latin typeface="Arial"/>
              </a:rPr>
              <a:t> on Tesla residuals in 2023–24 — this bracket, at scale, with an in-house fleet team. The long tail has no team and, since 2021, increasingly carries the risk itself.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Five conditions have converged since 2021 that make this urgent rather than merely attractive</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2 · WHY THE PRODUCT IS CAPPED</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industry reporting on OEM repurchase programmes post-2021; Hertz/Tesla residual write-downs; Indicata, Autovista, BCA, Manheim data products; RateHighway Enhanced Intelligence and Rexalto AMPE partnership (The AI Turn for WeYield, Sep 2026).</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9</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2167128" cy="56692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27048"/>
            <a:ext cx="457200" cy="566928"/>
          </a:xfrm>
          <a:prstGeom prst="rect">
            <a:avLst/>
          </a:prstGeom>
          <a:noFill/>
        </p:spPr>
        <p:txBody>
          <a:bodyPr wrap="square" lIns="0" tIns="0" rIns="0" bIns="0" anchor="ctr">
            <a:spAutoFit/>
          </a:bodyPr>
          <a:lstStyle/>
          <a:p>
            <a:pPr algn="l">
              <a:spcAft>
                <a:spcPts val="0"/>
              </a:spcAft>
            </a:pPr>
            <a:r>
              <a:rPr sz="2200" b="0" i="0">
                <a:solidFill>
                  <a:srgbClr val="FFFFFF"/>
                </a:solidFill>
                <a:latin typeface="Georgia"/>
              </a:rPr>
              <a:t>1</a:t>
            </a:r>
          </a:p>
        </p:txBody>
      </p:sp>
      <p:sp>
        <p:nvSpPr>
          <p:cNvPr id="10" name="TextBox 9"/>
          <p:cNvSpPr txBox="1"/>
          <p:nvPr/>
        </p:nvSpPr>
        <p:spPr>
          <a:xfrm>
            <a:off x="960120" y="1527048"/>
            <a:ext cx="1572768" cy="566928"/>
          </a:xfrm>
          <a:prstGeom prst="rect">
            <a:avLst/>
          </a:prstGeom>
          <a:noFill/>
        </p:spPr>
        <p:txBody>
          <a:bodyPr wrap="square" lIns="0" tIns="0" rIns="0" bIns="0" anchor="ctr">
            <a:spAutoFit/>
          </a:bodyPr>
          <a:lstStyle/>
          <a:p>
            <a:pPr algn="l">
              <a:lnSpc>
                <a:spcPct val="105000"/>
              </a:lnSpc>
              <a:spcAft>
                <a:spcPts val="0"/>
              </a:spcAft>
            </a:pPr>
            <a:r>
              <a:rPr sz="1000" b="1" i="0">
                <a:solidFill>
                  <a:srgbClr val="FFFFFF"/>
                </a:solidFill>
                <a:latin typeface="Arial"/>
              </a:rPr>
              <a:t>The risk moved to the customer</a:t>
            </a:r>
          </a:p>
        </p:txBody>
      </p:sp>
      <p:sp>
        <p:nvSpPr>
          <p:cNvPr id="11" name="Rectangle 10"/>
          <p:cNvSpPr/>
          <p:nvPr/>
        </p:nvSpPr>
        <p:spPr>
          <a:xfrm>
            <a:off x="457200" y="2093976"/>
            <a:ext cx="2167128" cy="2697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2231136"/>
            <a:ext cx="1892808" cy="2514600"/>
          </a:xfrm>
          <a:prstGeom prst="rect">
            <a:avLst/>
          </a:prstGeom>
          <a:noFill/>
        </p:spPr>
        <p:txBody>
          <a:bodyPr wrap="square" lIns="0" tIns="0" rIns="0" bIns="0" anchor="t">
            <a:spAutoFit/>
          </a:bodyPr>
          <a:lstStyle/>
          <a:p>
            <a:pPr algn="l">
              <a:lnSpc>
                <a:spcPct val="112000"/>
              </a:lnSpc>
              <a:spcAft>
                <a:spcPts val="400"/>
              </a:spcAft>
            </a:pPr>
            <a:r>
              <a:rPr sz="950" b="0" i="0">
                <a:solidFill>
                  <a:srgbClr val="262626"/>
                </a:solidFill>
                <a:latin typeface="Arial"/>
              </a:rPr>
              <a:t>OEM buyback and repurchase programmes contracted sharply after the 2021 semiconductor shortage. The long tail now carries residual exposure it never held — and in many cases does not yet see on its management reporting.</a:t>
            </a:r>
          </a:p>
        </p:txBody>
      </p:sp>
      <p:sp>
        <p:nvSpPr>
          <p:cNvPr id="13" name="Rectangle 12"/>
          <p:cNvSpPr/>
          <p:nvPr/>
        </p:nvSpPr>
        <p:spPr>
          <a:xfrm>
            <a:off x="2734056" y="1527048"/>
            <a:ext cx="2167128" cy="56692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843784" y="1527048"/>
            <a:ext cx="457200" cy="566928"/>
          </a:xfrm>
          <a:prstGeom prst="rect">
            <a:avLst/>
          </a:prstGeom>
          <a:noFill/>
        </p:spPr>
        <p:txBody>
          <a:bodyPr wrap="square" lIns="0" tIns="0" rIns="0" bIns="0" anchor="ctr">
            <a:spAutoFit/>
          </a:bodyPr>
          <a:lstStyle/>
          <a:p>
            <a:pPr algn="l">
              <a:spcAft>
                <a:spcPts val="0"/>
              </a:spcAft>
            </a:pPr>
            <a:r>
              <a:rPr sz="2200" b="0" i="0">
                <a:solidFill>
                  <a:srgbClr val="FFFFFF"/>
                </a:solidFill>
                <a:latin typeface="Georgia"/>
              </a:rPr>
              <a:t>2</a:t>
            </a:r>
          </a:p>
        </p:txBody>
      </p:sp>
      <p:sp>
        <p:nvSpPr>
          <p:cNvPr id="15" name="TextBox 14"/>
          <p:cNvSpPr txBox="1"/>
          <p:nvPr/>
        </p:nvSpPr>
        <p:spPr>
          <a:xfrm>
            <a:off x="3236976" y="1527048"/>
            <a:ext cx="1572768" cy="566928"/>
          </a:xfrm>
          <a:prstGeom prst="rect">
            <a:avLst/>
          </a:prstGeom>
          <a:noFill/>
        </p:spPr>
        <p:txBody>
          <a:bodyPr wrap="square" lIns="0" tIns="0" rIns="0" bIns="0" anchor="ctr">
            <a:spAutoFit/>
          </a:bodyPr>
          <a:lstStyle/>
          <a:p>
            <a:pPr algn="l">
              <a:lnSpc>
                <a:spcPct val="105000"/>
              </a:lnSpc>
              <a:spcAft>
                <a:spcPts val="0"/>
              </a:spcAft>
            </a:pPr>
            <a:r>
              <a:rPr sz="1000" b="1" i="0">
                <a:solidFill>
                  <a:srgbClr val="FFFFFF"/>
                </a:solidFill>
                <a:latin typeface="Arial"/>
              </a:rPr>
              <a:t>The risk got harder</a:t>
            </a:r>
          </a:p>
        </p:txBody>
      </p:sp>
      <p:sp>
        <p:nvSpPr>
          <p:cNvPr id="16" name="Rectangle 15"/>
          <p:cNvSpPr/>
          <p:nvPr/>
        </p:nvSpPr>
        <p:spPr>
          <a:xfrm>
            <a:off x="2734056" y="2093976"/>
            <a:ext cx="2167128" cy="2697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871216" y="2231136"/>
            <a:ext cx="1892808" cy="2514600"/>
          </a:xfrm>
          <a:prstGeom prst="rect">
            <a:avLst/>
          </a:prstGeom>
          <a:noFill/>
        </p:spPr>
        <p:txBody>
          <a:bodyPr wrap="square" lIns="0" tIns="0" rIns="0" bIns="0" anchor="t">
            <a:spAutoFit/>
          </a:bodyPr>
          <a:lstStyle/>
          <a:p>
            <a:pPr algn="l">
              <a:lnSpc>
                <a:spcPct val="112000"/>
              </a:lnSpc>
              <a:spcAft>
                <a:spcPts val="400"/>
              </a:spcAft>
            </a:pPr>
            <a:r>
              <a:rPr sz="950" b="0" i="0">
                <a:solidFill>
                  <a:srgbClr val="262626"/>
                </a:solidFill>
                <a:latin typeface="Arial"/>
              </a:rPr>
              <a:t>EV residual collapse and European diesel demand shifts destroyed the intuitions that used to substitute for a model. Olivier's own point — Middle Eastern supply chains dictating resale values — is exactly this.</a:t>
            </a:r>
          </a:p>
        </p:txBody>
      </p:sp>
      <p:sp>
        <p:nvSpPr>
          <p:cNvPr id="18" name="Rectangle 17"/>
          <p:cNvSpPr/>
          <p:nvPr/>
        </p:nvSpPr>
        <p:spPr>
          <a:xfrm>
            <a:off x="5010912" y="1527048"/>
            <a:ext cx="2167128" cy="56692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0640" y="1527048"/>
            <a:ext cx="457200" cy="566928"/>
          </a:xfrm>
          <a:prstGeom prst="rect">
            <a:avLst/>
          </a:prstGeom>
          <a:noFill/>
        </p:spPr>
        <p:txBody>
          <a:bodyPr wrap="square" lIns="0" tIns="0" rIns="0" bIns="0" anchor="ctr">
            <a:spAutoFit/>
          </a:bodyPr>
          <a:lstStyle/>
          <a:p>
            <a:pPr algn="l">
              <a:spcAft>
                <a:spcPts val="0"/>
              </a:spcAft>
            </a:pPr>
            <a:r>
              <a:rPr sz="2200" b="0" i="0">
                <a:solidFill>
                  <a:srgbClr val="FFFFFF"/>
                </a:solidFill>
                <a:latin typeface="Georgia"/>
              </a:rPr>
              <a:t>3</a:t>
            </a:r>
          </a:p>
        </p:txBody>
      </p:sp>
      <p:sp>
        <p:nvSpPr>
          <p:cNvPr id="20" name="TextBox 19"/>
          <p:cNvSpPr txBox="1"/>
          <p:nvPr/>
        </p:nvSpPr>
        <p:spPr>
          <a:xfrm>
            <a:off x="5513832" y="1527048"/>
            <a:ext cx="1572768" cy="566928"/>
          </a:xfrm>
          <a:prstGeom prst="rect">
            <a:avLst/>
          </a:prstGeom>
          <a:noFill/>
        </p:spPr>
        <p:txBody>
          <a:bodyPr wrap="square" lIns="0" tIns="0" rIns="0" bIns="0" anchor="ctr">
            <a:spAutoFit/>
          </a:bodyPr>
          <a:lstStyle/>
          <a:p>
            <a:pPr algn="l">
              <a:lnSpc>
                <a:spcPct val="105000"/>
              </a:lnSpc>
              <a:spcAft>
                <a:spcPts val="0"/>
              </a:spcAft>
            </a:pPr>
            <a:r>
              <a:rPr sz="1000" b="1" i="0">
                <a:solidFill>
                  <a:srgbClr val="FFFFFF"/>
                </a:solidFill>
                <a:latin typeface="Arial"/>
              </a:rPr>
              <a:t>The missing input became purchasable</a:t>
            </a:r>
          </a:p>
        </p:txBody>
      </p:sp>
      <p:sp>
        <p:nvSpPr>
          <p:cNvPr id="21" name="Rectangle 20"/>
          <p:cNvSpPr/>
          <p:nvPr/>
        </p:nvSpPr>
        <p:spPr>
          <a:xfrm>
            <a:off x="5010912" y="2093976"/>
            <a:ext cx="2167128" cy="2697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148072" y="2231136"/>
            <a:ext cx="1892808" cy="2514600"/>
          </a:xfrm>
          <a:prstGeom prst="rect">
            <a:avLst/>
          </a:prstGeom>
          <a:noFill/>
        </p:spPr>
        <p:txBody>
          <a:bodyPr wrap="square" lIns="0" tIns="0" rIns="0" bIns="0" anchor="t">
            <a:spAutoFit/>
          </a:bodyPr>
          <a:lstStyle/>
          <a:p>
            <a:pPr algn="l">
              <a:lnSpc>
                <a:spcPct val="112000"/>
              </a:lnSpc>
              <a:spcAft>
                <a:spcPts val="400"/>
              </a:spcAft>
            </a:pPr>
            <a:r>
              <a:rPr sz="950" b="0" i="0">
                <a:solidFill>
                  <a:srgbClr val="262626"/>
                </a:solidFill>
                <a:latin typeface="Arial"/>
              </a:rPr>
              <a:t>Used-vehicle market intelligence is now an API: Indicata (live pan-European stock, price, days-to-sell), Autovista (residual forecasts), BCA and Manheim (auction). Five years ago this was a licensing project.</a:t>
            </a:r>
          </a:p>
        </p:txBody>
      </p:sp>
      <p:sp>
        <p:nvSpPr>
          <p:cNvPr id="23" name="Rectangle 22"/>
          <p:cNvSpPr/>
          <p:nvPr/>
        </p:nvSpPr>
        <p:spPr>
          <a:xfrm>
            <a:off x="7287768" y="1527048"/>
            <a:ext cx="2167128" cy="56692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97496" y="1527048"/>
            <a:ext cx="457200" cy="566928"/>
          </a:xfrm>
          <a:prstGeom prst="rect">
            <a:avLst/>
          </a:prstGeom>
          <a:noFill/>
        </p:spPr>
        <p:txBody>
          <a:bodyPr wrap="square" lIns="0" tIns="0" rIns="0" bIns="0" anchor="ctr">
            <a:spAutoFit/>
          </a:bodyPr>
          <a:lstStyle/>
          <a:p>
            <a:pPr algn="l">
              <a:spcAft>
                <a:spcPts val="0"/>
              </a:spcAft>
            </a:pPr>
            <a:r>
              <a:rPr sz="2200" b="0" i="0">
                <a:solidFill>
                  <a:srgbClr val="FFFFFF"/>
                </a:solidFill>
                <a:latin typeface="Georgia"/>
              </a:rPr>
              <a:t>4</a:t>
            </a:r>
          </a:p>
        </p:txBody>
      </p:sp>
      <p:sp>
        <p:nvSpPr>
          <p:cNvPr id="25" name="TextBox 24"/>
          <p:cNvSpPr txBox="1"/>
          <p:nvPr/>
        </p:nvSpPr>
        <p:spPr>
          <a:xfrm>
            <a:off x="7790688" y="1527048"/>
            <a:ext cx="1572768" cy="566928"/>
          </a:xfrm>
          <a:prstGeom prst="rect">
            <a:avLst/>
          </a:prstGeom>
          <a:noFill/>
        </p:spPr>
        <p:txBody>
          <a:bodyPr wrap="square" lIns="0" tIns="0" rIns="0" bIns="0" anchor="ctr">
            <a:spAutoFit/>
          </a:bodyPr>
          <a:lstStyle/>
          <a:p>
            <a:pPr algn="l">
              <a:lnSpc>
                <a:spcPct val="105000"/>
              </a:lnSpc>
              <a:spcAft>
                <a:spcPts val="0"/>
              </a:spcAft>
            </a:pPr>
            <a:r>
              <a:rPr sz="1000" b="1" i="0">
                <a:solidFill>
                  <a:srgbClr val="FFFFFF"/>
                </a:solidFill>
                <a:latin typeface="Arial"/>
              </a:rPr>
              <a:t>The delivery cost collapsed</a:t>
            </a:r>
          </a:p>
        </p:txBody>
      </p:sp>
      <p:sp>
        <p:nvSpPr>
          <p:cNvPr id="26" name="Rectangle 25"/>
          <p:cNvSpPr/>
          <p:nvPr/>
        </p:nvSpPr>
        <p:spPr>
          <a:xfrm>
            <a:off x="7287768" y="2093976"/>
            <a:ext cx="2167128" cy="2697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24928" y="2231136"/>
            <a:ext cx="1892808" cy="2514600"/>
          </a:xfrm>
          <a:prstGeom prst="rect">
            <a:avLst/>
          </a:prstGeom>
          <a:noFill/>
        </p:spPr>
        <p:txBody>
          <a:bodyPr wrap="square" lIns="0" tIns="0" rIns="0" bIns="0" anchor="t">
            <a:spAutoFit/>
          </a:bodyPr>
          <a:lstStyle/>
          <a:p>
            <a:pPr algn="l">
              <a:lnSpc>
                <a:spcPct val="112000"/>
              </a:lnSpc>
              <a:spcAft>
                <a:spcPts val="400"/>
              </a:spcAft>
            </a:pPr>
            <a:r>
              <a:rPr sz="950" b="0" i="0">
                <a:solidFill>
                  <a:srgbClr val="262626"/>
                </a:solidFill>
                <a:latin typeface="Arial"/>
              </a:rPr>
              <a:t>Schema mapping, car-group normalisation, seasonality inference, onboarding, configuration and tier-one support — the costs that made a €12K account unservable — are precisely what language models do well. This is a cost argument, not a capability argument.</a:t>
            </a:r>
          </a:p>
        </p:txBody>
      </p:sp>
      <p:sp>
        <p:nvSpPr>
          <p:cNvPr id="28" name="Rectangle 27"/>
          <p:cNvSpPr/>
          <p:nvPr/>
        </p:nvSpPr>
        <p:spPr>
          <a:xfrm>
            <a:off x="9564624" y="1527048"/>
            <a:ext cx="2167128" cy="566928"/>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674352" y="1527048"/>
            <a:ext cx="457200" cy="566928"/>
          </a:xfrm>
          <a:prstGeom prst="rect">
            <a:avLst/>
          </a:prstGeom>
          <a:noFill/>
        </p:spPr>
        <p:txBody>
          <a:bodyPr wrap="square" lIns="0" tIns="0" rIns="0" bIns="0" anchor="ctr">
            <a:spAutoFit/>
          </a:bodyPr>
          <a:lstStyle/>
          <a:p>
            <a:pPr algn="l">
              <a:spcAft>
                <a:spcPts val="0"/>
              </a:spcAft>
            </a:pPr>
            <a:r>
              <a:rPr sz="2200" b="0" i="0">
                <a:solidFill>
                  <a:srgbClr val="FFFFFF"/>
                </a:solidFill>
                <a:latin typeface="Georgia"/>
              </a:rPr>
              <a:t>5</a:t>
            </a:r>
          </a:p>
        </p:txBody>
      </p:sp>
      <p:sp>
        <p:nvSpPr>
          <p:cNvPr id="30" name="TextBox 29"/>
          <p:cNvSpPr txBox="1"/>
          <p:nvPr/>
        </p:nvSpPr>
        <p:spPr>
          <a:xfrm>
            <a:off x="10067544" y="1527048"/>
            <a:ext cx="1572768" cy="566928"/>
          </a:xfrm>
          <a:prstGeom prst="rect">
            <a:avLst/>
          </a:prstGeom>
          <a:noFill/>
        </p:spPr>
        <p:txBody>
          <a:bodyPr wrap="square" lIns="0" tIns="0" rIns="0" bIns="0" anchor="ctr">
            <a:spAutoFit/>
          </a:bodyPr>
          <a:lstStyle/>
          <a:p>
            <a:pPr algn="l">
              <a:lnSpc>
                <a:spcPct val="105000"/>
              </a:lnSpc>
              <a:spcAft>
                <a:spcPts val="0"/>
              </a:spcAft>
            </a:pPr>
            <a:r>
              <a:rPr sz="1000" b="1" i="0">
                <a:solidFill>
                  <a:srgbClr val="FFFFFF"/>
                </a:solidFill>
                <a:latin typeface="Arial"/>
              </a:rPr>
              <a:t>Standing still stopped being safe</a:t>
            </a:r>
          </a:p>
        </p:txBody>
      </p:sp>
      <p:sp>
        <p:nvSpPr>
          <p:cNvPr id="31" name="Rectangle 30"/>
          <p:cNvSpPr/>
          <p:nvPr/>
        </p:nvSpPr>
        <p:spPr>
          <a:xfrm>
            <a:off x="9564624" y="2093976"/>
            <a:ext cx="2167128" cy="26974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01784" y="2231136"/>
            <a:ext cx="1892808" cy="2514600"/>
          </a:xfrm>
          <a:prstGeom prst="rect">
            <a:avLst/>
          </a:prstGeom>
          <a:noFill/>
        </p:spPr>
        <p:txBody>
          <a:bodyPr wrap="square" lIns="0" tIns="0" rIns="0" bIns="0" anchor="t">
            <a:spAutoFit/>
          </a:bodyPr>
          <a:lstStyle/>
          <a:p>
            <a:pPr algn="l">
              <a:lnSpc>
                <a:spcPct val="112000"/>
              </a:lnSpc>
              <a:spcAft>
                <a:spcPts val="400"/>
              </a:spcAft>
            </a:pPr>
            <a:r>
              <a:rPr sz="950" b="0" i="0">
                <a:solidFill>
                  <a:srgbClr val="262626"/>
                </a:solidFill>
                <a:latin typeface="Arial"/>
              </a:rPr>
              <a:t>RateHighway — a partner — is building an expandable pricing-engine framework and has plugged in a third-party engine. A pricing engine inside someone else's store is a commodity. The only exit is upward.</a:t>
            </a:r>
          </a:p>
        </p:txBody>
      </p:sp>
      <p:sp>
        <p:nvSpPr>
          <p:cNvPr id="33" name="TextBox 32"/>
          <p:cNvSpPr txBox="1"/>
          <p:nvPr/>
        </p:nvSpPr>
        <p:spPr>
          <a:xfrm>
            <a:off x="457200" y="5001768"/>
            <a:ext cx="11277295" cy="457200"/>
          </a:xfrm>
          <a:prstGeom prst="rect">
            <a:avLst/>
          </a:prstGeom>
          <a:noFill/>
        </p:spPr>
        <p:txBody>
          <a:bodyPr wrap="square" lIns="0" tIns="0" rIns="0" bIns="0" anchor="ctr">
            <a:spAutoFit/>
          </a:bodyPr>
          <a:lstStyle/>
          <a:p>
            <a:pPr algn="ctr">
              <a:spcAft>
                <a:spcPts val="400"/>
              </a:spcAft>
            </a:pPr>
            <a:r>
              <a:rPr sz="1300" b="0" i="0">
                <a:solidFill>
                  <a:srgbClr val="051C2C"/>
                </a:solidFill>
                <a:latin typeface="Georgia"/>
              </a:rPr>
              <a:t>Any three of these would make the fleet thesis interesting. All five make it urgent.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Staying a pricing engine means becoming a plugin in someone else's platform — the only exit is up the stack</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2 · WHY THE PRODUCT IS CAPPED</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The AI Turn for WeYield (Sep 2026) — RateHighway expandable pricing framework; Expedia in Google AI Mode (Aug 2026); Otto The Agent car rental (Jul 2026); Sabre/PayPal/MindTrip pipeline (Feb 2026); M. Meyer, Auto Rental News, Mar and Sep 2026.</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10</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1481328"/>
            <a:ext cx="1097280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The car rental distribution chain, and where the pressure now sits</a:t>
            </a:r>
          </a:p>
        </p:txBody>
      </p:sp>
      <p:sp>
        <p:nvSpPr>
          <p:cNvPr id="9" name="Rectangle 8"/>
          <p:cNvSpPr/>
          <p:nvPr/>
        </p:nvSpPr>
        <p:spPr>
          <a:xfrm>
            <a:off x="457200" y="2167128"/>
            <a:ext cx="1536192" cy="11430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FFFFFF"/>
                </a:solidFill>
                <a:latin typeface="Arial"/>
              </a:rPr>
              <a:t>Owner's fleet P&amp;L</a:t>
            </a:r>
          </a:p>
        </p:txBody>
      </p:sp>
      <p:sp>
        <p:nvSpPr>
          <p:cNvPr id="11" name="TextBox 10"/>
          <p:cNvSpPr txBox="1"/>
          <p:nvPr/>
        </p:nvSpPr>
        <p:spPr>
          <a:xfrm>
            <a:off x="548640"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99B4FF"/>
                </a:solidFill>
                <a:latin typeface="Arial"/>
              </a:rPr>
              <a:t>buy · sell · move · size</a:t>
            </a:r>
          </a:p>
        </p:txBody>
      </p:sp>
      <p:sp>
        <p:nvSpPr>
          <p:cNvPr id="12" name="TextBox 11"/>
          <p:cNvSpPr txBox="1"/>
          <p:nvPr/>
        </p:nvSpPr>
        <p:spPr>
          <a:xfrm>
            <a:off x="457200" y="1874520"/>
            <a:ext cx="1536192" cy="256032"/>
          </a:xfrm>
          <a:prstGeom prst="rect">
            <a:avLst/>
          </a:prstGeom>
          <a:noFill/>
        </p:spPr>
        <p:txBody>
          <a:bodyPr wrap="square" lIns="0" tIns="0" rIns="0" bIns="0" anchor="t">
            <a:spAutoFit/>
          </a:bodyPr>
          <a:lstStyle/>
          <a:p>
            <a:pPr algn="ctr">
              <a:spcAft>
                <a:spcPts val="0"/>
              </a:spcAft>
            </a:pPr>
            <a:r>
              <a:rPr sz="750" b="1" i="0">
                <a:solidFill>
                  <a:srgbClr val="2251FF"/>
                </a:solidFill>
                <a:latin typeface="Arial"/>
              </a:rPr>
              <a:t>WEYIELD TARGET</a:t>
            </a:r>
          </a:p>
        </p:txBody>
      </p:sp>
      <p:sp>
        <p:nvSpPr>
          <p:cNvPr id="13" name="TextBox 12"/>
          <p:cNvSpPr txBox="1"/>
          <p:nvPr/>
        </p:nvSpPr>
        <p:spPr>
          <a:xfrm>
            <a:off x="1975103" y="2532888"/>
            <a:ext cx="146304" cy="411480"/>
          </a:xfrm>
          <a:prstGeom prst="rect">
            <a:avLst/>
          </a:prstGeom>
          <a:noFill/>
        </p:spPr>
        <p:txBody>
          <a:bodyPr wrap="square" lIns="0" tIns="0" rIns="0" bIns="0" anchor="t">
            <a:spAutoFit/>
          </a:bodyPr>
          <a:lstStyle/>
          <a:p>
            <a:pPr algn="ctr">
              <a:spcAft>
                <a:spcPts val="0"/>
              </a:spcAft>
            </a:pPr>
            <a:r>
              <a:rPr sz="1600" b="0" i="0">
                <a:solidFill>
                  <a:srgbClr val="7F7F7F"/>
                </a:solidFill>
                <a:latin typeface="Arial"/>
              </a:rPr>
              <a:t>›</a:t>
            </a:r>
          </a:p>
        </p:txBody>
      </p:sp>
      <p:sp>
        <p:nvSpPr>
          <p:cNvPr id="14" name="Rectangle 13"/>
          <p:cNvSpPr/>
          <p:nvPr/>
        </p:nvSpPr>
        <p:spPr>
          <a:xfrm>
            <a:off x="2084832" y="2167128"/>
            <a:ext cx="1536192" cy="11430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176272"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FFFFFF"/>
                </a:solidFill>
                <a:latin typeface="Arial"/>
              </a:rPr>
              <a:t>Revenue strategy</a:t>
            </a:r>
          </a:p>
        </p:txBody>
      </p:sp>
      <p:sp>
        <p:nvSpPr>
          <p:cNvPr id="16" name="TextBox 15"/>
          <p:cNvSpPr txBox="1"/>
          <p:nvPr/>
        </p:nvSpPr>
        <p:spPr>
          <a:xfrm>
            <a:off x="2176272"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99B4FF"/>
                </a:solidFill>
                <a:latin typeface="Arial"/>
              </a:rPr>
              <a:t>coaching · pace · rate decisions</a:t>
            </a:r>
          </a:p>
        </p:txBody>
      </p:sp>
      <p:sp>
        <p:nvSpPr>
          <p:cNvPr id="17" name="TextBox 16"/>
          <p:cNvSpPr txBox="1"/>
          <p:nvPr/>
        </p:nvSpPr>
        <p:spPr>
          <a:xfrm>
            <a:off x="2084832" y="1874520"/>
            <a:ext cx="1536192" cy="256032"/>
          </a:xfrm>
          <a:prstGeom prst="rect">
            <a:avLst/>
          </a:prstGeom>
          <a:noFill/>
        </p:spPr>
        <p:txBody>
          <a:bodyPr wrap="square" lIns="0" tIns="0" rIns="0" bIns="0" anchor="t">
            <a:spAutoFit/>
          </a:bodyPr>
          <a:lstStyle/>
          <a:p>
            <a:pPr algn="ctr">
              <a:spcAft>
                <a:spcPts val="0"/>
              </a:spcAft>
            </a:pPr>
            <a:r>
              <a:rPr sz="750" b="1" i="0">
                <a:solidFill>
                  <a:srgbClr val="051C2C"/>
                </a:solidFill>
                <a:latin typeface="Arial"/>
              </a:rPr>
              <a:t>WEYIELD TODAY</a:t>
            </a:r>
          </a:p>
        </p:txBody>
      </p:sp>
      <p:sp>
        <p:nvSpPr>
          <p:cNvPr id="18" name="TextBox 17"/>
          <p:cNvSpPr txBox="1"/>
          <p:nvPr/>
        </p:nvSpPr>
        <p:spPr>
          <a:xfrm>
            <a:off x="3602736" y="2532888"/>
            <a:ext cx="146304" cy="411480"/>
          </a:xfrm>
          <a:prstGeom prst="rect">
            <a:avLst/>
          </a:prstGeom>
          <a:noFill/>
        </p:spPr>
        <p:txBody>
          <a:bodyPr wrap="square" lIns="0" tIns="0" rIns="0" bIns="0" anchor="t">
            <a:spAutoFit/>
          </a:bodyPr>
          <a:lstStyle/>
          <a:p>
            <a:pPr algn="ctr">
              <a:spcAft>
                <a:spcPts val="0"/>
              </a:spcAft>
            </a:pPr>
            <a:r>
              <a:rPr sz="1600" b="0" i="0">
                <a:solidFill>
                  <a:srgbClr val="7F7F7F"/>
                </a:solidFill>
                <a:latin typeface="Arial"/>
              </a:rPr>
              <a:t>›</a:t>
            </a:r>
          </a:p>
        </p:txBody>
      </p:sp>
      <p:sp>
        <p:nvSpPr>
          <p:cNvPr id="19" name="Rectangle 18"/>
          <p:cNvSpPr/>
          <p:nvPr/>
        </p:nvSpPr>
        <p:spPr>
          <a:xfrm>
            <a:off x="3712464" y="2167128"/>
            <a:ext cx="1536192" cy="1143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803904"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262626"/>
                </a:solidFill>
                <a:latin typeface="Arial"/>
              </a:rPr>
              <a:t>Rate engine platform</a:t>
            </a:r>
          </a:p>
        </p:txBody>
      </p:sp>
      <p:sp>
        <p:nvSpPr>
          <p:cNvPr id="21" name="TextBox 20"/>
          <p:cNvSpPr txBox="1"/>
          <p:nvPr/>
        </p:nvSpPr>
        <p:spPr>
          <a:xfrm>
            <a:off x="3803904"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7F7F7F"/>
                </a:solidFill>
                <a:latin typeface="Arial"/>
              </a:rPr>
              <a:t>RateHighway — hosting any engine</a:t>
            </a:r>
          </a:p>
        </p:txBody>
      </p:sp>
      <p:sp>
        <p:nvSpPr>
          <p:cNvPr id="22" name="TextBox 21"/>
          <p:cNvSpPr txBox="1"/>
          <p:nvPr/>
        </p:nvSpPr>
        <p:spPr>
          <a:xfrm>
            <a:off x="3712464" y="1874520"/>
            <a:ext cx="1536192" cy="256032"/>
          </a:xfrm>
          <a:prstGeom prst="rect">
            <a:avLst/>
          </a:prstGeom>
          <a:noFill/>
        </p:spPr>
        <p:txBody>
          <a:bodyPr wrap="square" lIns="0" tIns="0" rIns="0" bIns="0" anchor="t">
            <a:spAutoFit/>
          </a:bodyPr>
          <a:lstStyle/>
          <a:p>
            <a:pPr algn="ctr">
              <a:spcAft>
                <a:spcPts val="0"/>
              </a:spcAft>
            </a:pPr>
            <a:r>
              <a:rPr sz="750" b="1" i="0">
                <a:solidFill>
                  <a:srgbClr val="B51D1D"/>
                </a:solidFill>
                <a:latin typeface="Arial"/>
              </a:rPr>
              <a:t>COMMODITISING</a:t>
            </a:r>
          </a:p>
        </p:txBody>
      </p:sp>
      <p:sp>
        <p:nvSpPr>
          <p:cNvPr id="23" name="TextBox 22"/>
          <p:cNvSpPr txBox="1"/>
          <p:nvPr/>
        </p:nvSpPr>
        <p:spPr>
          <a:xfrm>
            <a:off x="5230368" y="2532888"/>
            <a:ext cx="146304" cy="411480"/>
          </a:xfrm>
          <a:prstGeom prst="rect">
            <a:avLst/>
          </a:prstGeom>
          <a:noFill/>
        </p:spPr>
        <p:txBody>
          <a:bodyPr wrap="square" lIns="0" tIns="0" rIns="0" bIns="0" anchor="t">
            <a:spAutoFit/>
          </a:bodyPr>
          <a:lstStyle/>
          <a:p>
            <a:pPr algn="ctr">
              <a:spcAft>
                <a:spcPts val="0"/>
              </a:spcAft>
            </a:pPr>
            <a:r>
              <a:rPr sz="1600" b="0" i="0">
                <a:solidFill>
                  <a:srgbClr val="7F7F7F"/>
                </a:solidFill>
                <a:latin typeface="Arial"/>
              </a:rPr>
              <a:t>›</a:t>
            </a:r>
          </a:p>
        </p:txBody>
      </p:sp>
      <p:sp>
        <p:nvSpPr>
          <p:cNvPr id="24" name="Rectangle 23"/>
          <p:cNvSpPr/>
          <p:nvPr/>
        </p:nvSpPr>
        <p:spPr>
          <a:xfrm>
            <a:off x="5340096" y="2167128"/>
            <a:ext cx="1536192" cy="1143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31536"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262626"/>
                </a:solidFill>
                <a:latin typeface="Arial"/>
              </a:rPr>
              <a:t>Reservation system</a:t>
            </a:r>
          </a:p>
        </p:txBody>
      </p:sp>
      <p:sp>
        <p:nvSpPr>
          <p:cNvPr id="26" name="TextBox 25"/>
          <p:cNvSpPr txBox="1"/>
          <p:nvPr/>
        </p:nvSpPr>
        <p:spPr>
          <a:xfrm>
            <a:off x="5431536"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7F7F7F"/>
                </a:solidFill>
                <a:latin typeface="Arial"/>
              </a:rPr>
              <a:t>PMS / CRS write-back</a:t>
            </a:r>
          </a:p>
        </p:txBody>
      </p:sp>
      <p:sp>
        <p:nvSpPr>
          <p:cNvPr id="27" name="TextBox 26"/>
          <p:cNvSpPr txBox="1"/>
          <p:nvPr/>
        </p:nvSpPr>
        <p:spPr>
          <a:xfrm>
            <a:off x="6858000" y="2532888"/>
            <a:ext cx="146304" cy="411480"/>
          </a:xfrm>
          <a:prstGeom prst="rect">
            <a:avLst/>
          </a:prstGeom>
          <a:noFill/>
        </p:spPr>
        <p:txBody>
          <a:bodyPr wrap="square" lIns="0" tIns="0" rIns="0" bIns="0" anchor="t">
            <a:spAutoFit/>
          </a:bodyPr>
          <a:lstStyle/>
          <a:p>
            <a:pPr algn="ctr">
              <a:spcAft>
                <a:spcPts val="0"/>
              </a:spcAft>
            </a:pPr>
            <a:r>
              <a:rPr sz="1600" b="0" i="0">
                <a:solidFill>
                  <a:srgbClr val="7F7F7F"/>
                </a:solidFill>
                <a:latin typeface="Arial"/>
              </a:rPr>
              <a:t>›</a:t>
            </a:r>
          </a:p>
        </p:txBody>
      </p:sp>
      <p:sp>
        <p:nvSpPr>
          <p:cNvPr id="28" name="Rectangle 27"/>
          <p:cNvSpPr/>
          <p:nvPr/>
        </p:nvSpPr>
        <p:spPr>
          <a:xfrm>
            <a:off x="6967728" y="2167128"/>
            <a:ext cx="1536192" cy="1143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059168"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262626"/>
                </a:solidFill>
                <a:latin typeface="Arial"/>
              </a:rPr>
              <a:t>Channels</a:t>
            </a:r>
          </a:p>
        </p:txBody>
      </p:sp>
      <p:sp>
        <p:nvSpPr>
          <p:cNvPr id="30" name="TextBox 29"/>
          <p:cNvSpPr txBox="1"/>
          <p:nvPr/>
        </p:nvSpPr>
        <p:spPr>
          <a:xfrm>
            <a:off x="7059168"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7F7F7F"/>
                </a:solidFill>
                <a:latin typeface="Arial"/>
              </a:rPr>
              <a:t>OTA · broker · direct</a:t>
            </a:r>
          </a:p>
        </p:txBody>
      </p:sp>
      <p:sp>
        <p:nvSpPr>
          <p:cNvPr id="31" name="TextBox 30"/>
          <p:cNvSpPr txBox="1"/>
          <p:nvPr/>
        </p:nvSpPr>
        <p:spPr>
          <a:xfrm>
            <a:off x="8485632" y="2532888"/>
            <a:ext cx="146304" cy="411480"/>
          </a:xfrm>
          <a:prstGeom prst="rect">
            <a:avLst/>
          </a:prstGeom>
          <a:noFill/>
        </p:spPr>
        <p:txBody>
          <a:bodyPr wrap="square" lIns="0" tIns="0" rIns="0" bIns="0" anchor="t">
            <a:spAutoFit/>
          </a:bodyPr>
          <a:lstStyle/>
          <a:p>
            <a:pPr algn="ctr">
              <a:spcAft>
                <a:spcPts val="0"/>
              </a:spcAft>
            </a:pPr>
            <a:r>
              <a:rPr sz="1600" b="0" i="0">
                <a:solidFill>
                  <a:srgbClr val="7F7F7F"/>
                </a:solidFill>
                <a:latin typeface="Arial"/>
              </a:rPr>
              <a:t>›</a:t>
            </a:r>
          </a:p>
        </p:txBody>
      </p:sp>
      <p:sp>
        <p:nvSpPr>
          <p:cNvPr id="32" name="Rectangle 31"/>
          <p:cNvSpPr/>
          <p:nvPr/>
        </p:nvSpPr>
        <p:spPr>
          <a:xfrm>
            <a:off x="8595360" y="2167128"/>
            <a:ext cx="1536192" cy="11430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0"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262626"/>
                </a:solidFill>
                <a:latin typeface="Arial"/>
              </a:rPr>
              <a:t>AI interpretation layer</a:t>
            </a:r>
          </a:p>
        </p:txBody>
      </p:sp>
      <p:sp>
        <p:nvSpPr>
          <p:cNvPr id="34" name="TextBox 33"/>
          <p:cNvSpPr txBox="1"/>
          <p:nvPr/>
        </p:nvSpPr>
        <p:spPr>
          <a:xfrm>
            <a:off x="8686800"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7F7F7F"/>
                </a:solidFill>
                <a:latin typeface="Arial"/>
              </a:rPr>
              <a:t>Google AI Mode · Otto · MindTrip</a:t>
            </a:r>
          </a:p>
        </p:txBody>
      </p:sp>
      <p:sp>
        <p:nvSpPr>
          <p:cNvPr id="35" name="TextBox 34"/>
          <p:cNvSpPr txBox="1"/>
          <p:nvPr/>
        </p:nvSpPr>
        <p:spPr>
          <a:xfrm>
            <a:off x="8595360" y="1874520"/>
            <a:ext cx="1536192" cy="256032"/>
          </a:xfrm>
          <a:prstGeom prst="rect">
            <a:avLst/>
          </a:prstGeom>
          <a:noFill/>
        </p:spPr>
        <p:txBody>
          <a:bodyPr wrap="square" lIns="0" tIns="0" rIns="0" bIns="0" anchor="t">
            <a:spAutoFit/>
          </a:bodyPr>
          <a:lstStyle/>
          <a:p>
            <a:pPr algn="ctr">
              <a:spcAft>
                <a:spcPts val="0"/>
              </a:spcAft>
            </a:pPr>
            <a:r>
              <a:rPr sz="750" b="1" i="0">
                <a:solidFill>
                  <a:srgbClr val="B51D1D"/>
                </a:solidFill>
                <a:latin typeface="Arial"/>
              </a:rPr>
              <a:t>NEW · UNMONITORED</a:t>
            </a:r>
          </a:p>
        </p:txBody>
      </p:sp>
      <p:sp>
        <p:nvSpPr>
          <p:cNvPr id="36" name="TextBox 35"/>
          <p:cNvSpPr txBox="1"/>
          <p:nvPr/>
        </p:nvSpPr>
        <p:spPr>
          <a:xfrm>
            <a:off x="10113264" y="2532888"/>
            <a:ext cx="146304" cy="411480"/>
          </a:xfrm>
          <a:prstGeom prst="rect">
            <a:avLst/>
          </a:prstGeom>
          <a:noFill/>
        </p:spPr>
        <p:txBody>
          <a:bodyPr wrap="square" lIns="0" tIns="0" rIns="0" bIns="0" anchor="t">
            <a:spAutoFit/>
          </a:bodyPr>
          <a:lstStyle/>
          <a:p>
            <a:pPr algn="ctr">
              <a:spcAft>
                <a:spcPts val="0"/>
              </a:spcAft>
            </a:pPr>
            <a:r>
              <a:rPr sz="1600" b="0" i="0">
                <a:solidFill>
                  <a:srgbClr val="7F7F7F"/>
                </a:solidFill>
                <a:latin typeface="Arial"/>
              </a:rPr>
              <a:t>›</a:t>
            </a:r>
          </a:p>
        </p:txBody>
      </p:sp>
      <p:sp>
        <p:nvSpPr>
          <p:cNvPr id="37" name="Rectangle 36"/>
          <p:cNvSpPr/>
          <p:nvPr/>
        </p:nvSpPr>
        <p:spPr>
          <a:xfrm>
            <a:off x="10222992" y="2167128"/>
            <a:ext cx="1536192" cy="1143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314432" y="2276856"/>
            <a:ext cx="1353312" cy="457200"/>
          </a:xfrm>
          <a:prstGeom prst="rect">
            <a:avLst/>
          </a:prstGeom>
          <a:noFill/>
        </p:spPr>
        <p:txBody>
          <a:bodyPr wrap="square" lIns="0" tIns="0" rIns="0" bIns="0" anchor="t">
            <a:spAutoFit/>
          </a:bodyPr>
          <a:lstStyle/>
          <a:p>
            <a:pPr algn="l">
              <a:lnSpc>
                <a:spcPct val="100000"/>
              </a:lnSpc>
              <a:spcAft>
                <a:spcPts val="0"/>
              </a:spcAft>
            </a:pPr>
            <a:r>
              <a:rPr sz="1050" b="1" i="0">
                <a:solidFill>
                  <a:srgbClr val="262626"/>
                </a:solidFill>
                <a:latin typeface="Arial"/>
              </a:rPr>
              <a:t>Traveller</a:t>
            </a:r>
          </a:p>
        </p:txBody>
      </p:sp>
      <p:sp>
        <p:nvSpPr>
          <p:cNvPr id="39" name="TextBox 38"/>
          <p:cNvSpPr txBox="1"/>
          <p:nvPr/>
        </p:nvSpPr>
        <p:spPr>
          <a:xfrm>
            <a:off x="10314432" y="2770632"/>
            <a:ext cx="1353312" cy="502920"/>
          </a:xfrm>
          <a:prstGeom prst="rect">
            <a:avLst/>
          </a:prstGeom>
          <a:noFill/>
        </p:spPr>
        <p:txBody>
          <a:bodyPr wrap="square" lIns="0" tIns="0" rIns="0" bIns="0" anchor="t">
            <a:spAutoFit/>
          </a:bodyPr>
          <a:lstStyle/>
          <a:p>
            <a:pPr algn="l">
              <a:lnSpc>
                <a:spcPct val="100000"/>
              </a:lnSpc>
              <a:spcAft>
                <a:spcPts val="0"/>
              </a:spcAft>
            </a:pPr>
            <a:r>
              <a:rPr sz="850" b="0" i="0">
                <a:solidFill>
                  <a:srgbClr val="7F7F7F"/>
                </a:solidFill>
                <a:latin typeface="Arial"/>
              </a:rPr>
              <a:t>asks, compares, books</a:t>
            </a:r>
          </a:p>
        </p:txBody>
      </p:sp>
      <p:sp>
        <p:nvSpPr>
          <p:cNvPr id="40" name="Rectangle 39"/>
          <p:cNvSpPr/>
          <p:nvPr/>
        </p:nvSpPr>
        <p:spPr>
          <a:xfrm>
            <a:off x="457200" y="3675887"/>
            <a:ext cx="3703320" cy="182880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57200" y="3675887"/>
            <a:ext cx="54864" cy="18288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3803903"/>
            <a:ext cx="3392424" cy="160934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Pressure from below: the engine is being commoditised</a:t>
            </a:r>
          </a:p>
          <a:p>
            <a:pPr algn="l">
              <a:lnSpc>
                <a:spcPct val="110000"/>
              </a:lnSpc>
              <a:spcAft>
                <a:spcPts val="500"/>
              </a:spcAft>
            </a:pPr>
            <a:r>
              <a:rPr sz="950" b="0" i="0">
                <a:solidFill>
                  <a:srgbClr val="262626"/>
                </a:solidFill>
                <a:latin typeface="Arial"/>
              </a:rPr>
              <a:t>RateHighway's framework hosts third-party pricing engines. A platform that hosts engines does not need to be the best engine — it needs the most engines. </a:t>
            </a:r>
            <a:r>
              <a:rPr sz="950" b="1" i="0">
                <a:solidFill>
                  <a:srgbClr val="262626"/>
                </a:solidFill>
                <a:latin typeface="Arial"/>
              </a:rPr>
              <a:t>If WeYield stays a rate engine, it becomes a plugin.</a:t>
            </a:r>
          </a:p>
        </p:txBody>
      </p:sp>
      <p:sp>
        <p:nvSpPr>
          <p:cNvPr id="43" name="Rectangle 42"/>
          <p:cNvSpPr/>
          <p:nvPr/>
        </p:nvSpPr>
        <p:spPr>
          <a:xfrm>
            <a:off x="4343400" y="3675887"/>
            <a:ext cx="3703320" cy="18288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4343400" y="3675887"/>
            <a:ext cx="54864" cy="182880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526280" y="3803903"/>
            <a:ext cx="3392424" cy="160934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Pressure from the right: the rate sent is no longer the rate seen</a:t>
            </a:r>
          </a:p>
          <a:p>
            <a:pPr algn="l">
              <a:lnSpc>
                <a:spcPct val="110000"/>
              </a:lnSpc>
              <a:spcAft>
                <a:spcPts val="500"/>
              </a:spcAft>
            </a:pPr>
            <a:r>
              <a:rPr sz="950" b="0" i="0">
                <a:solidFill>
                  <a:srgbClr val="262626"/>
                </a:solidFill>
                <a:latin typeface="Arial"/>
              </a:rPr>
              <a:t>AI assistants now rewrite the traveller's question, choose which sources to inspect, rank, and transact. An operator can be priced correctly and still be invisible, misquoted, or compared against the wrong car class. </a:t>
            </a:r>
            <a:r>
              <a:rPr sz="950" b="1" i="0">
                <a:solidFill>
                  <a:srgbClr val="262626"/>
                </a:solidFill>
                <a:latin typeface="Arial"/>
              </a:rPr>
              <a:t>Nobody monitors this yet.</a:t>
            </a:r>
          </a:p>
        </p:txBody>
      </p:sp>
      <p:sp>
        <p:nvSpPr>
          <p:cNvPr id="46" name="Rectangle 45"/>
          <p:cNvSpPr/>
          <p:nvPr/>
        </p:nvSpPr>
        <p:spPr>
          <a:xfrm>
            <a:off x="8229600" y="3675887"/>
            <a:ext cx="3502152" cy="18288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229600" y="3675887"/>
            <a:ext cx="54864" cy="18288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412480" y="3803903"/>
            <a:ext cx="3191256" cy="1609344"/>
          </a:xfrm>
          <a:prstGeom prst="rect">
            <a:avLst/>
          </a:prstGeom>
          <a:noFill/>
        </p:spPr>
        <p:txBody>
          <a:bodyPr wrap="square" lIns="0" tIns="0" rIns="0" bIns="0" anchor="t">
            <a:spAutoFit/>
          </a:bodyPr>
          <a:lstStyle/>
          <a:p>
            <a:pPr algn="l">
              <a:lnSpc>
                <a:spcPct val="110000"/>
              </a:lnSpc>
              <a:spcAft>
                <a:spcPts val="500"/>
              </a:spcAft>
            </a:pPr>
            <a:r>
              <a:rPr sz="1000" b="1" i="0">
                <a:solidFill>
                  <a:srgbClr val="FFFFFF"/>
                </a:solidFill>
                <a:latin typeface="Arial"/>
              </a:rPr>
              <a:t>The exit: up, to the owner's P&amp;L</a:t>
            </a:r>
          </a:p>
          <a:p>
            <a:pPr algn="l">
              <a:lnSpc>
                <a:spcPct val="110000"/>
              </a:lnSpc>
              <a:spcAft>
                <a:spcPts val="500"/>
              </a:spcAft>
            </a:pPr>
            <a:r>
              <a:rPr sz="950" b="0" i="0">
                <a:solidFill>
                  <a:srgbClr val="99B4FF"/>
                </a:solidFill>
                <a:latin typeface="Arial"/>
              </a:rPr>
              <a:t>The one layer no platform is building for the long tail is the owner's decision layer — fleet sizing, buy/sell timing, redistribution. It sits above the rate engine, it changes the buyer, and it is where the margin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Recommendation — change the object, the buyer and the cost-to-serve, in that order</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3 · THE RECOMMENDATION</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the three changes are sequenced, not parallel. Change 3 makes 1 and 2 affordable; change 1 makes 2 credible. Run in parallel, the result is an expensive fleet module sold to a revenue manager with no budget for it.</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11</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3639312" cy="6858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527048"/>
            <a:ext cx="548640" cy="685800"/>
          </a:xfrm>
          <a:prstGeom prst="rect">
            <a:avLst/>
          </a:prstGeom>
          <a:noFill/>
        </p:spPr>
        <p:txBody>
          <a:bodyPr wrap="square" lIns="0" tIns="0" rIns="0" bIns="0" anchor="ctr">
            <a:spAutoFit/>
          </a:bodyPr>
          <a:lstStyle/>
          <a:p>
            <a:pPr algn="l">
              <a:spcAft>
                <a:spcPts val="0"/>
              </a:spcAft>
            </a:pPr>
            <a:r>
              <a:rPr sz="2600" b="0" i="0">
                <a:solidFill>
                  <a:srgbClr val="FFFFFF"/>
                </a:solidFill>
                <a:latin typeface="Georgia"/>
              </a:rPr>
              <a:t>1</a:t>
            </a:r>
          </a:p>
        </p:txBody>
      </p:sp>
      <p:sp>
        <p:nvSpPr>
          <p:cNvPr id="10" name="TextBox 9"/>
          <p:cNvSpPr txBox="1"/>
          <p:nvPr/>
        </p:nvSpPr>
        <p:spPr>
          <a:xfrm>
            <a:off x="1143000" y="1527048"/>
            <a:ext cx="2816352" cy="685800"/>
          </a:xfrm>
          <a:prstGeom prst="rect">
            <a:avLst/>
          </a:prstGeom>
          <a:noFill/>
        </p:spPr>
        <p:txBody>
          <a:bodyPr wrap="square" lIns="0" tIns="0" rIns="0" bIns="0" anchor="ctr">
            <a:spAutoFit/>
          </a:bodyPr>
          <a:lstStyle/>
          <a:p>
            <a:pPr algn="l">
              <a:spcAft>
                <a:spcPts val="0"/>
              </a:spcAft>
            </a:pPr>
            <a:r>
              <a:rPr sz="1400" b="0" i="0">
                <a:solidFill>
                  <a:srgbClr val="FFFFFF"/>
                </a:solidFill>
                <a:latin typeface="Georgia"/>
              </a:rPr>
              <a:t>Change the object</a:t>
            </a:r>
          </a:p>
        </p:txBody>
      </p:sp>
      <p:sp>
        <p:nvSpPr>
          <p:cNvPr id="11" name="Rectangle 10"/>
          <p:cNvSpPr/>
          <p:nvPr/>
        </p:nvSpPr>
        <p:spPr>
          <a:xfrm>
            <a:off x="457200" y="2212848"/>
            <a:ext cx="3639312" cy="3246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2350008"/>
            <a:ext cx="3273552" cy="274320"/>
          </a:xfrm>
          <a:prstGeom prst="rect">
            <a:avLst/>
          </a:prstGeom>
          <a:noFill/>
        </p:spPr>
        <p:txBody>
          <a:bodyPr wrap="square" lIns="0" tIns="0" rIns="0" bIns="0" anchor="t">
            <a:spAutoFit/>
          </a:bodyPr>
          <a:lstStyle/>
          <a:p>
            <a:pPr algn="l">
              <a:spcAft>
                <a:spcPts val="0"/>
              </a:spcAft>
            </a:pPr>
            <a:r>
              <a:rPr sz="800" b="1" i="0">
                <a:solidFill>
                  <a:srgbClr val="7F7F7F"/>
                </a:solidFill>
                <a:latin typeface="Arial"/>
              </a:rPr>
              <a:t>FROM</a:t>
            </a:r>
          </a:p>
        </p:txBody>
      </p:sp>
      <p:sp>
        <p:nvSpPr>
          <p:cNvPr id="13" name="TextBox 12"/>
          <p:cNvSpPr txBox="1"/>
          <p:nvPr/>
        </p:nvSpPr>
        <p:spPr>
          <a:xfrm>
            <a:off x="640080" y="2578608"/>
            <a:ext cx="3273552" cy="640080"/>
          </a:xfrm>
          <a:prstGeom prst="rect">
            <a:avLst/>
          </a:prstGeom>
          <a:noFill/>
        </p:spPr>
        <p:txBody>
          <a:bodyPr wrap="square" lIns="0" tIns="0" rIns="0" bIns="0" anchor="t">
            <a:spAutoFit/>
          </a:bodyPr>
          <a:lstStyle/>
          <a:p>
            <a:pPr algn="l">
              <a:lnSpc>
                <a:spcPct val="105000"/>
              </a:lnSpc>
              <a:spcAft>
                <a:spcPts val="0"/>
              </a:spcAft>
            </a:pPr>
            <a:r>
              <a:rPr sz="1100" b="0" i="0">
                <a:solidFill>
                  <a:srgbClr val="262626"/>
                </a:solidFill>
                <a:latin typeface="Arial"/>
              </a:rPr>
              <a:t>The rate</a:t>
            </a:r>
          </a:p>
        </p:txBody>
      </p:sp>
      <p:sp>
        <p:nvSpPr>
          <p:cNvPr id="14" name="TextBox 13"/>
          <p:cNvSpPr txBox="1"/>
          <p:nvPr/>
        </p:nvSpPr>
        <p:spPr>
          <a:xfrm>
            <a:off x="640080" y="3264408"/>
            <a:ext cx="3273552" cy="274320"/>
          </a:xfrm>
          <a:prstGeom prst="rect">
            <a:avLst/>
          </a:prstGeom>
          <a:noFill/>
        </p:spPr>
        <p:txBody>
          <a:bodyPr wrap="square" lIns="0" tIns="0" rIns="0" bIns="0" anchor="t">
            <a:spAutoFit/>
          </a:bodyPr>
          <a:lstStyle/>
          <a:p>
            <a:pPr algn="l">
              <a:spcAft>
                <a:spcPts val="0"/>
              </a:spcAft>
            </a:pPr>
            <a:r>
              <a:rPr sz="800" b="1" i="0">
                <a:solidFill>
                  <a:srgbClr val="051C2C"/>
                </a:solidFill>
                <a:latin typeface="Arial"/>
              </a:rPr>
              <a:t>TO</a:t>
            </a:r>
          </a:p>
        </p:txBody>
      </p:sp>
      <p:sp>
        <p:nvSpPr>
          <p:cNvPr id="15" name="TextBox 14"/>
          <p:cNvSpPr txBox="1"/>
          <p:nvPr/>
        </p:nvSpPr>
        <p:spPr>
          <a:xfrm>
            <a:off x="640080" y="3493008"/>
            <a:ext cx="3273552" cy="640080"/>
          </a:xfrm>
          <a:prstGeom prst="rect">
            <a:avLst/>
          </a:prstGeom>
          <a:noFill/>
        </p:spPr>
        <p:txBody>
          <a:bodyPr wrap="square" lIns="0" tIns="0" rIns="0" bIns="0" anchor="t">
            <a:spAutoFit/>
          </a:bodyPr>
          <a:lstStyle/>
          <a:p>
            <a:pPr algn="l">
              <a:lnSpc>
                <a:spcPct val="105000"/>
              </a:lnSpc>
              <a:spcAft>
                <a:spcPts val="0"/>
              </a:spcAft>
            </a:pPr>
            <a:r>
              <a:rPr sz="1200" b="1" i="0">
                <a:solidFill>
                  <a:srgbClr val="051C2C"/>
                </a:solidFill>
                <a:latin typeface="Arial"/>
              </a:rPr>
              <a:t>The fleet plan — five levers, not one</a:t>
            </a:r>
          </a:p>
        </p:txBody>
      </p:sp>
      <p:cxnSp>
        <p:nvCxnSpPr>
          <p:cNvPr id="16" name="Connector 15"/>
          <p:cNvCxnSpPr/>
          <p:nvPr/>
        </p:nvCxnSpPr>
        <p:spPr>
          <a:xfrm>
            <a:off x="640080" y="4206240"/>
            <a:ext cx="327355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297680"/>
            <a:ext cx="3273552" cy="1097280"/>
          </a:xfrm>
          <a:prstGeom prst="rect">
            <a:avLst/>
          </a:prstGeom>
          <a:noFill/>
        </p:spPr>
        <p:txBody>
          <a:bodyPr wrap="square" lIns="0" tIns="0" rIns="0" bIns="0" anchor="t">
            <a:spAutoFit/>
          </a:bodyPr>
          <a:lstStyle/>
          <a:p>
            <a:pPr algn="l">
              <a:lnSpc>
                <a:spcPct val="110000"/>
              </a:lnSpc>
              <a:spcAft>
                <a:spcPts val="0"/>
              </a:spcAft>
            </a:pPr>
            <a:r>
              <a:rPr sz="950" b="0" i="0">
                <a:solidFill>
                  <a:srgbClr val="262626"/>
                </a:solidFill>
                <a:latin typeface="Arial"/>
              </a:rPr>
              <a:t>Price, move, substitute, buy, sell. The unit of analysis becomes the fleet cohort across stations and weeks, not the rate on a car group.</a:t>
            </a:r>
          </a:p>
        </p:txBody>
      </p:sp>
      <p:sp>
        <p:nvSpPr>
          <p:cNvPr id="18" name="Rectangle 17"/>
          <p:cNvSpPr/>
          <p:nvPr/>
        </p:nvSpPr>
        <p:spPr>
          <a:xfrm>
            <a:off x="4279392" y="1527048"/>
            <a:ext cx="3639312" cy="6858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16552" y="1527048"/>
            <a:ext cx="548640" cy="685800"/>
          </a:xfrm>
          <a:prstGeom prst="rect">
            <a:avLst/>
          </a:prstGeom>
          <a:noFill/>
        </p:spPr>
        <p:txBody>
          <a:bodyPr wrap="square" lIns="0" tIns="0" rIns="0" bIns="0" anchor="ctr">
            <a:spAutoFit/>
          </a:bodyPr>
          <a:lstStyle/>
          <a:p>
            <a:pPr algn="l">
              <a:spcAft>
                <a:spcPts val="0"/>
              </a:spcAft>
            </a:pPr>
            <a:r>
              <a:rPr sz="2600" b="0" i="0">
                <a:solidFill>
                  <a:srgbClr val="FFFFFF"/>
                </a:solidFill>
                <a:latin typeface="Georgia"/>
              </a:rPr>
              <a:t>2</a:t>
            </a:r>
          </a:p>
        </p:txBody>
      </p:sp>
      <p:sp>
        <p:nvSpPr>
          <p:cNvPr id="20" name="TextBox 19"/>
          <p:cNvSpPr txBox="1"/>
          <p:nvPr/>
        </p:nvSpPr>
        <p:spPr>
          <a:xfrm>
            <a:off x="4965192" y="1527048"/>
            <a:ext cx="2816352" cy="685800"/>
          </a:xfrm>
          <a:prstGeom prst="rect">
            <a:avLst/>
          </a:prstGeom>
          <a:noFill/>
        </p:spPr>
        <p:txBody>
          <a:bodyPr wrap="square" lIns="0" tIns="0" rIns="0" bIns="0" anchor="ctr">
            <a:spAutoFit/>
          </a:bodyPr>
          <a:lstStyle/>
          <a:p>
            <a:pPr algn="l">
              <a:spcAft>
                <a:spcPts val="0"/>
              </a:spcAft>
            </a:pPr>
            <a:r>
              <a:rPr sz="1400" b="0" i="0">
                <a:solidFill>
                  <a:srgbClr val="FFFFFF"/>
                </a:solidFill>
                <a:latin typeface="Georgia"/>
              </a:rPr>
              <a:t>Change the buyer</a:t>
            </a:r>
          </a:p>
        </p:txBody>
      </p:sp>
      <p:sp>
        <p:nvSpPr>
          <p:cNvPr id="21" name="Rectangle 20"/>
          <p:cNvSpPr/>
          <p:nvPr/>
        </p:nvSpPr>
        <p:spPr>
          <a:xfrm>
            <a:off x="4279392" y="2212848"/>
            <a:ext cx="3639312" cy="3246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62272" y="2350008"/>
            <a:ext cx="3273552" cy="274320"/>
          </a:xfrm>
          <a:prstGeom prst="rect">
            <a:avLst/>
          </a:prstGeom>
          <a:noFill/>
        </p:spPr>
        <p:txBody>
          <a:bodyPr wrap="square" lIns="0" tIns="0" rIns="0" bIns="0" anchor="t">
            <a:spAutoFit/>
          </a:bodyPr>
          <a:lstStyle/>
          <a:p>
            <a:pPr algn="l">
              <a:spcAft>
                <a:spcPts val="0"/>
              </a:spcAft>
            </a:pPr>
            <a:r>
              <a:rPr sz="800" b="1" i="0">
                <a:solidFill>
                  <a:srgbClr val="7F7F7F"/>
                </a:solidFill>
                <a:latin typeface="Arial"/>
              </a:rPr>
              <a:t>FROM</a:t>
            </a:r>
          </a:p>
        </p:txBody>
      </p:sp>
      <p:sp>
        <p:nvSpPr>
          <p:cNvPr id="23" name="TextBox 22"/>
          <p:cNvSpPr txBox="1"/>
          <p:nvPr/>
        </p:nvSpPr>
        <p:spPr>
          <a:xfrm>
            <a:off x="4462272" y="2578608"/>
            <a:ext cx="3273552" cy="640080"/>
          </a:xfrm>
          <a:prstGeom prst="rect">
            <a:avLst/>
          </a:prstGeom>
          <a:noFill/>
        </p:spPr>
        <p:txBody>
          <a:bodyPr wrap="square" lIns="0" tIns="0" rIns="0" bIns="0" anchor="t">
            <a:spAutoFit/>
          </a:bodyPr>
          <a:lstStyle/>
          <a:p>
            <a:pPr algn="l">
              <a:lnSpc>
                <a:spcPct val="105000"/>
              </a:lnSpc>
              <a:spcAft>
                <a:spcPts val="0"/>
              </a:spcAft>
            </a:pPr>
            <a:r>
              <a:rPr sz="1100" b="0" i="0">
                <a:solidFill>
                  <a:srgbClr val="262626"/>
                </a:solidFill>
                <a:latin typeface="Arial"/>
              </a:rPr>
              <a:t>Revenue manager — tool budget, €12.5K</a:t>
            </a:r>
          </a:p>
        </p:txBody>
      </p:sp>
      <p:sp>
        <p:nvSpPr>
          <p:cNvPr id="24" name="TextBox 23"/>
          <p:cNvSpPr txBox="1"/>
          <p:nvPr/>
        </p:nvSpPr>
        <p:spPr>
          <a:xfrm>
            <a:off x="4462272" y="3264408"/>
            <a:ext cx="3273552" cy="274320"/>
          </a:xfrm>
          <a:prstGeom prst="rect">
            <a:avLst/>
          </a:prstGeom>
          <a:noFill/>
        </p:spPr>
        <p:txBody>
          <a:bodyPr wrap="square" lIns="0" tIns="0" rIns="0" bIns="0" anchor="t">
            <a:spAutoFit/>
          </a:bodyPr>
          <a:lstStyle/>
          <a:p>
            <a:pPr algn="l">
              <a:spcAft>
                <a:spcPts val="0"/>
              </a:spcAft>
            </a:pPr>
            <a:r>
              <a:rPr sz="800" b="1" i="0">
                <a:solidFill>
                  <a:srgbClr val="2251FF"/>
                </a:solidFill>
                <a:latin typeface="Arial"/>
              </a:rPr>
              <a:t>TO</a:t>
            </a:r>
          </a:p>
        </p:txBody>
      </p:sp>
      <p:sp>
        <p:nvSpPr>
          <p:cNvPr id="25" name="TextBox 24"/>
          <p:cNvSpPr txBox="1"/>
          <p:nvPr/>
        </p:nvSpPr>
        <p:spPr>
          <a:xfrm>
            <a:off x="4462272" y="3493008"/>
            <a:ext cx="3273552" cy="640080"/>
          </a:xfrm>
          <a:prstGeom prst="rect">
            <a:avLst/>
          </a:prstGeom>
          <a:noFill/>
        </p:spPr>
        <p:txBody>
          <a:bodyPr wrap="square" lIns="0" tIns="0" rIns="0" bIns="0" anchor="t">
            <a:spAutoFit/>
          </a:bodyPr>
          <a:lstStyle/>
          <a:p>
            <a:pPr algn="l">
              <a:lnSpc>
                <a:spcPct val="105000"/>
              </a:lnSpc>
              <a:spcAft>
                <a:spcPts val="0"/>
              </a:spcAft>
            </a:pPr>
            <a:r>
              <a:rPr sz="1200" b="1" i="0">
                <a:solidFill>
                  <a:srgbClr val="051C2C"/>
                </a:solidFill>
                <a:latin typeface="Arial"/>
              </a:rPr>
              <a:t>Owner / general manager — P&amp;L, €50K+</a:t>
            </a:r>
          </a:p>
        </p:txBody>
      </p:sp>
      <p:cxnSp>
        <p:nvCxnSpPr>
          <p:cNvPr id="26" name="Connector 25"/>
          <p:cNvCxnSpPr/>
          <p:nvPr/>
        </p:nvCxnSpPr>
        <p:spPr>
          <a:xfrm>
            <a:off x="4462272" y="4206240"/>
            <a:ext cx="327355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462272" y="4297680"/>
            <a:ext cx="3273552" cy="1097280"/>
          </a:xfrm>
          <a:prstGeom prst="rect">
            <a:avLst/>
          </a:prstGeom>
          <a:noFill/>
        </p:spPr>
        <p:txBody>
          <a:bodyPr wrap="square" lIns="0" tIns="0" rIns="0" bIns="0" anchor="t">
            <a:spAutoFit/>
          </a:bodyPr>
          <a:lstStyle/>
          <a:p>
            <a:pPr algn="l">
              <a:lnSpc>
                <a:spcPct val="110000"/>
              </a:lnSpc>
              <a:spcAft>
                <a:spcPts val="0"/>
              </a:spcAft>
            </a:pPr>
            <a:r>
              <a:rPr sz="950" b="0" i="0">
                <a:solidFill>
                  <a:srgbClr val="262626"/>
                </a:solidFill>
                <a:latin typeface="Arial"/>
              </a:rPr>
              <a:t>WeYield already courts this buyer — its site lists “CEO &amp; Managing Director: strategy and financial performance” — but has nothing a CEO reads. The Fleet P&amp;L is that artefact. Owners have a P&amp;L; clerks have a tool budget: the gap between a €12K and a €60K contract.</a:t>
            </a:r>
          </a:p>
        </p:txBody>
      </p:sp>
      <p:sp>
        <p:nvSpPr>
          <p:cNvPr id="28" name="Rectangle 27"/>
          <p:cNvSpPr/>
          <p:nvPr/>
        </p:nvSpPr>
        <p:spPr>
          <a:xfrm>
            <a:off x="8101583" y="1527048"/>
            <a:ext cx="3639312" cy="6858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38744" y="1527048"/>
            <a:ext cx="548640" cy="685800"/>
          </a:xfrm>
          <a:prstGeom prst="rect">
            <a:avLst/>
          </a:prstGeom>
          <a:noFill/>
        </p:spPr>
        <p:txBody>
          <a:bodyPr wrap="square" lIns="0" tIns="0" rIns="0" bIns="0" anchor="ctr">
            <a:spAutoFit/>
          </a:bodyPr>
          <a:lstStyle/>
          <a:p>
            <a:pPr algn="l">
              <a:spcAft>
                <a:spcPts val="0"/>
              </a:spcAft>
            </a:pPr>
            <a:r>
              <a:rPr sz="2600" b="0" i="0">
                <a:solidFill>
                  <a:srgbClr val="FFFFFF"/>
                </a:solidFill>
                <a:latin typeface="Georgia"/>
              </a:rPr>
              <a:t>3</a:t>
            </a:r>
          </a:p>
        </p:txBody>
      </p:sp>
      <p:sp>
        <p:nvSpPr>
          <p:cNvPr id="30" name="TextBox 29"/>
          <p:cNvSpPr txBox="1"/>
          <p:nvPr/>
        </p:nvSpPr>
        <p:spPr>
          <a:xfrm>
            <a:off x="8787384" y="1527048"/>
            <a:ext cx="2816352" cy="685800"/>
          </a:xfrm>
          <a:prstGeom prst="rect">
            <a:avLst/>
          </a:prstGeom>
          <a:noFill/>
        </p:spPr>
        <p:txBody>
          <a:bodyPr wrap="square" lIns="0" tIns="0" rIns="0" bIns="0" anchor="ctr">
            <a:spAutoFit/>
          </a:bodyPr>
          <a:lstStyle/>
          <a:p>
            <a:pPr algn="l">
              <a:spcAft>
                <a:spcPts val="0"/>
              </a:spcAft>
            </a:pPr>
            <a:r>
              <a:rPr sz="1400" b="0" i="0">
                <a:solidFill>
                  <a:srgbClr val="FFFFFF"/>
                </a:solidFill>
                <a:latin typeface="Georgia"/>
              </a:rPr>
              <a:t>Change the cost-to-serve</a:t>
            </a:r>
          </a:p>
        </p:txBody>
      </p:sp>
      <p:sp>
        <p:nvSpPr>
          <p:cNvPr id="31" name="Rectangle 30"/>
          <p:cNvSpPr/>
          <p:nvPr/>
        </p:nvSpPr>
        <p:spPr>
          <a:xfrm>
            <a:off x="8101583" y="2212848"/>
            <a:ext cx="3639312" cy="32461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84463" y="2350008"/>
            <a:ext cx="3273552" cy="274320"/>
          </a:xfrm>
          <a:prstGeom prst="rect">
            <a:avLst/>
          </a:prstGeom>
          <a:noFill/>
        </p:spPr>
        <p:txBody>
          <a:bodyPr wrap="square" lIns="0" tIns="0" rIns="0" bIns="0" anchor="t">
            <a:spAutoFit/>
          </a:bodyPr>
          <a:lstStyle/>
          <a:p>
            <a:pPr algn="l">
              <a:spcAft>
                <a:spcPts val="0"/>
              </a:spcAft>
            </a:pPr>
            <a:r>
              <a:rPr sz="800" b="1" i="0">
                <a:solidFill>
                  <a:srgbClr val="7F7F7F"/>
                </a:solidFill>
                <a:latin typeface="Arial"/>
              </a:rPr>
              <a:t>FROM</a:t>
            </a:r>
          </a:p>
        </p:txBody>
      </p:sp>
      <p:sp>
        <p:nvSpPr>
          <p:cNvPr id="33" name="TextBox 32"/>
          <p:cNvSpPr txBox="1"/>
          <p:nvPr/>
        </p:nvSpPr>
        <p:spPr>
          <a:xfrm>
            <a:off x="8284463" y="2578608"/>
            <a:ext cx="3273552" cy="640080"/>
          </a:xfrm>
          <a:prstGeom prst="rect">
            <a:avLst/>
          </a:prstGeom>
          <a:noFill/>
        </p:spPr>
        <p:txBody>
          <a:bodyPr wrap="square" lIns="0" tIns="0" rIns="0" bIns="0" anchor="t">
            <a:spAutoFit/>
          </a:bodyPr>
          <a:lstStyle/>
          <a:p>
            <a:pPr algn="l">
              <a:lnSpc>
                <a:spcPct val="105000"/>
              </a:lnSpc>
              <a:spcAft>
                <a:spcPts val="0"/>
              </a:spcAft>
            </a:pPr>
            <a:r>
              <a:rPr sz="1100" b="0" i="0">
                <a:solidFill>
                  <a:srgbClr val="262626"/>
                </a:solidFill>
                <a:latin typeface="Arial"/>
              </a:rPr>
              <a:t>Consultant-led implementation and human coaching</a:t>
            </a:r>
          </a:p>
        </p:txBody>
      </p:sp>
      <p:sp>
        <p:nvSpPr>
          <p:cNvPr id="34" name="TextBox 33"/>
          <p:cNvSpPr txBox="1"/>
          <p:nvPr/>
        </p:nvSpPr>
        <p:spPr>
          <a:xfrm>
            <a:off x="8284463" y="3264408"/>
            <a:ext cx="3273552" cy="274320"/>
          </a:xfrm>
          <a:prstGeom prst="rect">
            <a:avLst/>
          </a:prstGeom>
          <a:noFill/>
        </p:spPr>
        <p:txBody>
          <a:bodyPr wrap="square" lIns="0" tIns="0" rIns="0" bIns="0" anchor="t">
            <a:spAutoFit/>
          </a:bodyPr>
          <a:lstStyle/>
          <a:p>
            <a:pPr algn="l">
              <a:spcAft>
                <a:spcPts val="0"/>
              </a:spcAft>
            </a:pPr>
            <a:r>
              <a:rPr sz="800" b="1" i="0">
                <a:solidFill>
                  <a:srgbClr val="051C2C"/>
                </a:solidFill>
                <a:latin typeface="Arial"/>
              </a:rPr>
              <a:t>TO</a:t>
            </a:r>
          </a:p>
        </p:txBody>
      </p:sp>
      <p:sp>
        <p:nvSpPr>
          <p:cNvPr id="35" name="TextBox 34"/>
          <p:cNvSpPr txBox="1"/>
          <p:nvPr/>
        </p:nvSpPr>
        <p:spPr>
          <a:xfrm>
            <a:off x="8284463" y="3493008"/>
            <a:ext cx="3273552" cy="640080"/>
          </a:xfrm>
          <a:prstGeom prst="rect">
            <a:avLst/>
          </a:prstGeom>
          <a:noFill/>
        </p:spPr>
        <p:txBody>
          <a:bodyPr wrap="square" lIns="0" tIns="0" rIns="0" bIns="0" anchor="t">
            <a:spAutoFit/>
          </a:bodyPr>
          <a:lstStyle/>
          <a:p>
            <a:pPr algn="l">
              <a:lnSpc>
                <a:spcPct val="105000"/>
              </a:lnSpc>
              <a:spcAft>
                <a:spcPts val="0"/>
              </a:spcAft>
            </a:pPr>
            <a:r>
              <a:rPr sz="1200" b="1" i="0">
                <a:solidFill>
                  <a:srgbClr val="051C2C"/>
                </a:solidFill>
                <a:latin typeface="Arial"/>
              </a:rPr>
              <a:t>AI-native onboarding, configuration, advisory</a:t>
            </a:r>
          </a:p>
        </p:txBody>
      </p:sp>
      <p:cxnSp>
        <p:nvCxnSpPr>
          <p:cNvPr id="36" name="Connector 35"/>
          <p:cNvCxnSpPr/>
          <p:nvPr/>
        </p:nvCxnSpPr>
        <p:spPr>
          <a:xfrm>
            <a:off x="8284463" y="4206240"/>
            <a:ext cx="327355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284463" y="4297680"/>
            <a:ext cx="3273552" cy="1097280"/>
          </a:xfrm>
          <a:prstGeom prst="rect">
            <a:avLst/>
          </a:prstGeom>
          <a:noFill/>
        </p:spPr>
        <p:txBody>
          <a:bodyPr wrap="square" lIns="0" tIns="0" rIns="0" bIns="0" anchor="t">
            <a:spAutoFit/>
          </a:bodyPr>
          <a:lstStyle/>
          <a:p>
            <a:pPr algn="l">
              <a:lnSpc>
                <a:spcPct val="110000"/>
              </a:lnSpc>
              <a:spcAft>
                <a:spcPts val="0"/>
              </a:spcAft>
            </a:pPr>
            <a:r>
              <a:rPr sz="950" b="0" i="0">
                <a:solidFill>
                  <a:srgbClr val="262626"/>
                </a:solidFill>
                <a:latin typeface="Arial"/>
              </a:rPr>
              <a:t>The only way to reach the 480–880 operators WeYield does not have. This is a cost argument; it makes 1 and 2 affordable.</a:t>
            </a:r>
          </a:p>
        </p:txBody>
      </p:sp>
      <p:sp>
        <p:nvSpPr>
          <p:cNvPr id="38" name="Rectangle 37"/>
          <p:cNvSpPr/>
          <p:nvPr/>
        </p:nvSpPr>
        <p:spPr>
          <a:xfrm>
            <a:off x="457200" y="5596128"/>
            <a:ext cx="11277295" cy="4572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5596128"/>
            <a:ext cx="10911535" cy="457200"/>
          </a:xfrm>
          <a:prstGeom prst="rect">
            <a:avLst/>
          </a:prstGeom>
          <a:noFill/>
        </p:spPr>
        <p:txBody>
          <a:bodyPr wrap="square" lIns="0" tIns="0" rIns="0" bIns="0" anchor="ctr">
            <a:spAutoFit/>
          </a:bodyPr>
          <a:lstStyle/>
          <a:p>
            <a:pPr algn="l">
              <a:spcAft>
                <a:spcPts val="0"/>
              </a:spcAft>
            </a:pPr>
            <a:r>
              <a:rPr sz="1050" b="0" i="0">
                <a:solidFill>
                  <a:srgbClr val="FFFFFF"/>
                </a:solidFill>
                <a:latin typeface="Arial"/>
              </a:rPr>
              <a:t>AI is not the product. AI is what makes it economically possible to serve 600–1,000 fragmented operators with something that previously required a consulting engagement per client.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The product is a Fleet P&amp;L Copilot — three surfaces on one governance layer</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3 · THE RECOMMENDATION</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WeYield already markets a “Pricing Co-pilot” inside Pricing Insights — the Fleet P&amp;L Copilot extends the company's own vocabulary. Sample Decision Feed item is illustrative of format; residual inputs require the partnership on slide 14. Black-box distrust as the adoption blocker: Auto Rental News, Mar 2026.</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12</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3639312" cy="7315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527048"/>
            <a:ext cx="457200" cy="731520"/>
          </a:xfrm>
          <a:prstGeom prst="rect">
            <a:avLst/>
          </a:prstGeom>
          <a:noFill/>
        </p:spPr>
        <p:txBody>
          <a:bodyPr wrap="square" lIns="0" tIns="0" rIns="0" bIns="0" anchor="ctr">
            <a:spAutoFit/>
          </a:bodyPr>
          <a:lstStyle/>
          <a:p>
            <a:pPr algn="l">
              <a:spcAft>
                <a:spcPts val="0"/>
              </a:spcAft>
            </a:pPr>
            <a:r>
              <a:rPr sz="2400" b="0" i="0">
                <a:solidFill>
                  <a:srgbClr val="FFFFFF"/>
                </a:solidFill>
                <a:latin typeface="Georgia"/>
              </a:rPr>
              <a:t>A</a:t>
            </a:r>
          </a:p>
        </p:txBody>
      </p:sp>
      <p:sp>
        <p:nvSpPr>
          <p:cNvPr id="10" name="TextBox 9"/>
          <p:cNvSpPr txBox="1"/>
          <p:nvPr/>
        </p:nvSpPr>
        <p:spPr>
          <a:xfrm>
            <a:off x="1097280" y="1572768"/>
            <a:ext cx="2862072"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The Fleet P&amp;L</a:t>
            </a:r>
          </a:p>
        </p:txBody>
      </p:sp>
      <p:sp>
        <p:nvSpPr>
          <p:cNvPr id="11" name="TextBox 10"/>
          <p:cNvSpPr txBox="1"/>
          <p:nvPr/>
        </p:nvSpPr>
        <p:spPr>
          <a:xfrm>
            <a:off x="1097280" y="1920240"/>
            <a:ext cx="2862072" cy="320040"/>
          </a:xfrm>
          <a:prstGeom prst="rect">
            <a:avLst/>
          </a:prstGeom>
          <a:noFill/>
        </p:spPr>
        <p:txBody>
          <a:bodyPr wrap="square" lIns="0" tIns="0" rIns="0" bIns="0" anchor="t">
            <a:spAutoFit/>
          </a:bodyPr>
          <a:lstStyle/>
          <a:p>
            <a:pPr algn="l">
              <a:spcAft>
                <a:spcPts val="0"/>
              </a:spcAft>
            </a:pPr>
            <a:r>
              <a:rPr sz="850" b="0" i="0">
                <a:solidFill>
                  <a:srgbClr val="99B4FF"/>
                </a:solidFill>
                <a:latin typeface="Arial"/>
              </a:rPr>
              <a:t>The owner's report</a:t>
            </a:r>
          </a:p>
        </p:txBody>
      </p:sp>
      <p:sp>
        <p:nvSpPr>
          <p:cNvPr id="12" name="Rectangle 11"/>
          <p:cNvSpPr/>
          <p:nvPr/>
        </p:nvSpPr>
        <p:spPr>
          <a:xfrm>
            <a:off x="457200" y="2258568"/>
            <a:ext cx="3639312" cy="2743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 y="2395728"/>
            <a:ext cx="3310128" cy="2560320"/>
          </a:xfrm>
          <a:prstGeom prst="rect">
            <a:avLst/>
          </a:prstGeom>
          <a:noFill/>
        </p:spPr>
        <p:txBody>
          <a:bodyPr wrap="square" lIns="0" tIns="0" rIns="0" bIns="0" anchor="t">
            <a:spAutoFit/>
          </a:bodyPr>
          <a:lstStyle/>
          <a:p>
            <a:pPr algn="l">
              <a:lnSpc>
                <a:spcPct val="110000"/>
              </a:lnSpc>
              <a:spcAft>
                <a:spcPts val="700"/>
              </a:spcAft>
            </a:pPr>
            <a:r>
              <a:rPr sz="950" b="0" i="0">
                <a:solidFill>
                  <a:srgbClr val="262626"/>
                </a:solidFill>
                <a:latin typeface="Arial"/>
              </a:rPr>
              <a:t>Per car group, per station, per cohort: revenue, direct cost, </a:t>
            </a:r>
            <a:r>
              <a:rPr sz="950" b="1" i="0">
                <a:solidFill>
                  <a:srgbClr val="262626"/>
                </a:solidFill>
                <a:latin typeface="Arial"/>
              </a:rPr>
              <a:t>booked depreciation</a:t>
            </a:r>
            <a:r>
              <a:rPr sz="950" b="0" i="0">
                <a:solidFill>
                  <a:srgbClr val="262626"/>
                </a:solidFill>
                <a:latin typeface="Arial"/>
              </a:rPr>
              <a:t>, </a:t>
            </a:r>
            <a:r>
              <a:rPr sz="950" b="1" i="0">
                <a:solidFill>
                  <a:srgbClr val="262626"/>
                </a:solidFill>
                <a:latin typeface="Arial"/>
              </a:rPr>
              <a:t>marked-to-market residual</a:t>
            </a:r>
            <a:r>
              <a:rPr sz="950" b="0" i="0">
                <a:solidFill>
                  <a:srgbClr val="262626"/>
                </a:solidFill>
                <a:latin typeface="Arial"/>
              </a:rPr>
              <a:t>, and the delta.</a:t>
            </a:r>
          </a:p>
          <a:p>
            <a:pPr algn="l">
              <a:lnSpc>
                <a:spcPct val="110000"/>
              </a:lnSpc>
              <a:spcAft>
                <a:spcPts val="700"/>
              </a:spcAft>
            </a:pPr>
            <a:r>
              <a:rPr sz="950" b="0" i="0">
                <a:solidFill>
                  <a:srgbClr val="262626"/>
                </a:solidFill>
                <a:latin typeface="Arial"/>
              </a:rPr>
              <a:t>No long-tail operator has this today — the rental report and the depreciation schedule do not reconcile until the car is sold, two years too late.</a:t>
            </a:r>
          </a:p>
          <a:p>
            <a:pPr algn="l">
              <a:lnSpc>
                <a:spcPct val="110000"/>
              </a:lnSpc>
              <a:spcAft>
                <a:spcPts val="700"/>
              </a:spcAft>
            </a:pPr>
            <a:r>
              <a:rPr sz="950" b="1" i="0">
                <a:solidFill>
                  <a:srgbClr val="262626"/>
                </a:solidFill>
                <a:latin typeface="Arial"/>
              </a:rPr>
              <a:t>Build this first.</a:t>
            </a:r>
            <a:r>
              <a:rPr sz="950" b="0" i="0">
                <a:solidFill>
                  <a:srgbClr val="262626"/>
                </a:solidFill>
                <a:latin typeface="Arial"/>
              </a:rPr>
              <a:t> It changes the buyer before the agent has to be right about anything.</a:t>
            </a:r>
          </a:p>
        </p:txBody>
      </p:sp>
      <p:sp>
        <p:nvSpPr>
          <p:cNvPr id="14" name="Rectangle 13"/>
          <p:cNvSpPr/>
          <p:nvPr/>
        </p:nvSpPr>
        <p:spPr>
          <a:xfrm>
            <a:off x="4279392" y="1527048"/>
            <a:ext cx="3639312" cy="73152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16552" y="1527048"/>
            <a:ext cx="457200" cy="731520"/>
          </a:xfrm>
          <a:prstGeom prst="rect">
            <a:avLst/>
          </a:prstGeom>
          <a:noFill/>
        </p:spPr>
        <p:txBody>
          <a:bodyPr wrap="square" lIns="0" tIns="0" rIns="0" bIns="0" anchor="ctr">
            <a:spAutoFit/>
          </a:bodyPr>
          <a:lstStyle/>
          <a:p>
            <a:pPr algn="l">
              <a:spcAft>
                <a:spcPts val="0"/>
              </a:spcAft>
            </a:pPr>
            <a:r>
              <a:rPr sz="2400" b="0" i="0">
                <a:solidFill>
                  <a:srgbClr val="FFFFFF"/>
                </a:solidFill>
                <a:latin typeface="Georgia"/>
              </a:rPr>
              <a:t>B</a:t>
            </a:r>
          </a:p>
        </p:txBody>
      </p:sp>
      <p:sp>
        <p:nvSpPr>
          <p:cNvPr id="16" name="TextBox 15"/>
          <p:cNvSpPr txBox="1"/>
          <p:nvPr/>
        </p:nvSpPr>
        <p:spPr>
          <a:xfrm>
            <a:off x="4919472" y="1572768"/>
            <a:ext cx="2862072"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The Decision Feed</a:t>
            </a:r>
          </a:p>
        </p:txBody>
      </p:sp>
      <p:sp>
        <p:nvSpPr>
          <p:cNvPr id="17" name="TextBox 16"/>
          <p:cNvSpPr txBox="1"/>
          <p:nvPr/>
        </p:nvSpPr>
        <p:spPr>
          <a:xfrm>
            <a:off x="4919472" y="1920240"/>
            <a:ext cx="2862072" cy="320040"/>
          </a:xfrm>
          <a:prstGeom prst="rect">
            <a:avLst/>
          </a:prstGeom>
          <a:noFill/>
        </p:spPr>
        <p:txBody>
          <a:bodyPr wrap="square" lIns="0" tIns="0" rIns="0" bIns="0" anchor="t">
            <a:spAutoFit/>
          </a:bodyPr>
          <a:lstStyle/>
          <a:p>
            <a:pPr algn="l">
              <a:spcAft>
                <a:spcPts val="0"/>
              </a:spcAft>
            </a:pPr>
            <a:r>
              <a:rPr sz="850" b="0" i="0">
                <a:solidFill>
                  <a:srgbClr val="99B4FF"/>
                </a:solidFill>
                <a:latin typeface="Arial"/>
              </a:rPr>
              <a:t>One ranked daily list across five levers</a:t>
            </a:r>
          </a:p>
        </p:txBody>
      </p:sp>
      <p:sp>
        <p:nvSpPr>
          <p:cNvPr id="18" name="Rectangle 17"/>
          <p:cNvSpPr/>
          <p:nvPr/>
        </p:nvSpPr>
        <p:spPr>
          <a:xfrm>
            <a:off x="4279392" y="2258568"/>
            <a:ext cx="3639312" cy="2743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43983" y="2395728"/>
            <a:ext cx="3310128" cy="2560320"/>
          </a:xfrm>
          <a:prstGeom prst="rect">
            <a:avLst/>
          </a:prstGeom>
          <a:noFill/>
        </p:spPr>
        <p:txBody>
          <a:bodyPr wrap="square" lIns="0" tIns="0" rIns="0" bIns="0" anchor="t">
            <a:spAutoFit/>
          </a:bodyPr>
          <a:lstStyle/>
          <a:p>
            <a:pPr algn="l">
              <a:lnSpc>
                <a:spcPct val="110000"/>
              </a:lnSpc>
              <a:spcAft>
                <a:spcPts val="700"/>
              </a:spcAft>
            </a:pPr>
            <a:r>
              <a:rPr sz="950" b="0" i="0">
                <a:solidFill>
                  <a:srgbClr val="262626"/>
                </a:solidFill>
                <a:latin typeface="Arial"/>
              </a:rPr>
              <a:t>Each item carries a euro value, a confidence, and an explicit </a:t>
            </a:r>
            <a:r>
              <a:rPr sz="950" b="0" i="1">
                <a:solidFill>
                  <a:srgbClr val="262626"/>
                </a:solidFill>
                <a:latin typeface="Arial"/>
              </a:rPr>
              <a:t>what happens if you do nothing</a:t>
            </a:r>
            <a:r>
              <a:rPr sz="950" b="0" i="0">
                <a:solidFill>
                  <a:srgbClr val="262626"/>
                </a:solidFill>
                <a:latin typeface="Arial"/>
              </a:rPr>
              <a:t>.</a:t>
            </a:r>
          </a:p>
          <a:p>
            <a:pPr algn="l">
              <a:lnSpc>
                <a:spcPct val="110000"/>
              </a:lnSpc>
              <a:spcAft>
                <a:spcPts val="700"/>
              </a:spcAft>
            </a:pPr>
            <a:r>
              <a:rPr sz="950" b="0" i="1">
                <a:solidFill>
                  <a:srgbClr val="262626"/>
                </a:solidFill>
                <a:latin typeface="Arial"/>
              </a:rPr>
              <a:t>“Your 2023 diesel Clios reach 24 months in November. French B-segment diesel residuals are off 3.1% over 90 days and days-to-sell is lengthening. De-fleet 40 units now rather than February: est. €68K preserved.”</a:t>
            </a:r>
          </a:p>
          <a:p>
            <a:pPr algn="l">
              <a:lnSpc>
                <a:spcPct val="110000"/>
              </a:lnSpc>
              <a:spcAft>
                <a:spcPts val="700"/>
              </a:spcAft>
            </a:pPr>
            <a:r>
              <a:rPr sz="950" b="0" i="0">
                <a:solidFill>
                  <a:srgbClr val="262626"/>
                </a:solidFill>
                <a:latin typeface="Arial"/>
              </a:rPr>
              <a:t>That sentence is not producible by any product in this market today.</a:t>
            </a:r>
          </a:p>
        </p:txBody>
      </p:sp>
      <p:sp>
        <p:nvSpPr>
          <p:cNvPr id="20" name="Rectangle 19"/>
          <p:cNvSpPr/>
          <p:nvPr/>
        </p:nvSpPr>
        <p:spPr>
          <a:xfrm>
            <a:off x="8101583" y="1527048"/>
            <a:ext cx="3639312" cy="7315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38744" y="1527048"/>
            <a:ext cx="457200" cy="731520"/>
          </a:xfrm>
          <a:prstGeom prst="rect">
            <a:avLst/>
          </a:prstGeom>
          <a:noFill/>
        </p:spPr>
        <p:txBody>
          <a:bodyPr wrap="square" lIns="0" tIns="0" rIns="0" bIns="0" anchor="ctr">
            <a:spAutoFit/>
          </a:bodyPr>
          <a:lstStyle/>
          <a:p>
            <a:pPr algn="l">
              <a:spcAft>
                <a:spcPts val="0"/>
              </a:spcAft>
            </a:pPr>
            <a:r>
              <a:rPr sz="2400" b="0" i="0">
                <a:solidFill>
                  <a:srgbClr val="FFFFFF"/>
                </a:solidFill>
                <a:latin typeface="Georgia"/>
              </a:rPr>
              <a:t>C</a:t>
            </a:r>
          </a:p>
        </p:txBody>
      </p:sp>
      <p:sp>
        <p:nvSpPr>
          <p:cNvPr id="22" name="TextBox 21"/>
          <p:cNvSpPr txBox="1"/>
          <p:nvPr/>
        </p:nvSpPr>
        <p:spPr>
          <a:xfrm>
            <a:off x="8741663" y="1572768"/>
            <a:ext cx="2862072"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The Analyst</a:t>
            </a:r>
          </a:p>
        </p:txBody>
      </p:sp>
      <p:sp>
        <p:nvSpPr>
          <p:cNvPr id="23" name="TextBox 22"/>
          <p:cNvSpPr txBox="1"/>
          <p:nvPr/>
        </p:nvSpPr>
        <p:spPr>
          <a:xfrm>
            <a:off x="8741663" y="1920240"/>
            <a:ext cx="2862072" cy="320040"/>
          </a:xfrm>
          <a:prstGeom prst="rect">
            <a:avLst/>
          </a:prstGeom>
          <a:noFill/>
        </p:spPr>
        <p:txBody>
          <a:bodyPr wrap="square" lIns="0" tIns="0" rIns="0" bIns="0" anchor="t">
            <a:spAutoFit/>
          </a:bodyPr>
          <a:lstStyle/>
          <a:p>
            <a:pPr algn="l">
              <a:spcAft>
                <a:spcPts val="0"/>
              </a:spcAft>
            </a:pPr>
            <a:r>
              <a:rPr sz="850" b="0" i="0">
                <a:solidFill>
                  <a:srgbClr val="99B4FF"/>
                </a:solidFill>
                <a:latin typeface="Arial"/>
              </a:rPr>
              <a:t>Ask-your-data, grounded, multilingual</a:t>
            </a:r>
          </a:p>
        </p:txBody>
      </p:sp>
      <p:sp>
        <p:nvSpPr>
          <p:cNvPr id="24" name="Rectangle 23"/>
          <p:cNvSpPr/>
          <p:nvPr/>
        </p:nvSpPr>
        <p:spPr>
          <a:xfrm>
            <a:off x="8101583" y="2258568"/>
            <a:ext cx="3639312" cy="2743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66175" y="2395728"/>
            <a:ext cx="3310128" cy="2560320"/>
          </a:xfrm>
          <a:prstGeom prst="rect">
            <a:avLst/>
          </a:prstGeom>
          <a:noFill/>
        </p:spPr>
        <p:txBody>
          <a:bodyPr wrap="square" lIns="0" tIns="0" rIns="0" bIns="0" anchor="t">
            <a:spAutoFit/>
          </a:bodyPr>
          <a:lstStyle/>
          <a:p>
            <a:pPr algn="l">
              <a:lnSpc>
                <a:spcPct val="110000"/>
              </a:lnSpc>
              <a:spcAft>
                <a:spcPts val="700"/>
              </a:spcAft>
            </a:pPr>
            <a:r>
              <a:rPr sz="950" b="0" i="0">
                <a:solidFill>
                  <a:srgbClr val="262626"/>
                </a:solidFill>
                <a:latin typeface="Arial"/>
              </a:rPr>
              <a:t>Plain-language questions over the Performance Hub; every answer traceable to the underlying figures.</a:t>
            </a:r>
          </a:p>
          <a:p>
            <a:pPr algn="l">
              <a:lnSpc>
                <a:spcPct val="110000"/>
              </a:lnSpc>
              <a:spcAft>
                <a:spcPts val="700"/>
              </a:spcAft>
            </a:pPr>
            <a:r>
              <a:rPr sz="950" b="0" i="0">
                <a:solidFill>
                  <a:srgbClr val="262626"/>
                </a:solidFill>
                <a:latin typeface="Arial"/>
              </a:rPr>
              <a:t>Cheapest to build, strongest demo, cannot lose a customer money. Multilingual is nearly free — material across 50 countries.</a:t>
            </a:r>
          </a:p>
          <a:p>
            <a:pPr algn="l">
              <a:lnSpc>
                <a:spcPct val="110000"/>
              </a:lnSpc>
              <a:spcAft>
                <a:spcPts val="700"/>
              </a:spcAft>
            </a:pPr>
            <a:r>
              <a:rPr sz="950" b="1" i="0">
                <a:solidFill>
                  <a:srgbClr val="262626"/>
                </a:solidFill>
                <a:latin typeface="Arial"/>
              </a:rPr>
              <a:t>The wedge, not the strategy.</a:t>
            </a:r>
          </a:p>
        </p:txBody>
      </p:sp>
      <p:sp>
        <p:nvSpPr>
          <p:cNvPr id="26" name="Rectangle 25"/>
          <p:cNvSpPr/>
          <p:nvPr/>
        </p:nvSpPr>
        <p:spPr>
          <a:xfrm>
            <a:off x="457200" y="5138928"/>
            <a:ext cx="11277295" cy="9144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5184648"/>
            <a:ext cx="457200" cy="822960"/>
          </a:xfrm>
          <a:prstGeom prst="rect">
            <a:avLst/>
          </a:prstGeom>
          <a:noFill/>
        </p:spPr>
        <p:txBody>
          <a:bodyPr wrap="square" lIns="0" tIns="0" rIns="0" bIns="0" anchor="ctr">
            <a:spAutoFit/>
          </a:bodyPr>
          <a:lstStyle/>
          <a:p>
            <a:pPr algn="l">
              <a:spcAft>
                <a:spcPts val="0"/>
              </a:spcAft>
            </a:pPr>
            <a:r>
              <a:rPr sz="2400" b="0" i="0">
                <a:solidFill>
                  <a:srgbClr val="FFFFFF"/>
                </a:solidFill>
                <a:latin typeface="Georgia"/>
              </a:rPr>
              <a:t>D</a:t>
            </a:r>
          </a:p>
        </p:txBody>
      </p:sp>
      <p:sp>
        <p:nvSpPr>
          <p:cNvPr id="28" name="TextBox 27"/>
          <p:cNvSpPr txBox="1"/>
          <p:nvPr/>
        </p:nvSpPr>
        <p:spPr>
          <a:xfrm>
            <a:off x="1188720" y="5212080"/>
            <a:ext cx="2743200"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The governance layer</a:t>
            </a:r>
          </a:p>
        </p:txBody>
      </p:sp>
      <p:sp>
        <p:nvSpPr>
          <p:cNvPr id="29" name="TextBox 28"/>
          <p:cNvSpPr txBox="1"/>
          <p:nvPr/>
        </p:nvSpPr>
        <p:spPr>
          <a:xfrm>
            <a:off x="1188720" y="5596128"/>
            <a:ext cx="3108960" cy="411480"/>
          </a:xfrm>
          <a:prstGeom prst="rect">
            <a:avLst/>
          </a:prstGeom>
          <a:noFill/>
        </p:spPr>
        <p:txBody>
          <a:bodyPr wrap="square" lIns="0" tIns="0" rIns="0" bIns="0" anchor="t">
            <a:spAutoFit/>
          </a:bodyPr>
          <a:lstStyle/>
          <a:p>
            <a:pPr algn="l">
              <a:lnSpc>
                <a:spcPct val="100000"/>
              </a:lnSpc>
              <a:spcAft>
                <a:spcPts val="0"/>
              </a:spcAft>
            </a:pPr>
            <a:r>
              <a:rPr sz="850" b="0" i="0">
                <a:solidFill>
                  <a:srgbClr val="99B4FF"/>
                </a:solidFill>
                <a:latin typeface="Arial"/>
              </a:rPr>
              <a:t>Guardrails set by the operator · accept / modify / reject logged · full audit trail</a:t>
            </a:r>
          </a:p>
        </p:txBody>
      </p:sp>
      <p:sp>
        <p:nvSpPr>
          <p:cNvPr id="30" name="TextBox 29"/>
          <p:cNvSpPr txBox="1"/>
          <p:nvPr/>
        </p:nvSpPr>
        <p:spPr>
          <a:xfrm>
            <a:off x="4663440" y="5212080"/>
            <a:ext cx="7223760" cy="777240"/>
          </a:xfrm>
          <a:prstGeom prst="rect">
            <a:avLst/>
          </a:prstGeom>
          <a:noFill/>
        </p:spPr>
        <p:txBody>
          <a:bodyPr wrap="square" lIns="0" tIns="0" rIns="0" bIns="0" anchor="ctr">
            <a:spAutoFit/>
          </a:bodyPr>
          <a:lstStyle/>
          <a:p>
            <a:pPr algn="l">
              <a:lnSpc>
                <a:spcPct val="110000"/>
              </a:lnSpc>
              <a:spcAft>
                <a:spcPts val="0"/>
              </a:spcAft>
            </a:pPr>
            <a:r>
              <a:rPr sz="950" b="0" i="0">
                <a:solidFill>
                  <a:srgbClr val="FFFFFF"/>
                </a:solidFill>
                <a:latin typeface="Arial"/>
              </a:rPr>
              <a:t>Sell </a:t>
            </a:r>
            <a:r>
              <a:rPr sz="950" b="1" i="0">
                <a:solidFill>
                  <a:srgbClr val="FFFFFF"/>
                </a:solidFill>
                <a:latin typeface="Arial"/>
              </a:rPr>
              <a:t>explainable and governed, never autonomous.</a:t>
            </a:r>
            <a:r>
              <a:rPr sz="950" b="0" i="0">
                <a:solidFill>
                  <a:srgbClr val="FFFFFF"/>
                </a:solidFill>
                <a:latin typeface="Arial"/>
              </a:rPr>
              <a:t> The named adoption blocker in this industry is black-box distrust. WeYield's whole heritage — the Academy, the coaches, teaching operators to think — makes </a:t>
            </a:r>
            <a:r>
              <a:rPr sz="950" b="0" i="1">
                <a:solidFill>
                  <a:srgbClr val="FFFFFF"/>
                </a:solidFill>
                <a:latin typeface="Arial"/>
              </a:rPr>
              <a:t>“the agent shows its reasoning and you keep the wheel”</a:t>
            </a:r>
            <a:r>
              <a:rPr sz="950" b="0" i="0">
                <a:solidFill>
                  <a:srgbClr val="FFFFFF"/>
                </a:solidFill>
                <a:latin typeface="Arial"/>
              </a:rPr>
              <a:t> the natural position. Make explainability the feature, not the apology.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Rebuild the interface and agent layer AI-natively; never touch the integrations or the numeric core</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3 · THE RECOMMENDATION</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gradient-boosted and related numeric models outperform language models at demand forecasting on structured time series; the interface, judgement, explanation and execution layers wrap around the numeric core. Two-way integration is the industry's binding constraint (M. Meyer, Auto Rental News, Mar 2026).</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13</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5513832"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527048"/>
            <a:ext cx="5148072" cy="548640"/>
          </a:xfrm>
          <a:prstGeom prst="rect">
            <a:avLst/>
          </a:prstGeom>
          <a:noFill/>
        </p:spPr>
        <p:txBody>
          <a:bodyPr wrap="square" lIns="0" tIns="0" rIns="0" bIns="0" anchor="ctr">
            <a:spAutoFit/>
          </a:bodyPr>
          <a:lstStyle/>
          <a:p>
            <a:pPr algn="l">
              <a:spcAft>
                <a:spcPts val="0"/>
              </a:spcAft>
            </a:pPr>
            <a:r>
              <a:rPr sz="1100" b="1" i="0">
                <a:solidFill>
                  <a:srgbClr val="051C2C"/>
                </a:solidFill>
                <a:latin typeface="Arial"/>
              </a:rPr>
              <a:t>NEVER REWRITE  —  the moat and the risk</a:t>
            </a:r>
          </a:p>
        </p:txBody>
      </p:sp>
      <p:sp>
        <p:nvSpPr>
          <p:cNvPr id="10" name="Rectangle 9"/>
          <p:cNvSpPr/>
          <p:nvPr/>
        </p:nvSpPr>
        <p:spPr>
          <a:xfrm>
            <a:off x="457200" y="2075688"/>
            <a:ext cx="5513832" cy="29260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2258568"/>
            <a:ext cx="5056632" cy="2743200"/>
          </a:xfrm>
          <a:prstGeom prst="rect">
            <a:avLst/>
          </a:prstGeom>
          <a:noFill/>
        </p:spPr>
        <p:txBody>
          <a:bodyPr wrap="square" lIns="0" tIns="0" rIns="0" bIns="0" anchor="t">
            <a:spAutoFit/>
          </a:bodyPr>
          <a:lstStyle/>
          <a:p>
            <a:pPr algn="l" marL="164592" indent="-164592">
              <a:lnSpc>
                <a:spcPct val="110000"/>
              </a:lnSpc>
              <a:spcAft>
                <a:spcPts val="800"/>
              </a:spcAft>
              <a:buFont typeface="Arial"/>
              <a:buChar char="•"/>
            </a:pPr>
            <a:r>
              <a:rPr sz="1000" b="1" i="0">
                <a:solidFill>
                  <a:srgbClr val="262626"/>
                </a:solidFill>
                <a:latin typeface="Arial"/>
              </a:rPr>
              <a:t>The integration lattice</a:t>
            </a:r>
            <a:r>
              <a:rPr sz="1000" b="0" i="0">
                <a:solidFill>
                  <a:srgbClr val="262626"/>
                </a:solidFill>
                <a:latin typeface="Arial"/>
              </a:rPr>
              <a:t> — Wheels/Invensys, MyRentCar, RateHighway, PMS/CRS write-back. Reliable two-way data exchange is the industry's binding constraint, not modelling. Every integration already built is a mile of track laid.</a:t>
            </a:r>
          </a:p>
          <a:p>
            <a:pPr algn="l" marL="164592" indent="-164592">
              <a:lnSpc>
                <a:spcPct val="110000"/>
              </a:lnSpc>
              <a:spcAft>
                <a:spcPts val="800"/>
              </a:spcAft>
              <a:buFont typeface="Arial"/>
              <a:buChar char="•"/>
            </a:pPr>
            <a:r>
              <a:rPr sz="1000" b="1" i="0">
                <a:solidFill>
                  <a:srgbClr val="262626"/>
                </a:solidFill>
                <a:latin typeface="Arial"/>
              </a:rPr>
              <a:t>The numeric forecasting core</a:t>
            </a:r>
            <a:r>
              <a:rPr sz="1000" b="0" i="0">
                <a:solidFill>
                  <a:srgbClr val="262626"/>
                </a:solidFill>
                <a:latin typeface="Arial"/>
              </a:rPr>
              <a:t> — gradient-boosted models beat language models at numeric demand forecasting and will continue to. Confusing the interface layer with the numeric layer burns a year.</a:t>
            </a:r>
          </a:p>
          <a:p>
            <a:pPr algn="l" marL="164592" indent="-164592">
              <a:lnSpc>
                <a:spcPct val="110000"/>
              </a:lnSpc>
              <a:spcAft>
                <a:spcPts val="800"/>
              </a:spcAft>
              <a:buFont typeface="Arial"/>
              <a:buChar char="•"/>
            </a:pPr>
            <a:r>
              <a:rPr sz="1000" b="1" i="0">
                <a:solidFill>
                  <a:srgbClr val="262626"/>
                </a:solidFill>
                <a:latin typeface="Arial"/>
              </a:rPr>
              <a:t>The rate-shop collection pipeline.</a:t>
            </a:r>
          </a:p>
          <a:p>
            <a:pPr algn="l">
              <a:lnSpc>
                <a:spcPct val="110000"/>
              </a:lnSpc>
              <a:spcBef>
                <a:spcPts val="600"/>
              </a:spcBef>
              <a:spcAft>
                <a:spcPts val="800"/>
              </a:spcAft>
            </a:pPr>
            <a:r>
              <a:rPr sz="1000" b="0" i="1">
                <a:solidFill>
                  <a:srgbClr val="7F7F7F"/>
                </a:solidFill>
                <a:latin typeface="Arial"/>
              </a:rPr>
              <a:t>Rewriting these buys nothing and can lose customers.</a:t>
            </a:r>
          </a:p>
        </p:txBody>
      </p:sp>
      <p:sp>
        <p:nvSpPr>
          <p:cNvPr id="12" name="Rectangle 11"/>
          <p:cNvSpPr/>
          <p:nvPr/>
        </p:nvSpPr>
        <p:spPr>
          <a:xfrm>
            <a:off x="6217920" y="1527048"/>
            <a:ext cx="5513832" cy="54864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0" y="1527048"/>
            <a:ext cx="5148072" cy="548640"/>
          </a:xfrm>
          <a:prstGeom prst="rect">
            <a:avLst/>
          </a:prstGeom>
          <a:noFill/>
        </p:spPr>
        <p:txBody>
          <a:bodyPr wrap="square" lIns="0" tIns="0" rIns="0" bIns="0" anchor="ctr">
            <a:spAutoFit/>
          </a:bodyPr>
          <a:lstStyle/>
          <a:p>
            <a:pPr algn="l">
              <a:spcAft>
                <a:spcPts val="0"/>
              </a:spcAft>
            </a:pPr>
            <a:r>
              <a:rPr sz="1100" b="1" i="0">
                <a:solidFill>
                  <a:srgbClr val="FFFFFF"/>
                </a:solidFill>
                <a:latin typeface="Arial"/>
              </a:rPr>
              <a:t>REBUILD AI-NATIVELY  —  as a new parallel stack</a:t>
            </a:r>
          </a:p>
        </p:txBody>
      </p:sp>
      <p:sp>
        <p:nvSpPr>
          <p:cNvPr id="14" name="Rectangle 13"/>
          <p:cNvSpPr/>
          <p:nvPr/>
        </p:nvSpPr>
        <p:spPr>
          <a:xfrm>
            <a:off x="6217920" y="2075688"/>
            <a:ext cx="5513832" cy="292608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46520" y="2258568"/>
            <a:ext cx="5056632" cy="2743200"/>
          </a:xfrm>
          <a:prstGeom prst="rect">
            <a:avLst/>
          </a:prstGeom>
          <a:noFill/>
        </p:spPr>
        <p:txBody>
          <a:bodyPr wrap="square" lIns="0" tIns="0" rIns="0" bIns="0" anchor="t">
            <a:spAutoFit/>
          </a:bodyPr>
          <a:lstStyle/>
          <a:p>
            <a:pPr algn="l" marL="164592" indent="-164592">
              <a:lnSpc>
                <a:spcPct val="110000"/>
              </a:lnSpc>
              <a:spcAft>
                <a:spcPts val="600"/>
              </a:spcAft>
              <a:buFont typeface="Arial"/>
              <a:buChar char="•"/>
            </a:pPr>
            <a:r>
              <a:rPr sz="1000" b="1" i="0">
                <a:solidFill>
                  <a:srgbClr val="262626"/>
                </a:solidFill>
                <a:latin typeface="Arial"/>
              </a:rPr>
              <a:t>The interface and conversational layer</a:t>
            </a:r>
            <a:r>
              <a:rPr sz="1000" b="0" i="0">
                <a:solidFill>
                  <a:srgbClr val="262626"/>
                </a:solidFill>
                <a:latin typeface="Arial"/>
              </a:rPr>
              <a:t> — the Analyst</a:t>
            </a:r>
          </a:p>
          <a:p>
            <a:pPr algn="l" marL="164592" indent="-164592">
              <a:lnSpc>
                <a:spcPct val="110000"/>
              </a:lnSpc>
              <a:spcAft>
                <a:spcPts val="600"/>
              </a:spcAft>
              <a:buFont typeface="Arial"/>
              <a:buChar char="•"/>
            </a:pPr>
            <a:r>
              <a:rPr sz="1000" b="1" i="0">
                <a:solidFill>
                  <a:srgbClr val="262626"/>
                </a:solidFill>
                <a:latin typeface="Arial"/>
              </a:rPr>
              <a:t>The agent and recommendation layer</a:t>
            </a:r>
            <a:r>
              <a:rPr sz="1000" b="0" i="0">
                <a:solidFill>
                  <a:srgbClr val="262626"/>
                </a:solidFill>
                <a:latin typeface="Arial"/>
              </a:rPr>
              <a:t> — the Decision Feed</a:t>
            </a:r>
          </a:p>
          <a:p>
            <a:pPr algn="l" marL="164592" indent="-164592">
              <a:lnSpc>
                <a:spcPct val="110000"/>
              </a:lnSpc>
              <a:spcAft>
                <a:spcPts val="600"/>
              </a:spcAft>
              <a:buFont typeface="Arial"/>
              <a:buChar char="•"/>
            </a:pPr>
            <a:r>
              <a:rPr sz="1000" b="1" i="0">
                <a:solidFill>
                  <a:srgbClr val="262626"/>
                </a:solidFill>
                <a:latin typeface="Arial"/>
              </a:rPr>
              <a:t>Reporting</a:t>
            </a:r>
            <a:r>
              <a:rPr sz="1000" b="0" i="0">
                <a:solidFill>
                  <a:srgbClr val="262626"/>
                </a:solidFill>
                <a:latin typeface="Arial"/>
              </a:rPr>
              <a:t> — the Fleet P&amp;L</a:t>
            </a:r>
          </a:p>
          <a:p>
            <a:pPr algn="l" marL="164592" indent="-164592">
              <a:lnSpc>
                <a:spcPct val="110000"/>
              </a:lnSpc>
              <a:spcAft>
                <a:spcPts val="600"/>
              </a:spcAft>
              <a:buFont typeface="Arial"/>
              <a:buChar char="•"/>
            </a:pPr>
            <a:r>
              <a:rPr sz="1000" b="1" i="0">
                <a:solidFill>
                  <a:srgbClr val="262626"/>
                </a:solidFill>
                <a:latin typeface="Arial"/>
              </a:rPr>
              <a:t>Onboarding and configuration</a:t>
            </a:r>
            <a:r>
              <a:rPr sz="1000" b="0" i="0">
                <a:solidFill>
                  <a:srgbClr val="262626"/>
                </a:solidFill>
                <a:latin typeface="Arial"/>
              </a:rPr>
              <a:t> — schema mapping, car-group normalisation, seasonality inference</a:t>
            </a:r>
          </a:p>
          <a:p>
            <a:pPr algn="l" marL="164592" indent="-164592">
              <a:lnSpc>
                <a:spcPct val="110000"/>
              </a:lnSpc>
              <a:spcAft>
                <a:spcPts val="600"/>
              </a:spcAft>
              <a:buFont typeface="Arial"/>
              <a:buChar char="•"/>
            </a:pPr>
            <a:r>
              <a:rPr sz="1000" b="1" i="0">
                <a:solidFill>
                  <a:srgbClr val="262626"/>
                </a:solidFill>
                <a:latin typeface="Arial"/>
              </a:rPr>
              <a:t>Support</a:t>
            </a:r>
            <a:r>
              <a:rPr sz="1000" b="0" i="0">
                <a:solidFill>
                  <a:srgbClr val="262626"/>
                </a:solidFill>
                <a:latin typeface="Arial"/>
              </a:rPr>
              <a:t> — tier one, multilingual</a:t>
            </a:r>
          </a:p>
          <a:p>
            <a:pPr algn="l" marL="164592" indent="-164592">
              <a:lnSpc>
                <a:spcPct val="110000"/>
              </a:lnSpc>
              <a:spcAft>
                <a:spcPts val="600"/>
              </a:spcAft>
              <a:buFont typeface="Arial"/>
              <a:buChar char="•"/>
            </a:pPr>
            <a:r>
              <a:rPr sz="1000" b="1" i="0">
                <a:solidFill>
                  <a:srgbClr val="262626"/>
                </a:solidFill>
                <a:latin typeface="Arial"/>
              </a:rPr>
              <a:t>The coach's own workflow</a:t>
            </a:r>
            <a:r>
              <a:rPr sz="1000" b="0" i="0">
                <a:solidFill>
                  <a:srgbClr val="262626"/>
                </a:solidFill>
                <a:latin typeface="Arial"/>
              </a:rPr>
              <a:t> — diagnostic sequence, pace reading, station reviews</a:t>
            </a:r>
          </a:p>
          <a:p>
            <a:pPr algn="l">
              <a:lnSpc>
                <a:spcPct val="110000"/>
              </a:lnSpc>
              <a:spcBef>
                <a:spcPts val="600"/>
              </a:spcBef>
              <a:spcAft>
                <a:spcPts val="600"/>
              </a:spcAft>
            </a:pPr>
            <a:r>
              <a:rPr sz="1000" b="0" i="1">
                <a:solidFill>
                  <a:srgbClr val="051C2C"/>
                </a:solidFill>
                <a:latin typeface="Arial"/>
              </a:rPr>
              <a:t>This is the part that became dramatically cheaper in the last two years — and the part WeYield lacks.</a:t>
            </a:r>
          </a:p>
        </p:txBody>
      </p:sp>
      <p:sp>
        <p:nvSpPr>
          <p:cNvPr id="16" name="Rectangle 15"/>
          <p:cNvSpPr/>
          <p:nvPr/>
        </p:nvSpPr>
        <p:spPr>
          <a:xfrm>
            <a:off x="457200" y="5138928"/>
            <a:ext cx="11277295" cy="9144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5138928"/>
            <a:ext cx="10820095" cy="914400"/>
          </a:xfrm>
          <a:prstGeom prst="rect">
            <a:avLst/>
          </a:prstGeom>
          <a:noFill/>
        </p:spPr>
        <p:txBody>
          <a:bodyPr wrap="square" lIns="0" tIns="0" rIns="0" bIns="0" anchor="ctr">
            <a:spAutoFit/>
          </a:bodyPr>
          <a:lstStyle/>
          <a:p>
            <a:pPr algn="l">
              <a:lnSpc>
                <a:spcPct val="112000"/>
              </a:lnSpc>
              <a:spcAft>
                <a:spcPts val="0"/>
              </a:spcAft>
            </a:pPr>
            <a:r>
              <a:rPr sz="1050" b="1" i="0">
                <a:solidFill>
                  <a:srgbClr val="FFFFFF"/>
                </a:solidFill>
                <a:latin typeface="Arial"/>
              </a:rPr>
              <a:t>The discipline that makes it work without a migration project:</a:t>
            </a:r>
            <a:r>
              <a:rPr sz="1050" b="0" i="0">
                <a:solidFill>
                  <a:srgbClr val="FFFFFF"/>
                </a:solidFill>
                <a:latin typeface="Arial"/>
              </a:rPr>
              <a:t> from day one every new feature ships in the new stack. </a:t>
            </a:r>
            <a:r>
              <a:rPr sz="1050" b="1" i="0">
                <a:solidFill>
                  <a:srgbClr val="FFFFFF"/>
                </a:solidFill>
                <a:latin typeface="Arial"/>
              </a:rPr>
              <a:t>The old stack receives no new features, ever — maintenance only.</a:t>
            </a:r>
            <a:r>
              <a:rPr sz="1050" b="0" i="0">
                <a:solidFill>
                  <a:srgbClr val="FFFFFF"/>
                </a:solidFill>
                <a:latin typeface="Arial"/>
              </a:rPr>
              <a:t> Over eighteen months the new stack absorbs 60–70% of user-facing surface, and the old one shrinks by attrition rather than by decision.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The moat is the combination of three data sets that no one else holds for this segment</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3 · THE RECOMMENDATION</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WeYield product footprint per weyield.io and The AI Turn for WeYield (Sep 2026); ForwardKeys embedding and IATA exploration per Olivier Jager, 10 Sep 2026. Indicata (Autorola) and Autovista are named as candidate partners, not confirmed counterparties.</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14</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457200" y="1527048"/>
          <a:ext cx="7589520" cy="3675888"/>
        </p:xfrm>
        <a:graphic>
          <a:graphicData uri="http://schemas.openxmlformats.org/drawingml/2006/table">
            <a:tbl>
              <a:tblPr firstRow="0" bandRow="0">
                <a:tableStyleId>{2D5ABB26-0587-4C30-8999-92F81FD0307C}</a:tableStyleId>
              </a:tblPr>
              <a:tblGrid>
                <a:gridCol w="3017520"/>
                <a:gridCol w="1234440"/>
                <a:gridCol w="3337560"/>
              </a:tblGrid>
              <a:tr h="384048">
                <a:tc>
                  <a:txBody>
                    <a:bodyPr wrap="square"/>
                    <a:lstStyle/>
                    <a:p>
                      <a:r>
                        <a:rPr sz="950" b="1" i="0">
                          <a:solidFill>
                            <a:srgbClr val="FFFFFF"/>
                          </a:solidFill>
                          <a:latin typeface="Arial"/>
                        </a:rPr>
                        <a:t>Data asset</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Status</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Action</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822960">
                <a:tc>
                  <a:txBody>
                    <a:bodyPr wrap="square"/>
                    <a:lstStyle/>
                    <a:p>
                      <a:r>
                        <a:rPr sz="950" b="1" i="0">
                          <a:solidFill>
                            <a:srgbClr val="262626"/>
                          </a:solidFill>
                          <a:latin typeface="Arial"/>
                        </a:rPr>
                        <a:t>Cross-tenant rate shop, pace, utilisation and fleet</a:t>
                      </a:r>
                      <a:r>
                        <a:rPr sz="950" b="0" i="0">
                          <a:solidFill>
                            <a:srgbClr val="262626"/>
                          </a:solidFill>
                          <a:latin typeface="Arial"/>
                        </a:rPr>
                        <a:t> — years of history across 50+ countries and multiple operating models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1E7F4F"/>
                          </a:solidFill>
                          <a:latin typeface="Arial"/>
                        </a:rPr>
                        <a:t>HELD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Instrument at daily grain per account. Verify 24-month reconstructability. This is the moat; everything else is a feature.</a:t>
                      </a:r>
                    </a:p>
                  </a:txBody>
                  <a:tcPr marL="54864" marR="54864" marT="41148" marB="41148" anchor="t">
                    <a:lnL w="0">
                      <a:noFill/>
                    </a:lnL>
                    <a:lnR w="0">
                      <a:noFill/>
                    </a:lnR>
                    <a:lnT w="0">
                      <a:noFill/>
                    </a:lnT>
                    <a:lnB w="9525" cap="flat" cmpd="sng" algn="ctr">
                      <a:solidFill>
                        <a:srgbClr val="D9D9D9"/>
                      </a:solidFill>
                      <a:prstDash val="solid"/>
                    </a:lnB>
                    <a:noFill/>
                  </a:tcPr>
                </a:tc>
              </a:tr>
              <a:tr h="822960">
                <a:tc>
                  <a:txBody>
                    <a:bodyPr wrap="square"/>
                    <a:lstStyle/>
                    <a:p>
                      <a:r>
                        <a:rPr sz="950" b="1" i="0">
                          <a:solidFill>
                            <a:srgbClr val="262626"/>
                          </a:solidFill>
                          <a:latin typeface="Arial"/>
                        </a:rPr>
                        <a:t>Forward demand signal</a:t>
                      </a:r>
                      <a:r>
                        <a:rPr sz="950" b="0" i="0">
                          <a:solidFill>
                            <a:srgbClr val="262626"/>
                          </a:solidFill>
                          <a:latin typeface="Arial"/>
                        </a:rPr>
                        <a:t> — ForwardKeys embedded; IATA under exploration as Amadeus repricing bites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1E7F4F"/>
                          </a:solidFill>
                          <a:latin typeface="Arial"/>
                        </a:rPr>
                        <a:t>HELD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Deepen. Olivier's own background in this data is an asset to use.</a:t>
                      </a:r>
                    </a:p>
                  </a:txBody>
                  <a:tcPr marL="54864" marR="54864" marT="41148" marB="41148" anchor="t">
                    <a:lnL w="0">
                      <a:noFill/>
                    </a:lnL>
                    <a:lnR w="0">
                      <a:noFill/>
                    </a:lnR>
                    <a:lnT w="0">
                      <a:noFill/>
                    </a:lnT>
                    <a:lnB w="9525" cap="flat" cmpd="sng" algn="ctr">
                      <a:solidFill>
                        <a:srgbClr val="D9D9D9"/>
                      </a:solidFill>
                      <a:prstDash val="solid"/>
                    </a:lnB>
                    <a:noFill/>
                  </a:tcPr>
                </a:tc>
              </a:tr>
              <a:tr h="822960">
                <a:tc>
                  <a:txBody>
                    <a:bodyPr wrap="square"/>
                    <a:lstStyle/>
                    <a:p>
                      <a:r>
                        <a:rPr sz="950" b="1" i="0">
                          <a:solidFill>
                            <a:srgbClr val="262626"/>
                          </a:solidFill>
                          <a:latin typeface="Arial"/>
                        </a:rPr>
                        <a:t>Used-vehicle residual data</a:t>
                      </a:r>
                      <a:r>
                        <a:rPr sz="950" b="0" i="0">
                          <a:solidFill>
                            <a:srgbClr val="262626"/>
                          </a:solidFill>
                          <a:latin typeface="Arial"/>
                        </a:rPr>
                        <a:t> — by market, model, specification, mileage, age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B51D1D"/>
                          </a:solidFill>
                          <a:latin typeface="Arial"/>
                        </a:rPr>
                        <a:t>MISSING</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262626"/>
                          </a:solidFill>
                          <a:latin typeface="Arial"/>
                        </a:rPr>
                        <a:t>Partnership, not modelling.</a:t>
                      </a:r>
                      <a:r>
                        <a:rPr sz="950" b="0" i="0">
                          <a:solidFill>
                            <a:srgbClr val="262626"/>
                          </a:solidFill>
                          <a:latin typeface="Arial"/>
                        </a:rPr>
                        <a:t> Indicata is the strongest single candidate; Autovista for forecasts; BCA / Manheim for auction. On the critical path for Horizon 2.</a:t>
                      </a:r>
                    </a:p>
                  </a:txBody>
                  <a:tcPr marL="54864" marR="54864" marT="41148" marB="41148" anchor="t">
                    <a:lnL w="0">
                      <a:noFill/>
                    </a:lnL>
                    <a:lnR w="0">
                      <a:noFill/>
                    </a:lnR>
                    <a:lnT w="0">
                      <a:noFill/>
                    </a:lnT>
                    <a:lnB w="9525" cap="flat" cmpd="sng" algn="ctr">
                      <a:solidFill>
                        <a:srgbClr val="D9D9D9"/>
                      </a:solidFill>
                      <a:prstDash val="solid"/>
                    </a:lnB>
                    <a:noFill/>
                  </a:tcPr>
                </a:tc>
              </a:tr>
              <a:tr h="822960">
                <a:tc>
                  <a:txBody>
                    <a:bodyPr wrap="square"/>
                    <a:lstStyle/>
                    <a:p>
                      <a:r>
                        <a:rPr sz="950" b="1" i="0">
                          <a:solidFill>
                            <a:srgbClr val="262626"/>
                          </a:solidFill>
                          <a:latin typeface="Arial"/>
                        </a:rPr>
                        <a:t>Recommendation accept / modify / reject telemetry</a:t>
                      </a:r>
                      <a:r>
                        <a:rPr sz="950" b="0" i="0">
                          <a:solidFill>
                            <a:srgbClr val="262626"/>
                          </a:solidFill>
                          <a:latin typeface="Arial"/>
                        </a:rPr>
                        <a:t> — with subsequent RPD and utilisation outcome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2251FF"/>
                          </a:solidFill>
                          <a:latin typeface="Arial"/>
                        </a:rPr>
                        <a:t>UNKNOWN — verify</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Turn on immediately. Cheap today; impossible to backfill. Without it there is no agent that learns and no outcome price that can be defended.</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
        <p:nvSpPr>
          <p:cNvPr id="9" name="Rectangle 8"/>
          <p:cNvSpPr/>
          <p:nvPr/>
        </p:nvSpPr>
        <p:spPr>
          <a:xfrm>
            <a:off x="8275320" y="1527048"/>
            <a:ext cx="3456432" cy="224028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275320" y="1527048"/>
            <a:ext cx="54864" cy="224028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58200" y="1655064"/>
            <a:ext cx="3145536" cy="202082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defensible statement of the moat</a:t>
            </a:r>
          </a:p>
          <a:p>
            <a:pPr algn="l">
              <a:lnSpc>
                <a:spcPct val="110000"/>
              </a:lnSpc>
              <a:spcAft>
                <a:spcPts val="500"/>
              </a:spcAft>
            </a:pPr>
            <a:r>
              <a:rPr sz="1000" b="1" i="0">
                <a:solidFill>
                  <a:srgbClr val="262626"/>
                </a:solidFill>
                <a:latin typeface="Arial"/>
              </a:rPr>
              <a:t>Forward demand + realised pace + used-vehicle residuals.</a:t>
            </a:r>
            <a:r>
              <a:rPr sz="1000" b="0" i="0">
                <a:solidFill>
                  <a:srgbClr val="262626"/>
                </a:solidFill>
                <a:latin typeface="Arial"/>
              </a:rPr>
              <a:t> Nobody holds all three for the long tail.</a:t>
            </a:r>
          </a:p>
          <a:p>
            <a:pPr algn="l">
              <a:lnSpc>
                <a:spcPct val="110000"/>
              </a:lnSpc>
              <a:spcAft>
                <a:spcPts val="500"/>
              </a:spcAft>
            </a:pPr>
            <a:r>
              <a:rPr sz="1000" b="0" i="0">
                <a:solidFill>
                  <a:srgbClr val="262626"/>
                </a:solidFill>
                <a:latin typeface="Arial"/>
              </a:rPr>
              <a:t>A foundation model cannot acquire it. A funded newcomer cannot buy it. A PMS vendor sees only its own base.</a:t>
            </a:r>
          </a:p>
        </p:txBody>
      </p:sp>
      <p:sp>
        <p:nvSpPr>
          <p:cNvPr id="12" name="Rectangle 11"/>
          <p:cNvSpPr/>
          <p:nvPr/>
        </p:nvSpPr>
        <p:spPr>
          <a:xfrm>
            <a:off x="8275320" y="3904487"/>
            <a:ext cx="3456432" cy="21488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275320" y="3904487"/>
            <a:ext cx="54864" cy="214884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58200" y="4032503"/>
            <a:ext cx="3145536" cy="192938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What a customer cannot rebuild with AI</a:t>
            </a:r>
          </a:p>
          <a:p>
            <a:pPr algn="l">
              <a:lnSpc>
                <a:spcPct val="110000"/>
              </a:lnSpc>
              <a:spcAft>
                <a:spcPts val="500"/>
              </a:spcAft>
            </a:pPr>
            <a:r>
              <a:rPr sz="950" b="0" i="0">
                <a:solidFill>
                  <a:srgbClr val="262626"/>
                </a:solidFill>
                <a:latin typeface="Arial"/>
              </a:rPr>
              <a:t>Olivier's threat — a customer rebuilds the tool and cancels — is real for the feature layer. It is not real for cross-tenant benchmarks, forward demand, or the integration lattice. </a:t>
            </a:r>
            <a:r>
              <a:rPr sz="950" b="1" i="0">
                <a:solidFill>
                  <a:srgbClr val="262626"/>
                </a:solidFill>
                <a:latin typeface="Arial"/>
              </a:rPr>
              <a:t>Make the data and the network the product; let the features commoditise.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Three horizons, each funding the next — the plan requires no external capital</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4 · THE PLAN</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Emmanuel has flat EBITDA, no cash reserve and no raise in progress. Any plan that requires new capital will be received politely and shelved. Revenue and ACV milestones are illustrative (slide 17).</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15</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3639312" cy="9601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1792" y="1572768"/>
            <a:ext cx="3310128" cy="274320"/>
          </a:xfrm>
          <a:prstGeom prst="rect">
            <a:avLst/>
          </a:prstGeom>
          <a:noFill/>
        </p:spPr>
        <p:txBody>
          <a:bodyPr wrap="square" lIns="0" tIns="0" rIns="0" bIns="0" anchor="t">
            <a:spAutoFit/>
          </a:bodyPr>
          <a:lstStyle/>
          <a:p>
            <a:pPr algn="l">
              <a:spcAft>
                <a:spcPts val="0"/>
              </a:spcAft>
            </a:pPr>
            <a:r>
              <a:rPr sz="800" b="1" i="0">
                <a:solidFill>
                  <a:srgbClr val="99B4FF"/>
                </a:solidFill>
                <a:latin typeface="Arial"/>
              </a:rPr>
              <a:t>HORIZON 1  ·  MONTHS 0–6</a:t>
            </a:r>
          </a:p>
        </p:txBody>
      </p:sp>
      <p:sp>
        <p:nvSpPr>
          <p:cNvPr id="10" name="TextBox 9"/>
          <p:cNvSpPr txBox="1"/>
          <p:nvPr/>
        </p:nvSpPr>
        <p:spPr>
          <a:xfrm>
            <a:off x="621792" y="1810512"/>
            <a:ext cx="3310128"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Repair the economics</a:t>
            </a:r>
          </a:p>
        </p:txBody>
      </p:sp>
      <p:sp>
        <p:nvSpPr>
          <p:cNvPr id="11" name="TextBox 10"/>
          <p:cNvSpPr txBox="1"/>
          <p:nvPr/>
        </p:nvSpPr>
        <p:spPr>
          <a:xfrm>
            <a:off x="621792" y="2157984"/>
            <a:ext cx="3310128" cy="301752"/>
          </a:xfrm>
          <a:prstGeom prst="rect">
            <a:avLst/>
          </a:prstGeom>
          <a:noFill/>
        </p:spPr>
        <p:txBody>
          <a:bodyPr wrap="square" lIns="0" tIns="0" rIns="0" bIns="0" anchor="t">
            <a:spAutoFit/>
          </a:bodyPr>
          <a:lstStyle/>
          <a:p>
            <a:pPr algn="l">
              <a:spcAft>
                <a:spcPts val="0"/>
              </a:spcAft>
            </a:pPr>
            <a:r>
              <a:rPr sz="850" b="0" i="0">
                <a:solidFill>
                  <a:srgbClr val="99B4FF"/>
                </a:solidFill>
                <a:latin typeface="Arial"/>
              </a:rPr>
              <a:t>EBITDA ~0% → ~25% without touching the roadmap</a:t>
            </a:r>
          </a:p>
        </p:txBody>
      </p:sp>
      <p:sp>
        <p:nvSpPr>
          <p:cNvPr id="12" name="Rectangle 11"/>
          <p:cNvSpPr/>
          <p:nvPr/>
        </p:nvSpPr>
        <p:spPr>
          <a:xfrm>
            <a:off x="457200" y="2487168"/>
            <a:ext cx="3639312" cy="3063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 y="2596896"/>
            <a:ext cx="3310128" cy="2926080"/>
          </a:xfrm>
          <a:prstGeom prst="rect">
            <a:avLst/>
          </a:prstGeom>
          <a:noFill/>
        </p:spPr>
        <p:txBody>
          <a:bodyPr wrap="square" lIns="0" tIns="0" rIns="0" bIns="0" anchor="t">
            <a:spAutoFit/>
          </a:bodyPr>
          <a:lstStyle/>
          <a:p>
            <a:pPr algn="l" marL="164592" indent="-164592">
              <a:lnSpc>
                <a:spcPct val="108000"/>
              </a:lnSpc>
              <a:spcAft>
                <a:spcPts val="500"/>
              </a:spcAft>
              <a:buFont typeface="Arial"/>
              <a:buChar char="•"/>
            </a:pPr>
            <a:r>
              <a:rPr sz="919" b="1" i="0">
                <a:solidFill>
                  <a:srgbClr val="262626"/>
                </a:solidFill>
                <a:latin typeface="Arial"/>
              </a:rPr>
              <a:t>Validate first</a:t>
            </a:r>
            <a:r>
              <a:rPr sz="919" b="0" i="0">
                <a:solidFill>
                  <a:srgbClr val="262626"/>
                </a:solidFill>
                <a:latin typeface="Arial"/>
              </a:rPr>
              <a:t> — ten customer calls against the three kill-risks. Gates everything.</a:t>
            </a:r>
          </a:p>
          <a:p>
            <a:pPr algn="l" marL="164592" indent="-164592">
              <a:lnSpc>
                <a:spcPct val="108000"/>
              </a:lnSpc>
              <a:spcAft>
                <a:spcPts val="500"/>
              </a:spcAft>
              <a:buFont typeface="Arial"/>
              <a:buChar char="•"/>
            </a:pPr>
            <a:r>
              <a:rPr sz="919" b="1" i="0">
                <a:solidFill>
                  <a:srgbClr val="262626"/>
                </a:solidFill>
                <a:latin typeface="Arial"/>
              </a:rPr>
              <a:t>Reprice the top 20</a:t>
            </a:r>
            <a:r>
              <a:rPr sz="919" b="0" i="0">
                <a:solidFill>
                  <a:srgbClr val="262626"/>
                </a:solidFill>
                <a:latin typeface="Arial"/>
              </a:rPr>
              <a:t> onto a per-vehicle model. ~95% incremental margin, zero code.</a:t>
            </a:r>
          </a:p>
          <a:p>
            <a:pPr algn="l" marL="164592" indent="-164592">
              <a:lnSpc>
                <a:spcPct val="108000"/>
              </a:lnSpc>
              <a:spcAft>
                <a:spcPts val="500"/>
              </a:spcAft>
              <a:buFont typeface="Arial"/>
              <a:buChar char="•"/>
            </a:pPr>
            <a:r>
              <a:rPr sz="919" b="1" i="0">
                <a:solidFill>
                  <a:srgbClr val="262626"/>
                </a:solidFill>
                <a:latin typeface="Arial"/>
              </a:rPr>
              <a:t>AI inside the company</a:t>
            </a:r>
            <a:r>
              <a:rPr sz="919" b="0" i="0">
                <a:solidFill>
                  <a:srgbClr val="262626"/>
                </a:solidFill>
                <a:latin typeface="Arial"/>
              </a:rPr>
              <a:t> — support, onboarding, config, QA, coaching prep.</a:t>
            </a:r>
          </a:p>
          <a:p>
            <a:pPr algn="l" marL="164592" indent="-164592">
              <a:lnSpc>
                <a:spcPct val="108000"/>
              </a:lnSpc>
              <a:spcAft>
                <a:spcPts val="500"/>
              </a:spcAft>
              <a:buFont typeface="Arial"/>
              <a:buChar char="•"/>
            </a:pPr>
            <a:r>
              <a:rPr sz="919" b="1" i="0">
                <a:solidFill>
                  <a:srgbClr val="262626"/>
                </a:solidFill>
                <a:latin typeface="Arial"/>
              </a:rPr>
              <a:t>Ship the Analyst</a:t>
            </a:r>
            <a:r>
              <a:rPr sz="919" b="0" i="0">
                <a:solidFill>
                  <a:srgbClr val="262626"/>
                </a:solidFill>
                <a:latin typeface="Arial"/>
              </a:rPr>
              <a:t> — two-week build, two-person pod. Proves the cost thesis.</a:t>
            </a:r>
          </a:p>
          <a:p>
            <a:pPr algn="l" marL="164592" indent="-164592">
              <a:lnSpc>
                <a:spcPct val="108000"/>
              </a:lnSpc>
              <a:spcAft>
                <a:spcPts val="500"/>
              </a:spcAft>
              <a:buFont typeface="Arial"/>
              <a:buChar char="•"/>
            </a:pPr>
            <a:r>
              <a:rPr sz="919" b="1" i="0">
                <a:solidFill>
                  <a:srgbClr val="262626"/>
                </a:solidFill>
                <a:latin typeface="Arial"/>
              </a:rPr>
              <a:t>Instrument the loop</a:t>
            </a:r>
            <a:r>
              <a:rPr sz="919" b="0" i="0">
                <a:solidFill>
                  <a:srgbClr val="262626"/>
                </a:solidFill>
                <a:latin typeface="Arial"/>
              </a:rPr>
              <a:t> — accept / modify / reject + outcome.</a:t>
            </a:r>
          </a:p>
          <a:p>
            <a:pPr algn="l" marL="164592" indent="-164592">
              <a:lnSpc>
                <a:spcPct val="108000"/>
              </a:lnSpc>
              <a:spcAft>
                <a:spcPts val="500"/>
              </a:spcAft>
              <a:buFont typeface="Arial"/>
              <a:buChar char="•"/>
            </a:pPr>
            <a:r>
              <a:rPr sz="919" b="1" i="0">
                <a:solidFill>
                  <a:srgbClr val="262626"/>
                </a:solidFill>
                <a:latin typeface="Arial"/>
              </a:rPr>
              <a:t>Write the coaching methodology</a:t>
            </a:r>
            <a:r>
              <a:rPr sz="919" b="0" i="0">
                <a:solidFill>
                  <a:srgbClr val="262626"/>
                </a:solidFill>
                <a:latin typeface="Arial"/>
              </a:rPr>
              <a:t> as specification — the training corpus.</a:t>
            </a:r>
          </a:p>
        </p:txBody>
      </p:sp>
      <p:sp>
        <p:nvSpPr>
          <p:cNvPr id="14" name="TextBox 13"/>
          <p:cNvSpPr txBox="1"/>
          <p:nvPr/>
        </p:nvSpPr>
        <p:spPr>
          <a:xfrm>
            <a:off x="4050792" y="3218688"/>
            <a:ext cx="274320" cy="457200"/>
          </a:xfrm>
          <a:prstGeom prst="rect">
            <a:avLst/>
          </a:prstGeom>
          <a:noFill/>
        </p:spPr>
        <p:txBody>
          <a:bodyPr wrap="square" lIns="0" tIns="0" rIns="0" bIns="0" anchor="t">
            <a:spAutoFit/>
          </a:bodyPr>
          <a:lstStyle/>
          <a:p>
            <a:pPr algn="ctr">
              <a:spcAft>
                <a:spcPts val="0"/>
              </a:spcAft>
            </a:pPr>
            <a:r>
              <a:rPr sz="1800" b="0" i="0">
                <a:solidFill>
                  <a:srgbClr val="7F7F7F"/>
                </a:solidFill>
                <a:latin typeface="Arial"/>
              </a:rPr>
              <a:t>›</a:t>
            </a:r>
          </a:p>
        </p:txBody>
      </p:sp>
      <p:sp>
        <p:nvSpPr>
          <p:cNvPr id="15" name="Rectangle 14"/>
          <p:cNvSpPr/>
          <p:nvPr/>
        </p:nvSpPr>
        <p:spPr>
          <a:xfrm>
            <a:off x="4279392" y="1527048"/>
            <a:ext cx="3639312" cy="96012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43983" y="1572768"/>
            <a:ext cx="3310128" cy="274320"/>
          </a:xfrm>
          <a:prstGeom prst="rect">
            <a:avLst/>
          </a:prstGeom>
          <a:noFill/>
        </p:spPr>
        <p:txBody>
          <a:bodyPr wrap="square" lIns="0" tIns="0" rIns="0" bIns="0" anchor="t">
            <a:spAutoFit/>
          </a:bodyPr>
          <a:lstStyle/>
          <a:p>
            <a:pPr algn="l">
              <a:spcAft>
                <a:spcPts val="0"/>
              </a:spcAft>
            </a:pPr>
            <a:r>
              <a:rPr sz="800" b="1" i="0">
                <a:solidFill>
                  <a:srgbClr val="99B4FF"/>
                </a:solidFill>
                <a:latin typeface="Arial"/>
              </a:rPr>
              <a:t>HORIZON 2  ·  MONTHS 6–18</a:t>
            </a:r>
          </a:p>
        </p:txBody>
      </p:sp>
      <p:sp>
        <p:nvSpPr>
          <p:cNvPr id="17" name="TextBox 16"/>
          <p:cNvSpPr txBox="1"/>
          <p:nvPr/>
        </p:nvSpPr>
        <p:spPr>
          <a:xfrm>
            <a:off x="4443983" y="1810512"/>
            <a:ext cx="3310128"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Change the object and the buyer</a:t>
            </a:r>
          </a:p>
        </p:txBody>
      </p:sp>
      <p:sp>
        <p:nvSpPr>
          <p:cNvPr id="18" name="TextBox 17"/>
          <p:cNvSpPr txBox="1"/>
          <p:nvPr/>
        </p:nvSpPr>
        <p:spPr>
          <a:xfrm>
            <a:off x="4443983" y="2157984"/>
            <a:ext cx="3310128" cy="301752"/>
          </a:xfrm>
          <a:prstGeom prst="rect">
            <a:avLst/>
          </a:prstGeom>
          <a:noFill/>
        </p:spPr>
        <p:txBody>
          <a:bodyPr wrap="square" lIns="0" tIns="0" rIns="0" bIns="0" anchor="t">
            <a:spAutoFit/>
          </a:bodyPr>
          <a:lstStyle/>
          <a:p>
            <a:pPr algn="l">
              <a:spcAft>
                <a:spcPts val="0"/>
              </a:spcAft>
            </a:pPr>
            <a:r>
              <a:rPr sz="850" b="0" i="0">
                <a:solidFill>
                  <a:srgbClr val="99B4FF"/>
                </a:solidFill>
                <a:latin typeface="Arial"/>
              </a:rPr>
              <a:t>Revenue €1.95M → €3.2M · ACV €16K → €22K</a:t>
            </a:r>
          </a:p>
        </p:txBody>
      </p:sp>
      <p:sp>
        <p:nvSpPr>
          <p:cNvPr id="19" name="Rectangle 18"/>
          <p:cNvSpPr/>
          <p:nvPr/>
        </p:nvSpPr>
        <p:spPr>
          <a:xfrm>
            <a:off x="4279392" y="2487168"/>
            <a:ext cx="3639312" cy="3063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43983" y="2596896"/>
            <a:ext cx="3310128" cy="2926080"/>
          </a:xfrm>
          <a:prstGeom prst="rect">
            <a:avLst/>
          </a:prstGeom>
          <a:noFill/>
        </p:spPr>
        <p:txBody>
          <a:bodyPr wrap="square" lIns="0" tIns="0" rIns="0" bIns="0" anchor="t">
            <a:spAutoFit/>
          </a:bodyPr>
          <a:lstStyle/>
          <a:p>
            <a:pPr algn="l" marL="164592" indent="-164592">
              <a:lnSpc>
                <a:spcPct val="108000"/>
              </a:lnSpc>
              <a:spcAft>
                <a:spcPts val="500"/>
              </a:spcAft>
              <a:buFont typeface="Arial"/>
              <a:buChar char="•"/>
            </a:pPr>
            <a:r>
              <a:rPr sz="919" b="1" i="0">
                <a:solidFill>
                  <a:srgbClr val="262626"/>
                </a:solidFill>
                <a:latin typeface="Arial"/>
              </a:rPr>
              <a:t>Close the residual-data partnership</a:t>
            </a:r>
            <a:r>
              <a:rPr sz="919" b="0" i="0">
                <a:solidFill>
                  <a:srgbClr val="262626"/>
                </a:solidFill>
                <a:latin typeface="Arial"/>
              </a:rPr>
              <a:t> — Indicata or equivalent. Critical path.</a:t>
            </a:r>
          </a:p>
          <a:p>
            <a:pPr algn="l" marL="164592" indent="-164592">
              <a:lnSpc>
                <a:spcPct val="108000"/>
              </a:lnSpc>
              <a:spcAft>
                <a:spcPts val="500"/>
              </a:spcAft>
              <a:buFont typeface="Arial"/>
              <a:buChar char="•"/>
            </a:pPr>
            <a:r>
              <a:rPr sz="919" b="1" i="0">
                <a:solidFill>
                  <a:srgbClr val="262626"/>
                </a:solidFill>
                <a:latin typeface="Arial"/>
              </a:rPr>
              <a:t>Ship the Fleet P&amp;L</a:t>
            </a:r>
            <a:r>
              <a:rPr sz="919" b="0" i="0">
                <a:solidFill>
                  <a:srgbClr val="262626"/>
                </a:solidFill>
                <a:latin typeface="Arial"/>
              </a:rPr>
              <a:t> — the owner's report. Changes the buyer.</a:t>
            </a:r>
          </a:p>
          <a:p>
            <a:pPr algn="l" marL="164592" indent="-164592">
              <a:lnSpc>
                <a:spcPct val="108000"/>
              </a:lnSpc>
              <a:spcAft>
                <a:spcPts val="500"/>
              </a:spcAft>
              <a:buFont typeface="Arial"/>
              <a:buChar char="•"/>
            </a:pPr>
            <a:r>
              <a:rPr sz="919" b="1" i="0">
                <a:solidFill>
                  <a:srgbClr val="262626"/>
                </a:solidFill>
                <a:latin typeface="Arial"/>
              </a:rPr>
              <a:t>Ship the Decision Feed</a:t>
            </a:r>
            <a:r>
              <a:rPr sz="919" b="0" i="0">
                <a:solidFill>
                  <a:srgbClr val="262626"/>
                </a:solidFill>
                <a:latin typeface="Arial"/>
              </a:rPr>
              <a:t> across five levers, guardrailed and logged.</a:t>
            </a:r>
          </a:p>
          <a:p>
            <a:pPr algn="l" marL="164592" indent="-164592">
              <a:lnSpc>
                <a:spcPct val="108000"/>
              </a:lnSpc>
              <a:spcAft>
                <a:spcPts val="500"/>
              </a:spcAft>
              <a:buFont typeface="Arial"/>
              <a:buChar char="•"/>
            </a:pPr>
            <a:r>
              <a:rPr sz="919" b="1" i="0">
                <a:solidFill>
                  <a:srgbClr val="262626"/>
                </a:solidFill>
                <a:latin typeface="Arial"/>
              </a:rPr>
              <a:t>Move the pricing model</a:t>
            </a:r>
            <a:r>
              <a:rPr sz="919" b="0" i="0">
                <a:solidFill>
                  <a:srgbClr val="262626"/>
                </a:solidFill>
                <a:latin typeface="Arial"/>
              </a:rPr>
              <a:t> — base + per-vehicle + outcome-linked where attribution holds.</a:t>
            </a:r>
          </a:p>
          <a:p>
            <a:pPr algn="l" marL="164592" indent="-164592">
              <a:lnSpc>
                <a:spcPct val="108000"/>
              </a:lnSpc>
              <a:spcAft>
                <a:spcPts val="500"/>
              </a:spcAft>
              <a:buFont typeface="Arial"/>
              <a:buChar char="•"/>
            </a:pPr>
            <a:r>
              <a:rPr sz="919" b="1" i="0">
                <a:solidFill>
                  <a:srgbClr val="262626"/>
                </a:solidFill>
                <a:latin typeface="Arial"/>
              </a:rPr>
              <a:t>Hire salespeople 3 and 4</a:t>
            </a:r>
            <a:r>
              <a:rPr sz="919" b="0" i="0">
                <a:solidFill>
                  <a:srgbClr val="262626"/>
                </a:solidFill>
                <a:latin typeface="Arial"/>
              </a:rPr>
              <a:t> — only now, at ~12-month payback.</a:t>
            </a:r>
          </a:p>
        </p:txBody>
      </p:sp>
      <p:sp>
        <p:nvSpPr>
          <p:cNvPr id="21" name="TextBox 20"/>
          <p:cNvSpPr txBox="1"/>
          <p:nvPr/>
        </p:nvSpPr>
        <p:spPr>
          <a:xfrm>
            <a:off x="7872983" y="3218688"/>
            <a:ext cx="274320" cy="457200"/>
          </a:xfrm>
          <a:prstGeom prst="rect">
            <a:avLst/>
          </a:prstGeom>
          <a:noFill/>
        </p:spPr>
        <p:txBody>
          <a:bodyPr wrap="square" lIns="0" tIns="0" rIns="0" bIns="0" anchor="t">
            <a:spAutoFit/>
          </a:bodyPr>
          <a:lstStyle/>
          <a:p>
            <a:pPr algn="ctr">
              <a:spcAft>
                <a:spcPts val="0"/>
              </a:spcAft>
            </a:pPr>
            <a:r>
              <a:rPr sz="1800" b="0" i="0">
                <a:solidFill>
                  <a:srgbClr val="7F7F7F"/>
                </a:solidFill>
                <a:latin typeface="Arial"/>
              </a:rPr>
              <a:t>›</a:t>
            </a:r>
          </a:p>
        </p:txBody>
      </p:sp>
      <p:sp>
        <p:nvSpPr>
          <p:cNvPr id="22" name="Rectangle 21"/>
          <p:cNvSpPr/>
          <p:nvPr/>
        </p:nvSpPr>
        <p:spPr>
          <a:xfrm>
            <a:off x="8101583" y="1527048"/>
            <a:ext cx="3639312" cy="9601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66175" y="1572768"/>
            <a:ext cx="3310128" cy="274320"/>
          </a:xfrm>
          <a:prstGeom prst="rect">
            <a:avLst/>
          </a:prstGeom>
          <a:noFill/>
        </p:spPr>
        <p:txBody>
          <a:bodyPr wrap="square" lIns="0" tIns="0" rIns="0" bIns="0" anchor="t">
            <a:spAutoFit/>
          </a:bodyPr>
          <a:lstStyle/>
          <a:p>
            <a:pPr algn="l">
              <a:spcAft>
                <a:spcPts val="0"/>
              </a:spcAft>
            </a:pPr>
            <a:r>
              <a:rPr sz="800" b="1" i="0">
                <a:solidFill>
                  <a:srgbClr val="99B4FF"/>
                </a:solidFill>
                <a:latin typeface="Arial"/>
              </a:rPr>
              <a:t>HORIZON 3  ·  MONTHS 18–36</a:t>
            </a:r>
          </a:p>
        </p:txBody>
      </p:sp>
      <p:sp>
        <p:nvSpPr>
          <p:cNvPr id="24" name="TextBox 23"/>
          <p:cNvSpPr txBox="1"/>
          <p:nvPr/>
        </p:nvSpPr>
        <p:spPr>
          <a:xfrm>
            <a:off x="8266175" y="1810512"/>
            <a:ext cx="3310128" cy="365760"/>
          </a:xfrm>
          <a:prstGeom prst="rect">
            <a:avLst/>
          </a:prstGeom>
          <a:noFill/>
        </p:spPr>
        <p:txBody>
          <a:bodyPr wrap="square" lIns="0" tIns="0" rIns="0" bIns="0" anchor="t">
            <a:spAutoFit/>
          </a:bodyPr>
          <a:lstStyle/>
          <a:p>
            <a:pPr algn="l">
              <a:spcAft>
                <a:spcPts val="0"/>
              </a:spcAft>
            </a:pPr>
            <a:r>
              <a:rPr sz="1300" b="0" i="0">
                <a:solidFill>
                  <a:srgbClr val="FFFFFF"/>
                </a:solidFill>
                <a:latin typeface="Georgia"/>
              </a:rPr>
              <a:t>Compound the data</a:t>
            </a:r>
          </a:p>
        </p:txBody>
      </p:sp>
      <p:sp>
        <p:nvSpPr>
          <p:cNvPr id="25" name="TextBox 24"/>
          <p:cNvSpPr txBox="1"/>
          <p:nvPr/>
        </p:nvSpPr>
        <p:spPr>
          <a:xfrm>
            <a:off x="8266175" y="2157984"/>
            <a:ext cx="3310128" cy="301752"/>
          </a:xfrm>
          <a:prstGeom prst="rect">
            <a:avLst/>
          </a:prstGeom>
          <a:noFill/>
        </p:spPr>
        <p:txBody>
          <a:bodyPr wrap="square" lIns="0" tIns="0" rIns="0" bIns="0" anchor="t">
            <a:spAutoFit/>
          </a:bodyPr>
          <a:lstStyle/>
          <a:p>
            <a:pPr algn="l">
              <a:spcAft>
                <a:spcPts val="0"/>
              </a:spcAft>
            </a:pPr>
            <a:r>
              <a:rPr sz="850" b="0" i="0">
                <a:solidFill>
                  <a:srgbClr val="99B4FF"/>
                </a:solidFill>
                <a:latin typeface="Arial"/>
              </a:rPr>
              <a:t>Revenue ~€4.8M at 30%+ EBITDA · a genuine strategic option</a:t>
            </a:r>
          </a:p>
        </p:txBody>
      </p:sp>
      <p:sp>
        <p:nvSpPr>
          <p:cNvPr id="26" name="Rectangle 25"/>
          <p:cNvSpPr/>
          <p:nvPr/>
        </p:nvSpPr>
        <p:spPr>
          <a:xfrm>
            <a:off x="8101583" y="2487168"/>
            <a:ext cx="3639312" cy="3063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66175" y="2596896"/>
            <a:ext cx="3310128" cy="2926080"/>
          </a:xfrm>
          <a:prstGeom prst="rect">
            <a:avLst/>
          </a:prstGeom>
          <a:noFill/>
        </p:spPr>
        <p:txBody>
          <a:bodyPr wrap="square" lIns="0" tIns="0" rIns="0" bIns="0" anchor="t">
            <a:spAutoFit/>
          </a:bodyPr>
          <a:lstStyle/>
          <a:p>
            <a:pPr algn="l" marL="164592" indent="-164592">
              <a:lnSpc>
                <a:spcPct val="108000"/>
              </a:lnSpc>
              <a:spcAft>
                <a:spcPts val="500"/>
              </a:spcAft>
              <a:buFont typeface="Arial"/>
              <a:buChar char="•"/>
            </a:pPr>
            <a:r>
              <a:rPr sz="919" b="1" i="0">
                <a:solidFill>
                  <a:srgbClr val="262626"/>
                </a:solidFill>
                <a:latin typeface="Arial"/>
              </a:rPr>
              <a:t>Cross-tenant benchmarking as a product</a:t>
            </a:r>
            <a:r>
              <a:rPr sz="919" b="0" i="0">
                <a:solidFill>
                  <a:srgbClr val="262626"/>
                </a:solidFill>
                <a:latin typeface="Arial"/>
              </a:rPr>
              <a:t> — “comparable operators are holding rates 4% above you into half-term.”</a:t>
            </a:r>
          </a:p>
          <a:p>
            <a:pPr algn="l" marL="164592" indent="-164592">
              <a:lnSpc>
                <a:spcPct val="108000"/>
              </a:lnSpc>
              <a:spcAft>
                <a:spcPts val="500"/>
              </a:spcAft>
              <a:buFont typeface="Arial"/>
              <a:buChar char="•"/>
            </a:pPr>
            <a:r>
              <a:rPr sz="919" b="1" i="0">
                <a:solidFill>
                  <a:srgbClr val="262626"/>
                </a:solidFill>
                <a:latin typeface="Arial"/>
              </a:rPr>
              <a:t>Answer-layer monitoring</a:t>
            </a:r>
            <a:r>
              <a:rPr sz="919" b="0" i="0">
                <a:solidFill>
                  <a:srgbClr val="262626"/>
                </a:solidFill>
                <a:latin typeface="Arial"/>
              </a:rPr>
              <a:t> — does your customer appear in the AI assistants, at what rate, in what class, still bookable? Nobody sells this.</a:t>
            </a:r>
          </a:p>
          <a:p>
            <a:pPr algn="l" marL="164592" indent="-164592">
              <a:lnSpc>
                <a:spcPct val="108000"/>
              </a:lnSpc>
              <a:spcAft>
                <a:spcPts val="500"/>
              </a:spcAft>
              <a:buFont typeface="Arial"/>
              <a:buChar char="•"/>
            </a:pPr>
            <a:r>
              <a:rPr sz="919" b="1" i="0">
                <a:solidFill>
                  <a:srgbClr val="262626"/>
                </a:solidFill>
                <a:latin typeface="Arial"/>
              </a:rPr>
              <a:t>Re-scope the coach</a:t>
            </a:r>
            <a:r>
              <a:rPr sz="919" b="0" i="0">
                <a:solidFill>
                  <a:srgbClr val="262626"/>
                </a:solidFill>
                <a:latin typeface="Arial"/>
              </a:rPr>
              <a:t> from analyst to supervisor of agents across 5× the accounts — the gross-margin unlock.</a:t>
            </a:r>
          </a:p>
        </p:txBody>
      </p:sp>
      <p:sp>
        <p:nvSpPr>
          <p:cNvPr id="28" name="Rectangle 27"/>
          <p:cNvSpPr/>
          <p:nvPr/>
        </p:nvSpPr>
        <p:spPr>
          <a:xfrm>
            <a:off x="457200" y="5641848"/>
            <a:ext cx="11277295" cy="4114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 y="5641848"/>
            <a:ext cx="10911535" cy="411480"/>
          </a:xfrm>
          <a:prstGeom prst="rect">
            <a:avLst/>
          </a:prstGeom>
          <a:noFill/>
        </p:spPr>
        <p:txBody>
          <a:bodyPr wrap="square" lIns="0" tIns="0" rIns="0" bIns="0" anchor="ctr">
            <a:spAutoFit/>
          </a:bodyPr>
          <a:lstStyle/>
          <a:p>
            <a:pPr algn="l">
              <a:spcAft>
                <a:spcPts val="0"/>
              </a:spcAft>
            </a:pPr>
            <a:r>
              <a:rPr sz="950" b="0" i="0">
                <a:solidFill>
                  <a:srgbClr val="FFFFFF"/>
                </a:solidFill>
                <a:latin typeface="Arial"/>
              </a:rPr>
              <a:t>Sequence: Price → Cost → Sell → Build.   Q1 repricing and cost-to-serve fund the Q2 pod; the pod's savings fund the Q3–Q4 hires; the hires fund Year 2. Emmanuel never has to ask anyone for money.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Headcount grows 9 → 16 while revenue triples — the decoupling comes from not hiring, never from cutting</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4 · THE PLAN</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current function split (~5 product/engineering, 2 sales, 2 other) is inferred from the reported 9 employees and 2 salespeople and must be confirmed. Target shape aligns to the illustrative Year-3 plan on slide 17.</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16</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457200" y="1527048"/>
          <a:ext cx="7498080" cy="3785616"/>
        </p:xfrm>
        <a:graphic>
          <a:graphicData uri="http://schemas.openxmlformats.org/drawingml/2006/table">
            <a:tbl>
              <a:tblPr firstRow="0" bandRow="0">
                <a:tableStyleId>{2D5ABB26-0587-4C30-8999-92F81FD0307C}</a:tableStyleId>
              </a:tblPr>
              <a:tblGrid>
                <a:gridCol w="1737360"/>
                <a:gridCol w="2103120"/>
                <a:gridCol w="3657600"/>
              </a:tblGrid>
              <a:tr h="384048">
                <a:tc>
                  <a:txBody>
                    <a:bodyPr wrap="square"/>
                    <a:lstStyle/>
                    <a:p>
                      <a:r>
                        <a:rPr sz="950" b="1" i="0">
                          <a:solidFill>
                            <a:srgbClr val="FFFFFF"/>
                          </a:solidFill>
                          <a:latin typeface="Arial"/>
                        </a:rPr>
                        <a:t>Function</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Today</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Target (Year 3)</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566928">
                <a:tc>
                  <a:txBody>
                    <a:bodyPr wrap="square"/>
                    <a:lstStyle/>
                    <a:p>
                      <a:r>
                        <a:rPr sz="950" b="1" i="0">
                          <a:solidFill>
                            <a:srgbClr val="262626"/>
                          </a:solidFill>
                          <a:latin typeface="Arial"/>
                        </a:rPr>
                        <a:t>Product / engineering</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~5, building features with unproven ROI</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3–4 on integrations, data pipeline and the numeric core — the part never rewritten, and the highest-skill work in the company</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AI-native pod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2–3 forward-deployed engineers owning interface, agents and onboarding</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Sales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2</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4–5 — hired only once ACV supports a ~12-month payback</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Coaching</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Analysts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Fleet advisors supervising agents across 5× the accounts</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Data partnerships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1 — owns Indicata, IATA, and the benchmark product</a:t>
                      </a:r>
                    </a:p>
                  </a:txBody>
                  <a:tcPr marL="54864" marR="54864" marT="41148" marB="41148" anchor="t">
                    <a:lnL w="0">
                      <a:noFill/>
                    </a:lnL>
                    <a:lnR w="0">
                      <a:noFill/>
                    </a:lnR>
                    <a:lnT w="0">
                      <a:noFill/>
                    </a:lnT>
                    <a:lnB w="9525" cap="flat" cmpd="sng" algn="ctr">
                      <a:solidFill>
                        <a:srgbClr val="D9D9D9"/>
                      </a:solidFill>
                      <a:prstDash val="solid"/>
                    </a:lnB>
                    <a:noFill/>
                  </a:tcPr>
                </a:tc>
              </a:tr>
              <a:tr h="566928">
                <a:tc>
                  <a:txBody>
                    <a:bodyPr wrap="square"/>
                    <a:lstStyle/>
                    <a:p>
                      <a:r>
                        <a:rPr sz="950" b="1" i="0">
                          <a:solidFill>
                            <a:srgbClr val="262626"/>
                          </a:solidFill>
                          <a:latin typeface="Arial"/>
                        </a:rPr>
                        <a:t>Total</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262626"/>
                          </a:solidFill>
                          <a:latin typeface="Arial"/>
                        </a:rPr>
                        <a:t>9</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262626"/>
                          </a:solidFill>
                          <a:latin typeface="Arial"/>
                        </a:rPr>
                        <a:t>~16</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
        <p:nvSpPr>
          <p:cNvPr id="9" name="Rectangle 8"/>
          <p:cNvSpPr/>
          <p:nvPr/>
        </p:nvSpPr>
        <p:spPr>
          <a:xfrm>
            <a:off x="8183879" y="1527048"/>
            <a:ext cx="3547872" cy="228600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183879" y="1527048"/>
            <a:ext cx="54864" cy="22860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66759" y="1655064"/>
            <a:ext cx="3236976" cy="2066543"/>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French constraint — raise it before he does</a:t>
            </a:r>
          </a:p>
          <a:p>
            <a:pPr algn="l">
              <a:lnSpc>
                <a:spcPct val="110000"/>
              </a:lnSpc>
              <a:spcAft>
                <a:spcPts val="500"/>
              </a:spcAft>
            </a:pPr>
            <a:r>
              <a:rPr sz="950" b="0" i="0">
                <a:solidFill>
                  <a:srgbClr val="262626"/>
                </a:solidFill>
                <a:latin typeface="Arial"/>
              </a:rPr>
              <a:t>Five engineers cannot simply be cut. </a:t>
            </a:r>
            <a:r>
              <a:rPr sz="950" b="0" i="1">
                <a:solidFill>
                  <a:srgbClr val="262626"/>
                </a:solidFill>
                <a:latin typeface="Arial"/>
              </a:rPr>
              <a:t>Licenciement économique</a:t>
            </a:r>
            <a:r>
              <a:rPr sz="950" b="0" i="0">
                <a:solidFill>
                  <a:srgbClr val="262626"/>
                </a:solidFill>
                <a:latin typeface="Arial"/>
              </a:rPr>
              <a:t> is slow, expensive, needs documented justification, and signals distress to customers and acquirers alike.</a:t>
            </a:r>
          </a:p>
          <a:p>
            <a:pPr algn="l">
              <a:lnSpc>
                <a:spcPct val="110000"/>
              </a:lnSpc>
              <a:spcAft>
                <a:spcPts val="500"/>
              </a:spcAft>
            </a:pPr>
            <a:r>
              <a:rPr sz="950" b="0" i="0">
                <a:solidFill>
                  <a:srgbClr val="262626"/>
                </a:solidFill>
                <a:latin typeface="Arial"/>
              </a:rPr>
              <a:t>So the cost decoupling comes from </a:t>
            </a:r>
            <a:r>
              <a:rPr sz="950" b="1" i="0">
                <a:solidFill>
                  <a:srgbClr val="262626"/>
                </a:solidFill>
                <a:latin typeface="Arial"/>
              </a:rPr>
              <a:t>not hiring</a:t>
            </a:r>
            <a:r>
              <a:rPr sz="950" b="0" i="0">
                <a:solidFill>
                  <a:srgbClr val="262626"/>
                </a:solidFill>
                <a:latin typeface="Arial"/>
              </a:rPr>
              <a:t>. The nine stay; the next nine are never hired; the work doubles.</a:t>
            </a:r>
          </a:p>
        </p:txBody>
      </p:sp>
      <p:sp>
        <p:nvSpPr>
          <p:cNvPr id="12" name="Rectangle 11"/>
          <p:cNvSpPr/>
          <p:nvPr/>
        </p:nvSpPr>
        <p:spPr>
          <a:xfrm>
            <a:off x="8183879" y="3950208"/>
            <a:ext cx="3547872" cy="210312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6760" y="4059935"/>
            <a:ext cx="3200400" cy="274320"/>
          </a:xfrm>
          <a:prstGeom prst="rect">
            <a:avLst/>
          </a:prstGeom>
          <a:noFill/>
        </p:spPr>
        <p:txBody>
          <a:bodyPr wrap="square" lIns="0" tIns="0" rIns="0" bIns="0" anchor="t">
            <a:spAutoFit/>
          </a:bodyPr>
          <a:lstStyle/>
          <a:p>
            <a:pPr algn="l">
              <a:spcAft>
                <a:spcPts val="0"/>
              </a:spcAft>
            </a:pPr>
            <a:r>
              <a:rPr sz="900" b="1" i="0">
                <a:solidFill>
                  <a:srgbClr val="99B4FF"/>
                </a:solidFill>
                <a:latin typeface="Arial"/>
              </a:rPr>
              <a:t>The framing that is also true</a:t>
            </a:r>
          </a:p>
        </p:txBody>
      </p:sp>
      <p:sp>
        <p:nvSpPr>
          <p:cNvPr id="14" name="TextBox 13"/>
          <p:cNvSpPr txBox="1"/>
          <p:nvPr/>
        </p:nvSpPr>
        <p:spPr>
          <a:xfrm>
            <a:off x="8366760" y="4361688"/>
            <a:ext cx="3200400" cy="1645920"/>
          </a:xfrm>
          <a:prstGeom prst="rect">
            <a:avLst/>
          </a:prstGeom>
          <a:noFill/>
        </p:spPr>
        <p:txBody>
          <a:bodyPr wrap="square" lIns="0" tIns="0" rIns="0" bIns="0" anchor="t">
            <a:spAutoFit/>
          </a:bodyPr>
          <a:lstStyle/>
          <a:p>
            <a:pPr algn="l">
              <a:lnSpc>
                <a:spcPct val="110000"/>
              </a:lnSpc>
              <a:spcAft>
                <a:spcPts val="800"/>
              </a:spcAft>
            </a:pPr>
            <a:r>
              <a:rPr sz="1250" b="0" i="0">
                <a:solidFill>
                  <a:srgbClr val="FFFFFF"/>
                </a:solidFill>
                <a:latin typeface="Georgia"/>
              </a:rPr>
              <a:t>“The engineers are not the problem. They are on the wrong side of the line. Move them onto the moat.”</a:t>
            </a:r>
          </a:p>
          <a:p>
            <a:pPr algn="l">
              <a:lnSpc>
                <a:spcPct val="110000"/>
              </a:lnSpc>
              <a:spcAft>
                <a:spcPts val="400"/>
              </a:spcAft>
            </a:pPr>
            <a:r>
              <a:rPr sz="900" b="0" i="0">
                <a:solidFill>
                  <a:srgbClr val="99B4FF"/>
                </a:solidFill>
                <a:latin typeface="Arial"/>
              </a:rPr>
              <a:t>WeYield stops being a company that ships features and becomes a company that ships decisions: </a:t>
            </a:r>
            <a:r>
              <a:rPr sz="900" b="0" i="1">
                <a:solidFill>
                  <a:srgbClr val="99B4FF"/>
                </a:solidFill>
                <a:latin typeface="Arial"/>
              </a:rPr>
              <a:t>we recommended Y, the customer accepted it, and it was worth €Z.</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Illustrative three-year shape — revenue ×3.2, EBITDA to ~31%, and a valuation of €19–24M against ~€2M today</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5 · ECONOMICS AND RISK</a:t>
            </a:r>
          </a:p>
        </p:txBody>
      </p:sp>
      <p:sp>
        <p:nvSpPr>
          <p:cNvPr id="5" name="Rounded Rectangle 4"/>
          <p:cNvSpPr/>
          <p:nvPr/>
        </p:nvSpPr>
        <p:spPr>
          <a:xfrm>
            <a:off x="10543032" y="475488"/>
            <a:ext cx="1188720" cy="246888"/>
          </a:xfrm>
          <a:prstGeom prst="roundRect">
            <a:avLst>
              <a:gd name="adj" fmla="val 12000"/>
            </a:avLst>
          </a:prstGeom>
          <a:noFill/>
          <a:ln w="9525">
            <a:solidFill>
              <a:srgbClr val="051C2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750" b="1" i="0">
                <a:solidFill>
                  <a:srgbClr val="051C2C"/>
                </a:solidFill>
                <a:latin typeface="Arial"/>
              </a:rPr>
              <a:t>ILLUSTRATIVE</a:t>
            </a:r>
          </a:p>
        </p:txBody>
      </p:sp>
      <p:sp>
        <p:nvSpPr>
          <p:cNvPr id="6" name="TextBox 5"/>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Assumptions, not verified: cost base ~€1.4M; people ~€1.0–1.05M; ~5 of 9 heads in engineering; top-20 accounts ≈ 50% of revenue; per-vehicle repricing on renewal; fleet module attach at 30 of the top accounts in Y2. Valuation multiple indicative for vertical SaaS above Rule of 40. Do not circulate externally in this form.</a:t>
            </a:r>
          </a:p>
        </p:txBody>
      </p:sp>
      <p:sp>
        <p:nvSpPr>
          <p:cNvPr id="7" name="TextBox 6"/>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17</a:t>
            </a:r>
          </a:p>
        </p:txBody>
      </p:sp>
      <p:cxnSp>
        <p:nvCxnSpPr>
          <p:cNvPr id="8" name="Connector 7"/>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7200" y="1481328"/>
            <a:ext cx="585216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Revenue, €M — with EBITDA margin</a:t>
            </a:r>
          </a:p>
        </p:txBody>
      </p:sp>
      <p:cxnSp>
        <p:nvCxnSpPr>
          <p:cNvPr id="10" name="Connector 9"/>
          <p:cNvCxnSpPr/>
          <p:nvPr/>
        </p:nvCxnSpPr>
        <p:spPr>
          <a:xfrm>
            <a:off x="457200" y="5413248"/>
            <a:ext cx="5852160"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08329" y="4568244"/>
            <a:ext cx="760780" cy="845003"/>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4009" y="4239060"/>
            <a:ext cx="1309420" cy="292608"/>
          </a:xfrm>
          <a:prstGeom prst="rect">
            <a:avLst/>
          </a:prstGeom>
          <a:noFill/>
        </p:spPr>
        <p:txBody>
          <a:bodyPr wrap="square" lIns="0" tIns="0" rIns="0" bIns="0" anchor="b">
            <a:spAutoFit/>
          </a:bodyPr>
          <a:lstStyle/>
          <a:p>
            <a:pPr algn="ctr">
              <a:spcAft>
                <a:spcPts val="0"/>
              </a:spcAft>
            </a:pPr>
            <a:r>
              <a:rPr sz="1200" b="1" i="0">
                <a:solidFill>
                  <a:srgbClr val="051C2C"/>
                </a:solidFill>
                <a:latin typeface="Arial"/>
              </a:rPr>
              <a:t>€1.5M</a:t>
            </a:r>
          </a:p>
        </p:txBody>
      </p:sp>
      <p:sp>
        <p:nvSpPr>
          <p:cNvPr id="13" name="TextBox 12"/>
          <p:cNvSpPr txBox="1"/>
          <p:nvPr/>
        </p:nvSpPr>
        <p:spPr>
          <a:xfrm>
            <a:off x="534009" y="3964740"/>
            <a:ext cx="1309420" cy="274320"/>
          </a:xfrm>
          <a:prstGeom prst="rect">
            <a:avLst/>
          </a:prstGeom>
          <a:noFill/>
        </p:spPr>
        <p:txBody>
          <a:bodyPr wrap="square" lIns="0" tIns="0" rIns="0" bIns="0" anchor="b">
            <a:spAutoFit/>
          </a:bodyPr>
          <a:lstStyle/>
          <a:p>
            <a:pPr algn="ctr">
              <a:spcAft>
                <a:spcPts val="0"/>
              </a:spcAft>
            </a:pPr>
            <a:r>
              <a:rPr sz="900" b="1" i="0">
                <a:solidFill>
                  <a:srgbClr val="2251FF"/>
                </a:solidFill>
                <a:latin typeface="Arial"/>
              </a:rPr>
              <a:t>~0% EBITDA</a:t>
            </a:r>
          </a:p>
        </p:txBody>
      </p:sp>
      <p:sp>
        <p:nvSpPr>
          <p:cNvPr id="14" name="TextBox 13"/>
          <p:cNvSpPr txBox="1"/>
          <p:nvPr/>
        </p:nvSpPr>
        <p:spPr>
          <a:xfrm>
            <a:off x="457200" y="5468112"/>
            <a:ext cx="1463040" cy="402336"/>
          </a:xfrm>
          <a:prstGeom prst="rect">
            <a:avLst/>
          </a:prstGeom>
          <a:noFill/>
        </p:spPr>
        <p:txBody>
          <a:bodyPr wrap="square" lIns="0" tIns="0" rIns="0" bIns="0" anchor="t">
            <a:spAutoFit/>
          </a:bodyPr>
          <a:lstStyle/>
          <a:p>
            <a:pPr algn="ctr">
              <a:lnSpc>
                <a:spcPct val="100000"/>
              </a:lnSpc>
              <a:spcAft>
                <a:spcPts val="0"/>
              </a:spcAft>
            </a:pPr>
            <a:r>
              <a:rPr sz="1000" b="0" i="0">
                <a:solidFill>
                  <a:srgbClr val="262626"/>
                </a:solidFill>
                <a:latin typeface="Arial"/>
              </a:rPr>
              <a:t>Today</a:t>
            </a:r>
          </a:p>
        </p:txBody>
      </p:sp>
      <p:sp>
        <p:nvSpPr>
          <p:cNvPr id="15" name="Rectangle 14"/>
          <p:cNvSpPr/>
          <p:nvPr/>
        </p:nvSpPr>
        <p:spPr>
          <a:xfrm>
            <a:off x="2271369" y="4314743"/>
            <a:ext cx="760780" cy="1098504"/>
          </a:xfrm>
          <a:prstGeom prst="rect">
            <a:avLst/>
          </a:prstGeom>
          <a:solidFill>
            <a:srgbClr val="99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997049" y="3985559"/>
            <a:ext cx="1309420" cy="292608"/>
          </a:xfrm>
          <a:prstGeom prst="rect">
            <a:avLst/>
          </a:prstGeom>
          <a:noFill/>
        </p:spPr>
        <p:txBody>
          <a:bodyPr wrap="square" lIns="0" tIns="0" rIns="0" bIns="0" anchor="b">
            <a:spAutoFit/>
          </a:bodyPr>
          <a:lstStyle/>
          <a:p>
            <a:pPr algn="ctr">
              <a:spcAft>
                <a:spcPts val="0"/>
              </a:spcAft>
            </a:pPr>
            <a:r>
              <a:rPr sz="1200" b="1" i="0">
                <a:solidFill>
                  <a:srgbClr val="051C2C"/>
                </a:solidFill>
                <a:latin typeface="Arial"/>
              </a:rPr>
              <a:t>€1.95M</a:t>
            </a:r>
          </a:p>
        </p:txBody>
      </p:sp>
      <p:sp>
        <p:nvSpPr>
          <p:cNvPr id="17" name="TextBox 16"/>
          <p:cNvSpPr txBox="1"/>
          <p:nvPr/>
        </p:nvSpPr>
        <p:spPr>
          <a:xfrm>
            <a:off x="1997049" y="3711239"/>
            <a:ext cx="1309420" cy="274320"/>
          </a:xfrm>
          <a:prstGeom prst="rect">
            <a:avLst/>
          </a:prstGeom>
          <a:noFill/>
        </p:spPr>
        <p:txBody>
          <a:bodyPr wrap="square" lIns="0" tIns="0" rIns="0" bIns="0" anchor="b">
            <a:spAutoFit/>
          </a:bodyPr>
          <a:lstStyle/>
          <a:p>
            <a:pPr algn="ctr">
              <a:spcAft>
                <a:spcPts val="0"/>
              </a:spcAft>
            </a:pPr>
            <a:r>
              <a:rPr sz="900" b="1" i="0">
                <a:solidFill>
                  <a:srgbClr val="2251FF"/>
                </a:solidFill>
                <a:latin typeface="Arial"/>
              </a:rPr>
              <a:t>~26%</a:t>
            </a:r>
          </a:p>
        </p:txBody>
      </p:sp>
      <p:sp>
        <p:nvSpPr>
          <p:cNvPr id="18" name="TextBox 17"/>
          <p:cNvSpPr txBox="1"/>
          <p:nvPr/>
        </p:nvSpPr>
        <p:spPr>
          <a:xfrm>
            <a:off x="1920240" y="5468112"/>
            <a:ext cx="1463040" cy="402336"/>
          </a:xfrm>
          <a:prstGeom prst="rect">
            <a:avLst/>
          </a:prstGeom>
          <a:noFill/>
        </p:spPr>
        <p:txBody>
          <a:bodyPr wrap="square" lIns="0" tIns="0" rIns="0" bIns="0" anchor="t">
            <a:spAutoFit/>
          </a:bodyPr>
          <a:lstStyle/>
          <a:p>
            <a:pPr algn="ctr">
              <a:lnSpc>
                <a:spcPct val="100000"/>
              </a:lnSpc>
              <a:spcAft>
                <a:spcPts val="0"/>
              </a:spcAft>
            </a:pPr>
            <a:r>
              <a:rPr sz="1000" b="0" i="0">
                <a:solidFill>
                  <a:srgbClr val="262626"/>
                </a:solidFill>
                <a:latin typeface="Arial"/>
              </a:rPr>
              <a:t>Year 1</a:t>
            </a:r>
          </a:p>
        </p:txBody>
      </p:sp>
      <p:sp>
        <p:nvSpPr>
          <p:cNvPr id="19" name="Rectangle 18"/>
          <p:cNvSpPr/>
          <p:nvPr/>
        </p:nvSpPr>
        <p:spPr>
          <a:xfrm>
            <a:off x="3734409" y="3610573"/>
            <a:ext cx="760780" cy="1802674"/>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60089" y="3281389"/>
            <a:ext cx="1309420" cy="292608"/>
          </a:xfrm>
          <a:prstGeom prst="rect">
            <a:avLst/>
          </a:prstGeom>
          <a:noFill/>
        </p:spPr>
        <p:txBody>
          <a:bodyPr wrap="square" lIns="0" tIns="0" rIns="0" bIns="0" anchor="b">
            <a:spAutoFit/>
          </a:bodyPr>
          <a:lstStyle/>
          <a:p>
            <a:pPr algn="ctr">
              <a:spcAft>
                <a:spcPts val="0"/>
              </a:spcAft>
            </a:pPr>
            <a:r>
              <a:rPr sz="1200" b="1" i="0">
                <a:solidFill>
                  <a:srgbClr val="051C2C"/>
                </a:solidFill>
                <a:latin typeface="Arial"/>
              </a:rPr>
              <a:t>€3.2M</a:t>
            </a:r>
          </a:p>
        </p:txBody>
      </p:sp>
      <p:sp>
        <p:nvSpPr>
          <p:cNvPr id="21" name="TextBox 20"/>
          <p:cNvSpPr txBox="1"/>
          <p:nvPr/>
        </p:nvSpPr>
        <p:spPr>
          <a:xfrm>
            <a:off x="3460089" y="3007069"/>
            <a:ext cx="1309420" cy="274320"/>
          </a:xfrm>
          <a:prstGeom prst="rect">
            <a:avLst/>
          </a:prstGeom>
          <a:noFill/>
        </p:spPr>
        <p:txBody>
          <a:bodyPr wrap="square" lIns="0" tIns="0" rIns="0" bIns="0" anchor="b">
            <a:spAutoFit/>
          </a:bodyPr>
          <a:lstStyle/>
          <a:p>
            <a:pPr algn="ctr">
              <a:spcAft>
                <a:spcPts val="0"/>
              </a:spcAft>
            </a:pPr>
            <a:r>
              <a:rPr sz="900" b="1" i="0">
                <a:solidFill>
                  <a:srgbClr val="2251FF"/>
                </a:solidFill>
                <a:latin typeface="Arial"/>
              </a:rPr>
              <a:t>~28%</a:t>
            </a:r>
          </a:p>
        </p:txBody>
      </p:sp>
      <p:sp>
        <p:nvSpPr>
          <p:cNvPr id="22" name="TextBox 21"/>
          <p:cNvSpPr txBox="1"/>
          <p:nvPr/>
        </p:nvSpPr>
        <p:spPr>
          <a:xfrm>
            <a:off x="3383280" y="5468112"/>
            <a:ext cx="1463040" cy="402336"/>
          </a:xfrm>
          <a:prstGeom prst="rect">
            <a:avLst/>
          </a:prstGeom>
          <a:noFill/>
        </p:spPr>
        <p:txBody>
          <a:bodyPr wrap="square" lIns="0" tIns="0" rIns="0" bIns="0" anchor="t">
            <a:spAutoFit/>
          </a:bodyPr>
          <a:lstStyle/>
          <a:p>
            <a:pPr algn="ctr">
              <a:lnSpc>
                <a:spcPct val="100000"/>
              </a:lnSpc>
              <a:spcAft>
                <a:spcPts val="0"/>
              </a:spcAft>
            </a:pPr>
            <a:r>
              <a:rPr sz="1000" b="0" i="0">
                <a:solidFill>
                  <a:srgbClr val="262626"/>
                </a:solidFill>
                <a:latin typeface="Arial"/>
              </a:rPr>
              <a:t>Year 2</a:t>
            </a:r>
          </a:p>
        </p:txBody>
      </p:sp>
      <p:sp>
        <p:nvSpPr>
          <p:cNvPr id="23" name="Rectangle 22"/>
          <p:cNvSpPr/>
          <p:nvPr/>
        </p:nvSpPr>
        <p:spPr>
          <a:xfrm>
            <a:off x="5197449" y="2709236"/>
            <a:ext cx="760780" cy="2704011"/>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23129" y="2380052"/>
            <a:ext cx="1309420" cy="292608"/>
          </a:xfrm>
          <a:prstGeom prst="rect">
            <a:avLst/>
          </a:prstGeom>
          <a:noFill/>
        </p:spPr>
        <p:txBody>
          <a:bodyPr wrap="square" lIns="0" tIns="0" rIns="0" bIns="0" anchor="b">
            <a:spAutoFit/>
          </a:bodyPr>
          <a:lstStyle/>
          <a:p>
            <a:pPr algn="ctr">
              <a:spcAft>
                <a:spcPts val="0"/>
              </a:spcAft>
            </a:pPr>
            <a:r>
              <a:rPr sz="1200" b="1" i="0">
                <a:solidFill>
                  <a:srgbClr val="051C2C"/>
                </a:solidFill>
                <a:latin typeface="Arial"/>
              </a:rPr>
              <a:t>€4.8M</a:t>
            </a:r>
          </a:p>
        </p:txBody>
      </p:sp>
      <p:sp>
        <p:nvSpPr>
          <p:cNvPr id="25" name="TextBox 24"/>
          <p:cNvSpPr txBox="1"/>
          <p:nvPr/>
        </p:nvSpPr>
        <p:spPr>
          <a:xfrm>
            <a:off x="4923129" y="2105732"/>
            <a:ext cx="1309420" cy="274320"/>
          </a:xfrm>
          <a:prstGeom prst="rect">
            <a:avLst/>
          </a:prstGeom>
          <a:noFill/>
        </p:spPr>
        <p:txBody>
          <a:bodyPr wrap="square" lIns="0" tIns="0" rIns="0" bIns="0" anchor="b">
            <a:spAutoFit/>
          </a:bodyPr>
          <a:lstStyle/>
          <a:p>
            <a:pPr algn="ctr">
              <a:spcAft>
                <a:spcPts val="0"/>
              </a:spcAft>
            </a:pPr>
            <a:r>
              <a:rPr sz="900" b="1" i="0">
                <a:solidFill>
                  <a:srgbClr val="2251FF"/>
                </a:solidFill>
                <a:latin typeface="Arial"/>
              </a:rPr>
              <a:t>~31%</a:t>
            </a:r>
          </a:p>
        </p:txBody>
      </p:sp>
      <p:sp>
        <p:nvSpPr>
          <p:cNvPr id="26" name="TextBox 25"/>
          <p:cNvSpPr txBox="1"/>
          <p:nvPr/>
        </p:nvSpPr>
        <p:spPr>
          <a:xfrm>
            <a:off x="4846320" y="5468112"/>
            <a:ext cx="1463040" cy="402336"/>
          </a:xfrm>
          <a:prstGeom prst="rect">
            <a:avLst/>
          </a:prstGeom>
          <a:noFill/>
        </p:spPr>
        <p:txBody>
          <a:bodyPr wrap="square" lIns="0" tIns="0" rIns="0" bIns="0" anchor="t">
            <a:spAutoFit/>
          </a:bodyPr>
          <a:lstStyle/>
          <a:p>
            <a:pPr algn="ctr">
              <a:lnSpc>
                <a:spcPct val="100000"/>
              </a:lnSpc>
              <a:spcAft>
                <a:spcPts val="0"/>
              </a:spcAft>
            </a:pPr>
            <a:r>
              <a:rPr sz="1000" b="0" i="0">
                <a:solidFill>
                  <a:srgbClr val="262626"/>
                </a:solidFill>
                <a:latin typeface="Arial"/>
              </a:rPr>
              <a:t>Year 3</a:t>
            </a:r>
          </a:p>
        </p:txBody>
      </p:sp>
      <p:graphicFrame>
        <p:nvGraphicFramePr>
          <p:cNvPr id="27" name="Table 26"/>
          <p:cNvGraphicFramePr>
            <a:graphicFrameLocks noGrp="1"/>
          </p:cNvGraphicFramePr>
          <p:nvPr/>
        </p:nvGraphicFramePr>
        <p:xfrm>
          <a:off x="6675120" y="1527048"/>
          <a:ext cx="5056631" cy="3017520"/>
        </p:xfrm>
        <a:graphic>
          <a:graphicData uri="http://schemas.openxmlformats.org/drawingml/2006/table">
            <a:tbl>
              <a:tblPr firstRow="0" bandRow="0">
                <a:tableStyleId>{2D5ABB26-0587-4C30-8999-92F81FD0307C}</a:tableStyleId>
              </a:tblPr>
              <a:tblGrid>
                <a:gridCol w="1325880"/>
                <a:gridCol w="960120"/>
                <a:gridCol w="868680"/>
                <a:gridCol w="868680"/>
                <a:gridCol w="1033271"/>
              </a:tblGrid>
              <a:tr h="384048">
                <a:tc>
                  <a:txBody>
                    <a:bodyPr wrap="square"/>
                    <a:lstStyle/>
                    <a:p>
                      <a:pPr algn="l"/>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pPr algn="r"/>
                      <a:r>
                        <a:rPr sz="900" b="1" i="0">
                          <a:solidFill>
                            <a:srgbClr val="FFFFFF"/>
                          </a:solidFill>
                          <a:latin typeface="Arial"/>
                        </a:rPr>
                        <a:t>Today</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pPr algn="r"/>
                      <a:r>
                        <a:rPr sz="900" b="1" i="0">
                          <a:solidFill>
                            <a:srgbClr val="FFFFFF"/>
                          </a:solidFill>
                          <a:latin typeface="Arial"/>
                        </a:rPr>
                        <a:t>Year 1</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pPr algn="r"/>
                      <a:r>
                        <a:rPr sz="900" b="1" i="0">
                          <a:solidFill>
                            <a:srgbClr val="FFFFFF"/>
                          </a:solidFill>
                          <a:latin typeface="Arial"/>
                        </a:rPr>
                        <a:t>Year 2</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pPr algn="r"/>
                      <a:r>
                        <a:rPr sz="900" b="1" i="0">
                          <a:solidFill>
                            <a:srgbClr val="FFFFFF"/>
                          </a:solidFill>
                          <a:latin typeface="Arial"/>
                        </a:rPr>
                        <a:t>Year 3</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329184">
                <a:tc>
                  <a:txBody>
                    <a:bodyPr wrap="square"/>
                    <a:lstStyle/>
                    <a:p>
                      <a:pPr algn="l"/>
                      <a:r>
                        <a:rPr sz="900" b="0" i="0">
                          <a:solidFill>
                            <a:srgbClr val="262626"/>
                          </a:solidFill>
                          <a:latin typeface="Arial"/>
                        </a:rPr>
                        <a:t>Customers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120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125</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150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190</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0" i="0">
                          <a:solidFill>
                            <a:srgbClr val="262626"/>
                          </a:solidFill>
                          <a:latin typeface="Arial"/>
                        </a:rPr>
                        <a:t>Blended ACV</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€12.5K</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€16K</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€22K</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€26K</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0" i="0">
                          <a:solidFill>
                            <a:srgbClr val="262626"/>
                          </a:solidFill>
                          <a:latin typeface="Arial"/>
                        </a:rPr>
                        <a:t>Revenue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€1.5M</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€1.95M</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€3.2M</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€4.8M</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0" i="0">
                          <a:solidFill>
                            <a:srgbClr val="262626"/>
                          </a:solidFill>
                          <a:latin typeface="Arial"/>
                        </a:rPr>
                        <a:t>EBITDA margin</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~26%</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~28%</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~31%</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0" i="0">
                          <a:solidFill>
                            <a:srgbClr val="262626"/>
                          </a:solidFill>
                          <a:latin typeface="Arial"/>
                        </a:rPr>
                        <a:t>Growth</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10–15%</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30%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64%</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50%</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0" i="0">
                          <a:solidFill>
                            <a:srgbClr val="262626"/>
                          </a:solidFill>
                          <a:latin typeface="Arial"/>
                        </a:rPr>
                        <a:t>Rule of 40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~15</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~56</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~92</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~81</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0" i="0">
                          <a:solidFill>
                            <a:srgbClr val="262626"/>
                          </a:solidFill>
                          <a:latin typeface="Arial"/>
                        </a:rPr>
                        <a:t>Headcount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9</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10</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13</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16</a:t>
                      </a:r>
                    </a:p>
                  </a:txBody>
                  <a:tcPr marL="54864" marR="54864" marT="41148" marB="41148" anchor="t">
                    <a:lnL w="0">
                      <a:noFill/>
                    </a:lnL>
                    <a:lnR w="0">
                      <a:noFill/>
                    </a:lnR>
                    <a:lnT w="0">
                      <a:noFill/>
                    </a:lnT>
                    <a:lnB w="9525" cap="flat" cmpd="sng" algn="ctr">
                      <a:solidFill>
                        <a:srgbClr val="D9D9D9"/>
                      </a:solidFill>
                      <a:prstDash val="solid"/>
                    </a:lnB>
                    <a:noFill/>
                  </a:tcPr>
                </a:tc>
              </a:tr>
              <a:tr h="329184">
                <a:tc>
                  <a:txBody>
                    <a:bodyPr wrap="square"/>
                    <a:lstStyle/>
                    <a:p>
                      <a:pPr algn="l"/>
                      <a:r>
                        <a:rPr sz="900" b="1" i="0">
                          <a:solidFill>
                            <a:srgbClr val="262626"/>
                          </a:solidFill>
                          <a:latin typeface="Arial"/>
                        </a:rPr>
                        <a:t>Indicative valuation</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1" i="0">
                          <a:solidFill>
                            <a:srgbClr val="262626"/>
                          </a:solidFill>
                          <a:latin typeface="Arial"/>
                        </a:rPr>
                        <a:t>€2M (1.3×)</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0" i="0">
                          <a:solidFill>
                            <a:srgbClr val="262626"/>
                          </a:solidFill>
                          <a:latin typeface="Arial"/>
                        </a:rPr>
                        <a: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pPr algn="r"/>
                      <a:r>
                        <a:rPr sz="900" b="1" i="0">
                          <a:solidFill>
                            <a:srgbClr val="262626"/>
                          </a:solidFill>
                          <a:latin typeface="Arial"/>
                        </a:rPr>
                        <a:t>€19–24M (4–5×)</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
        <p:nvSpPr>
          <p:cNvPr id="28" name="Rectangle 27"/>
          <p:cNvSpPr/>
          <p:nvPr/>
        </p:nvSpPr>
        <p:spPr>
          <a:xfrm>
            <a:off x="6675120" y="4681728"/>
            <a:ext cx="5056632" cy="10058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0" y="4681728"/>
            <a:ext cx="54864" cy="10058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58000" y="4809744"/>
            <a:ext cx="4745736" cy="786384"/>
          </a:xfrm>
          <a:prstGeom prst="rect">
            <a:avLst/>
          </a:prstGeom>
          <a:noFill/>
        </p:spPr>
        <p:txBody>
          <a:bodyPr wrap="square" lIns="0" tIns="0" rIns="0" bIns="0" anchor="t">
            <a:spAutoFit/>
          </a:bodyPr>
          <a:lstStyle/>
          <a:p>
            <a:pPr algn="l">
              <a:lnSpc>
                <a:spcPct val="110000"/>
              </a:lnSpc>
              <a:spcAft>
                <a:spcPts val="500"/>
              </a:spcAft>
            </a:pPr>
            <a:r>
              <a:rPr sz="950" b="1" i="0">
                <a:solidFill>
                  <a:srgbClr val="262626"/>
                </a:solidFill>
                <a:latin typeface="Arial"/>
              </a:rPr>
              <a:t>€2M on €1.5M is 1.3× — the correct price for 15% growth at zero margin.</a:t>
            </a:r>
            <a:r>
              <a:rPr sz="950" b="0" i="0">
                <a:solidFill>
                  <a:srgbClr val="262626"/>
                </a:solidFill>
                <a:latin typeface="Arial"/>
              </a:rPr>
              <a:t> The offer measures the operating model. Both credible end-states, independence or sale, run through the same eighteen months of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Growth comes from ACV, not logos — customers +58%, ACV +108%, revenue +220% over three years</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5 · ECONOMICS AND RISK</a:t>
            </a:r>
          </a:p>
        </p:txBody>
      </p:sp>
      <p:sp>
        <p:nvSpPr>
          <p:cNvPr id="5" name="Rounded Rectangle 4"/>
          <p:cNvSpPr/>
          <p:nvPr/>
        </p:nvSpPr>
        <p:spPr>
          <a:xfrm>
            <a:off x="10543032" y="475488"/>
            <a:ext cx="1188720" cy="246888"/>
          </a:xfrm>
          <a:prstGeom prst="roundRect">
            <a:avLst>
              <a:gd name="adj" fmla="val 12000"/>
            </a:avLst>
          </a:prstGeom>
          <a:noFill/>
          <a:ln w="9525">
            <a:solidFill>
              <a:srgbClr val="051C2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0" bIns="0"/>
          <a:lstStyle/>
          <a:p>
            <a:pPr algn="ctr"/>
            <a:r>
              <a:rPr sz="750" b="1" i="0">
                <a:solidFill>
                  <a:srgbClr val="051C2C"/>
                </a:solidFill>
                <a:latin typeface="Arial"/>
              </a:rPr>
              <a:t>ILLUSTRATIVE</a:t>
            </a:r>
          </a:p>
        </p:txBody>
      </p:sp>
      <p:sp>
        <p:nvSpPr>
          <p:cNvPr id="6" name="TextBox 5"/>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illustrative plan on slide 17. Percentages are Year-3 vs today. Headcount growth of +78% against revenue growth of +220% is the cost/revenue decoupling identified as the objective in Olivier Jager's review of 10 Sep 2026.</a:t>
            </a:r>
          </a:p>
        </p:txBody>
      </p:sp>
      <p:sp>
        <p:nvSpPr>
          <p:cNvPr id="7" name="TextBox 6"/>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18</a:t>
            </a:r>
          </a:p>
        </p:txBody>
      </p:sp>
      <p:cxnSp>
        <p:nvCxnSpPr>
          <p:cNvPr id="8" name="Connector 7"/>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7200" y="1481328"/>
            <a:ext cx="6949440" cy="274320"/>
          </a:xfrm>
          <a:prstGeom prst="rect">
            <a:avLst/>
          </a:prstGeom>
          <a:noFill/>
        </p:spPr>
        <p:txBody>
          <a:bodyPr wrap="square" lIns="0" tIns="0" rIns="0" bIns="0" anchor="t">
            <a:spAutoFit/>
          </a:bodyPr>
          <a:lstStyle/>
          <a:p>
            <a:pPr algn="l">
              <a:spcAft>
                <a:spcPts val="400"/>
              </a:spcAft>
            </a:pPr>
            <a:r>
              <a:rPr sz="1100" b="1" i="0">
                <a:solidFill>
                  <a:srgbClr val="051C2C"/>
                </a:solidFill>
                <a:latin typeface="Arial"/>
              </a:rPr>
              <a:t>Change from today to Year 3, %</a:t>
            </a:r>
          </a:p>
        </p:txBody>
      </p:sp>
      <p:sp>
        <p:nvSpPr>
          <p:cNvPr id="10" name="TextBox 9"/>
          <p:cNvSpPr txBox="1"/>
          <p:nvPr/>
        </p:nvSpPr>
        <p:spPr>
          <a:xfrm>
            <a:off x="457200" y="1984248"/>
            <a:ext cx="1645920" cy="457200"/>
          </a:xfrm>
          <a:prstGeom prst="rect">
            <a:avLst/>
          </a:prstGeom>
          <a:noFill/>
        </p:spPr>
        <p:txBody>
          <a:bodyPr wrap="square" lIns="0" tIns="0" rIns="0" bIns="0" anchor="ctr">
            <a:spAutoFit/>
          </a:bodyPr>
          <a:lstStyle/>
          <a:p>
            <a:pPr algn="l">
              <a:spcAft>
                <a:spcPts val="0"/>
              </a:spcAft>
            </a:pPr>
            <a:r>
              <a:rPr sz="1050" b="0" i="0">
                <a:solidFill>
                  <a:srgbClr val="262626"/>
                </a:solidFill>
                <a:latin typeface="Arial"/>
              </a:rPr>
              <a:t>Customers</a:t>
            </a:r>
          </a:p>
        </p:txBody>
      </p:sp>
      <p:sp>
        <p:nvSpPr>
          <p:cNvPr id="11" name="Rectangle 10"/>
          <p:cNvSpPr/>
          <p:nvPr/>
        </p:nvSpPr>
        <p:spPr>
          <a:xfrm>
            <a:off x="2194560" y="1984248"/>
            <a:ext cx="975847" cy="457200"/>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243559" y="1984248"/>
            <a:ext cx="1463040" cy="457200"/>
          </a:xfrm>
          <a:prstGeom prst="rect">
            <a:avLst/>
          </a:prstGeom>
          <a:noFill/>
        </p:spPr>
        <p:txBody>
          <a:bodyPr wrap="square" lIns="0" tIns="0" rIns="0" bIns="0" anchor="ctr">
            <a:spAutoFit/>
          </a:bodyPr>
          <a:lstStyle/>
          <a:p>
            <a:pPr algn="l">
              <a:spcAft>
                <a:spcPts val="0"/>
              </a:spcAft>
            </a:pPr>
            <a:r>
              <a:rPr sz="1050" b="1" i="0">
                <a:solidFill>
                  <a:srgbClr val="051C2C"/>
                </a:solidFill>
                <a:latin typeface="Arial"/>
              </a:rPr>
              <a:t>+58%</a:t>
            </a:r>
          </a:p>
        </p:txBody>
      </p:sp>
      <p:sp>
        <p:nvSpPr>
          <p:cNvPr id="13" name="TextBox 12"/>
          <p:cNvSpPr txBox="1"/>
          <p:nvPr/>
        </p:nvSpPr>
        <p:spPr>
          <a:xfrm>
            <a:off x="457200" y="2788920"/>
            <a:ext cx="1645920" cy="457200"/>
          </a:xfrm>
          <a:prstGeom prst="rect">
            <a:avLst/>
          </a:prstGeom>
          <a:noFill/>
        </p:spPr>
        <p:txBody>
          <a:bodyPr wrap="square" lIns="0" tIns="0" rIns="0" bIns="0" anchor="ctr">
            <a:spAutoFit/>
          </a:bodyPr>
          <a:lstStyle/>
          <a:p>
            <a:pPr algn="l">
              <a:spcAft>
                <a:spcPts val="0"/>
              </a:spcAft>
            </a:pPr>
            <a:r>
              <a:rPr sz="1050" b="0" i="0">
                <a:solidFill>
                  <a:srgbClr val="262626"/>
                </a:solidFill>
                <a:latin typeface="Arial"/>
              </a:rPr>
              <a:t>Headcount</a:t>
            </a:r>
          </a:p>
        </p:txBody>
      </p:sp>
      <p:sp>
        <p:nvSpPr>
          <p:cNvPr id="14" name="Rectangle 13"/>
          <p:cNvSpPr/>
          <p:nvPr/>
        </p:nvSpPr>
        <p:spPr>
          <a:xfrm>
            <a:off x="2194560" y="2788920"/>
            <a:ext cx="1312346" cy="457200"/>
          </a:xfrm>
          <a:prstGeom prst="rect">
            <a:avLst/>
          </a:prstGeom>
          <a:solidFill>
            <a:srgbClr val="B3B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0058" y="2788920"/>
            <a:ext cx="1463040" cy="457200"/>
          </a:xfrm>
          <a:prstGeom prst="rect">
            <a:avLst/>
          </a:prstGeom>
          <a:noFill/>
        </p:spPr>
        <p:txBody>
          <a:bodyPr wrap="square" lIns="0" tIns="0" rIns="0" bIns="0" anchor="ctr">
            <a:spAutoFit/>
          </a:bodyPr>
          <a:lstStyle/>
          <a:p>
            <a:pPr algn="l">
              <a:spcAft>
                <a:spcPts val="0"/>
              </a:spcAft>
            </a:pPr>
            <a:r>
              <a:rPr sz="1050" b="1" i="0">
                <a:solidFill>
                  <a:srgbClr val="051C2C"/>
                </a:solidFill>
                <a:latin typeface="Arial"/>
              </a:rPr>
              <a:t>+78%</a:t>
            </a:r>
          </a:p>
        </p:txBody>
      </p:sp>
      <p:sp>
        <p:nvSpPr>
          <p:cNvPr id="16" name="TextBox 15"/>
          <p:cNvSpPr txBox="1"/>
          <p:nvPr/>
        </p:nvSpPr>
        <p:spPr>
          <a:xfrm>
            <a:off x="457200" y="3593591"/>
            <a:ext cx="1645920" cy="457200"/>
          </a:xfrm>
          <a:prstGeom prst="rect">
            <a:avLst/>
          </a:prstGeom>
          <a:noFill/>
        </p:spPr>
        <p:txBody>
          <a:bodyPr wrap="square" lIns="0" tIns="0" rIns="0" bIns="0" anchor="ctr">
            <a:spAutoFit/>
          </a:bodyPr>
          <a:lstStyle/>
          <a:p>
            <a:pPr algn="l">
              <a:spcAft>
                <a:spcPts val="0"/>
              </a:spcAft>
            </a:pPr>
            <a:r>
              <a:rPr sz="1050" b="0" i="0">
                <a:solidFill>
                  <a:srgbClr val="262626"/>
                </a:solidFill>
                <a:latin typeface="Arial"/>
              </a:rPr>
              <a:t>Blended ACV</a:t>
            </a:r>
          </a:p>
        </p:txBody>
      </p:sp>
      <p:sp>
        <p:nvSpPr>
          <p:cNvPr id="17" name="Rectangle 16"/>
          <p:cNvSpPr/>
          <p:nvPr/>
        </p:nvSpPr>
        <p:spPr>
          <a:xfrm>
            <a:off x="2194560" y="3593591"/>
            <a:ext cx="1817095" cy="457200"/>
          </a:xfrm>
          <a:prstGeom prst="rect">
            <a:avLst/>
          </a:prstGeom>
          <a:solidFill>
            <a:srgbClr val="99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084807" y="3593591"/>
            <a:ext cx="1463040" cy="457200"/>
          </a:xfrm>
          <a:prstGeom prst="rect">
            <a:avLst/>
          </a:prstGeom>
          <a:noFill/>
        </p:spPr>
        <p:txBody>
          <a:bodyPr wrap="square" lIns="0" tIns="0" rIns="0" bIns="0" anchor="ctr">
            <a:spAutoFit/>
          </a:bodyPr>
          <a:lstStyle/>
          <a:p>
            <a:pPr algn="l">
              <a:spcAft>
                <a:spcPts val="0"/>
              </a:spcAft>
            </a:pPr>
            <a:r>
              <a:rPr sz="1050" b="1" i="0">
                <a:solidFill>
                  <a:srgbClr val="051C2C"/>
                </a:solidFill>
                <a:latin typeface="Arial"/>
              </a:rPr>
              <a:t>+108%</a:t>
            </a:r>
          </a:p>
        </p:txBody>
      </p:sp>
      <p:sp>
        <p:nvSpPr>
          <p:cNvPr id="19" name="TextBox 18"/>
          <p:cNvSpPr txBox="1"/>
          <p:nvPr/>
        </p:nvSpPr>
        <p:spPr>
          <a:xfrm>
            <a:off x="457200" y="4398264"/>
            <a:ext cx="1645920" cy="457200"/>
          </a:xfrm>
          <a:prstGeom prst="rect">
            <a:avLst/>
          </a:prstGeom>
          <a:noFill/>
        </p:spPr>
        <p:txBody>
          <a:bodyPr wrap="square" lIns="0" tIns="0" rIns="0" bIns="0" anchor="ctr">
            <a:spAutoFit/>
          </a:bodyPr>
          <a:lstStyle/>
          <a:p>
            <a:pPr algn="l">
              <a:spcAft>
                <a:spcPts val="0"/>
              </a:spcAft>
            </a:pPr>
            <a:r>
              <a:rPr sz="1050" b="0" i="0">
                <a:solidFill>
                  <a:srgbClr val="262626"/>
                </a:solidFill>
                <a:latin typeface="Arial"/>
              </a:rPr>
              <a:t>Revenue</a:t>
            </a:r>
          </a:p>
        </p:txBody>
      </p:sp>
      <p:sp>
        <p:nvSpPr>
          <p:cNvPr id="20" name="Rectangle 19"/>
          <p:cNvSpPr/>
          <p:nvPr/>
        </p:nvSpPr>
        <p:spPr>
          <a:xfrm>
            <a:off x="2194560" y="4398264"/>
            <a:ext cx="3701491" cy="4572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69203" y="4398264"/>
            <a:ext cx="1463040" cy="457200"/>
          </a:xfrm>
          <a:prstGeom prst="rect">
            <a:avLst/>
          </a:prstGeom>
          <a:noFill/>
        </p:spPr>
        <p:txBody>
          <a:bodyPr wrap="square" lIns="0" tIns="0" rIns="0" bIns="0" anchor="ctr">
            <a:spAutoFit/>
          </a:bodyPr>
          <a:lstStyle/>
          <a:p>
            <a:pPr algn="l">
              <a:spcAft>
                <a:spcPts val="0"/>
              </a:spcAft>
            </a:pPr>
            <a:r>
              <a:rPr sz="1050" b="1" i="0">
                <a:solidFill>
                  <a:srgbClr val="051C2C"/>
                </a:solidFill>
                <a:latin typeface="Arial"/>
              </a:rPr>
              <a:t>+220%</a:t>
            </a:r>
          </a:p>
        </p:txBody>
      </p:sp>
      <p:cxnSp>
        <p:nvCxnSpPr>
          <p:cNvPr id="22" name="Connector 21"/>
          <p:cNvCxnSpPr/>
          <p:nvPr/>
        </p:nvCxnSpPr>
        <p:spPr>
          <a:xfrm>
            <a:off x="2194560" y="1938528"/>
            <a:ext cx="0" cy="2962656"/>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863840" y="1527048"/>
            <a:ext cx="3867912" cy="1600200"/>
          </a:xfrm>
          <a:prstGeom prst="rect">
            <a:avLst/>
          </a:prstGeom>
          <a:solidFill>
            <a:srgbClr val="E8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863840" y="1527048"/>
            <a:ext cx="54864" cy="1600200"/>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46719" y="1655064"/>
            <a:ext cx="3557016" cy="138074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case against hiring salespeople first</a:t>
            </a:r>
          </a:p>
          <a:p>
            <a:pPr algn="l">
              <a:lnSpc>
                <a:spcPct val="110000"/>
              </a:lnSpc>
              <a:spcAft>
                <a:spcPts val="500"/>
              </a:spcAft>
            </a:pPr>
            <a:r>
              <a:rPr sz="1000" b="0" i="0">
                <a:solidFill>
                  <a:srgbClr val="262626"/>
                </a:solidFill>
                <a:latin typeface="Arial"/>
              </a:rPr>
              <a:t>Customers grow 58% over three years; revenue grows 220%. </a:t>
            </a:r>
            <a:r>
              <a:rPr sz="1000" b="1" i="0">
                <a:solidFill>
                  <a:srgbClr val="262626"/>
                </a:solidFill>
                <a:latin typeface="Arial"/>
              </a:rPr>
              <a:t>The growth is in the price and the buyer, not the logo count.</a:t>
            </a:r>
            <a:r>
              <a:rPr sz="1000" b="0" i="0">
                <a:solidFill>
                  <a:srgbClr val="262626"/>
                </a:solidFill>
                <a:latin typeface="Arial"/>
              </a:rPr>
              <a:t> That is the entire argument for changing the object before expanding the sales team.</a:t>
            </a:r>
          </a:p>
        </p:txBody>
      </p:sp>
      <p:sp>
        <p:nvSpPr>
          <p:cNvPr id="26" name="Rectangle 25"/>
          <p:cNvSpPr/>
          <p:nvPr/>
        </p:nvSpPr>
        <p:spPr>
          <a:xfrm>
            <a:off x="7863840" y="3310128"/>
            <a:ext cx="3867912" cy="17830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863840" y="3310128"/>
            <a:ext cx="54864" cy="178308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46719" y="3438144"/>
            <a:ext cx="3557016" cy="1563624"/>
          </a:xfrm>
          <a:prstGeom prst="rect">
            <a:avLst/>
          </a:prstGeom>
          <a:noFill/>
        </p:spPr>
        <p:txBody>
          <a:bodyPr wrap="square" lIns="0" tIns="0" rIns="0" bIns="0" anchor="t">
            <a:spAutoFit/>
          </a:bodyPr>
          <a:lstStyle/>
          <a:p>
            <a:pPr algn="l">
              <a:lnSpc>
                <a:spcPct val="110000"/>
              </a:lnSpc>
              <a:spcAft>
                <a:spcPts val="500"/>
              </a:spcAft>
            </a:pPr>
            <a:r>
              <a:rPr sz="1000" b="1" i="0">
                <a:solidFill>
                  <a:srgbClr val="051C2C"/>
                </a:solidFill>
                <a:latin typeface="Arial"/>
              </a:rPr>
              <a:t>The decoupling Olivier asked for</a:t>
            </a:r>
          </a:p>
          <a:p>
            <a:pPr algn="l">
              <a:lnSpc>
                <a:spcPct val="110000"/>
              </a:lnSpc>
              <a:spcAft>
                <a:spcPts val="500"/>
              </a:spcAft>
            </a:pPr>
            <a:r>
              <a:rPr sz="950" b="0" i="0">
                <a:solidFill>
                  <a:srgbClr val="262626"/>
                </a:solidFill>
                <a:latin typeface="Arial"/>
              </a:rPr>
              <a:t>Headcount +78% against revenue +220%. Cost no longer scales with sales — achieved by </a:t>
            </a:r>
            <a:r>
              <a:rPr sz="950" b="0" i="1">
                <a:solidFill>
                  <a:srgbClr val="262626"/>
                </a:solidFill>
                <a:latin typeface="Arial"/>
              </a:rPr>
              <a:t>not hiring</a:t>
            </a:r>
            <a:r>
              <a:rPr sz="950" b="0" i="0">
                <a:solidFill>
                  <a:srgbClr val="262626"/>
                </a:solidFill>
                <a:latin typeface="Arial"/>
              </a:rPr>
              <a:t>, which is the only version available under French employment law.</a:t>
            </a:r>
          </a:p>
          <a:p>
            <a:pPr algn="l">
              <a:lnSpc>
                <a:spcPct val="110000"/>
              </a:lnSpc>
              <a:spcAft>
                <a:spcPts val="500"/>
              </a:spcAft>
            </a:pPr>
            <a:r>
              <a:rPr sz="950" b="0" i="0">
                <a:solidFill>
                  <a:srgbClr val="262626"/>
                </a:solidFill>
                <a:latin typeface="Arial"/>
              </a:rPr>
              <a:t>Every EBITDA point of that gap is what moves the exit number.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Three facts would kill the thesis — all are testable within two weeks and should gate every line of code</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5 · ECONOMICS AND RISK</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kill-risk 3 uses the same fleet-size-by-account data required for the Horizon 1 repricing exercise, so the test costs nothing additional. A plan without these tests is a pitch.</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19</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457200" y="1527048"/>
          <a:ext cx="11274552" cy="3538728"/>
        </p:xfrm>
        <a:graphic>
          <a:graphicData uri="http://schemas.openxmlformats.org/drawingml/2006/table">
            <a:tbl>
              <a:tblPr firstRow="0" bandRow="0">
                <a:tableStyleId>{2D5ABB26-0587-4C30-8999-92F81FD0307C}</a:tableStyleId>
              </a:tblPr>
              <a:tblGrid>
                <a:gridCol w="1920240"/>
                <a:gridCol w="3383280"/>
                <a:gridCol w="3063240"/>
                <a:gridCol w="2907792"/>
              </a:tblGrid>
              <a:tr h="384048">
                <a:tc>
                  <a:txBody>
                    <a:bodyPr wrap="square"/>
                    <a:lstStyle/>
                    <a:p>
                      <a:r>
                        <a:rPr sz="950" b="1" i="0">
                          <a:solidFill>
                            <a:srgbClr val="FFFFFF"/>
                          </a:solidFill>
                          <a:latin typeface="Arial"/>
                        </a:rPr>
                        <a:t>Kill-risk</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Why it kills the thesis</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The test</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If it fails</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1051560">
                <a:tc>
                  <a:txBody>
                    <a:bodyPr wrap="square"/>
                    <a:lstStyle/>
                    <a:p>
                      <a:r>
                        <a:rPr sz="950" b="1" i="0">
                          <a:solidFill>
                            <a:srgbClr val="262626"/>
                          </a:solidFill>
                          <a:latin typeface="Arial"/>
                        </a:rPr>
                        <a:t>1 · Buyback exposure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Customers still on OEM buyback or guaranteed repurchase do not own residual risk. The Fleet P&amp;L then has no buyer.</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Ten customer calls: what share of the fleet is on buyback, on operating lease, owned at risk — and how has that mix moved since 2021?</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Thesis narrows to the owned-at-risk segment. Size it before proceeding. The move and substitute levers remain valid regardless.</a:t>
                      </a:r>
                    </a:p>
                  </a:txBody>
                  <a:tcPr marL="54864" marR="54864" marT="41148" marB="41148" anchor="t">
                    <a:lnL w="0">
                      <a:noFill/>
                    </a:lnL>
                    <a:lnR w="0">
                      <a:noFill/>
                    </a:lnR>
                    <a:lnT w="0">
                      <a:noFill/>
                    </a:lnT>
                    <a:lnB w="9525" cap="flat" cmpd="sng" algn="ctr">
                      <a:solidFill>
                        <a:srgbClr val="D9D9D9"/>
                      </a:solidFill>
                      <a:prstDash val="solid"/>
                    </a:lnB>
                    <a:noFill/>
                  </a:tcPr>
                </a:tc>
              </a:tr>
              <a:tr h="1051560">
                <a:tc>
                  <a:txBody>
                    <a:bodyPr wrap="square"/>
                    <a:lstStyle/>
                    <a:p>
                      <a:r>
                        <a:rPr sz="950" b="1" i="0">
                          <a:solidFill>
                            <a:srgbClr val="262626"/>
                          </a:solidFill>
                          <a:latin typeface="Arial"/>
                        </a:rPr>
                        <a:t>2 · Fleet financials unreachable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Fleet counts and utilisation already flow into Performance Hub and Revenue Horizon (per the site). The open question is the </a:t>
                      </a:r>
                      <a:r>
                        <a:rPr sz="950" b="0" i="1">
                          <a:solidFill>
                            <a:srgbClr val="262626"/>
                          </a:solidFill>
                          <a:latin typeface="Arial"/>
                        </a:rPr>
                        <a:t>financial</a:t>
                      </a:r>
                      <a:r>
                        <a:rPr sz="950" b="0" i="0">
                          <a:solidFill>
                            <a:srgbClr val="262626"/>
                          </a:solidFill>
                          <a:latin typeface="Arial"/>
                        </a:rPr>
                        <a:t> fields: if acquisition cost, in-service date, mileage and disposal are absent from the integrated PMSs, the product becomes data entry, which is not adopted.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Field-coverage audit across the five most common PMS integrations in the installed base.</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First release becomes a fleet-data ingestion product. Timeline extends six to nine months.</a:t>
                      </a:r>
                    </a:p>
                  </a:txBody>
                  <a:tcPr marL="54864" marR="54864" marT="41148" marB="41148" anchor="t">
                    <a:lnL w="0">
                      <a:noFill/>
                    </a:lnL>
                    <a:lnR w="0">
                      <a:noFill/>
                    </a:lnR>
                    <a:lnT w="0">
                      <a:noFill/>
                    </a:lnT>
                    <a:lnB w="9525" cap="flat" cmpd="sng" algn="ctr">
                      <a:solidFill>
                        <a:srgbClr val="D9D9D9"/>
                      </a:solidFill>
                      <a:prstDash val="solid"/>
                    </a:lnB>
                    <a:noFill/>
                  </a:tcPr>
                </a:tc>
              </a:tr>
              <a:tr h="1051560">
                <a:tc>
                  <a:txBody>
                    <a:bodyPr wrap="square"/>
                    <a:lstStyle/>
                    <a:p>
                      <a:r>
                        <a:rPr sz="950" b="1" i="0">
                          <a:solidFill>
                            <a:srgbClr val="262626"/>
                          </a:solidFill>
                          <a:latin typeface="Arial"/>
                        </a:rPr>
                        <a:t>3 · Fleet-size distribution</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If the median customer fleet is under ~200 vehicles, de-fleet decisions are too lumpy to optimise and value per account will not support the ACV step-up.</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Fleet size by account across the base — the same data as the repricing exercise. Zero incremental cost.</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The fleet product is a top-quartile offer, not a platform offer. Still a viable business; a different one, with a different sales model.</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
        <p:nvSpPr>
          <p:cNvPr id="9" name="Rectangle 8"/>
          <p:cNvSpPr/>
          <p:nvPr/>
        </p:nvSpPr>
        <p:spPr>
          <a:xfrm>
            <a:off x="457200" y="5458968"/>
            <a:ext cx="11277295" cy="59436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5458968"/>
            <a:ext cx="10820095" cy="594360"/>
          </a:xfrm>
          <a:prstGeom prst="rect">
            <a:avLst/>
          </a:prstGeom>
          <a:noFill/>
        </p:spPr>
        <p:txBody>
          <a:bodyPr wrap="square" lIns="0" tIns="0" rIns="0" bIns="0" anchor="ctr">
            <a:spAutoFit/>
          </a:bodyPr>
          <a:lstStyle/>
          <a:p>
            <a:pPr algn="l">
              <a:lnSpc>
                <a:spcPct val="110000"/>
              </a:lnSpc>
              <a:spcAft>
                <a:spcPts val="0"/>
              </a:spcAft>
            </a:pPr>
            <a:r>
              <a:rPr sz="1000" b="1" i="0">
                <a:solidFill>
                  <a:srgbClr val="FFFFFF"/>
                </a:solidFill>
                <a:latin typeface="Arial"/>
              </a:rPr>
              <a:t>The honest uncertainty in this plan sits in kill-risk 1.</a:t>
            </a:r>
            <a:r>
              <a:rPr sz="1000" b="0" i="0">
                <a:solidFill>
                  <a:srgbClr val="FFFFFF"/>
                </a:solidFill>
                <a:latin typeface="Arial"/>
              </a:rPr>
              <a:t> The direction of the post-2021 buyback contraction is well established; its magnitude in WeYield's specific base of island, leisure and Eastern European franchisees is not. That is the hinge the thesis turns on — and it is one week of calls away.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Six decisions for Monday</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5 · ECONOMICS AND RISK</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Note: decisions 1 and 2 are diagnostic and cost nothing; 3 and 5 are policy changes with immediate effect; 4 is the first spend (~€30–50K over the quarter); 6 is a commercial conversation whose lead time exceeds any integration.</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20</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7200" y="1527048"/>
            <a:ext cx="502920" cy="658368"/>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527048"/>
            <a:ext cx="502920" cy="658368"/>
          </a:xfrm>
          <a:prstGeom prst="rect">
            <a:avLst/>
          </a:prstGeom>
          <a:noFill/>
        </p:spPr>
        <p:txBody>
          <a:bodyPr wrap="square" lIns="0" tIns="0" rIns="0" bIns="0" anchor="ctr">
            <a:spAutoFit/>
          </a:bodyPr>
          <a:lstStyle/>
          <a:p>
            <a:pPr algn="ctr">
              <a:spcAft>
                <a:spcPts val="0"/>
              </a:spcAft>
            </a:pPr>
            <a:r>
              <a:rPr sz="1800" b="0" i="0">
                <a:solidFill>
                  <a:srgbClr val="FFFFFF"/>
                </a:solidFill>
                <a:latin typeface="Georgia"/>
              </a:rPr>
              <a:t>1</a:t>
            </a:r>
          </a:p>
        </p:txBody>
      </p:sp>
      <p:sp>
        <p:nvSpPr>
          <p:cNvPr id="10" name="Rectangle 9"/>
          <p:cNvSpPr/>
          <p:nvPr/>
        </p:nvSpPr>
        <p:spPr>
          <a:xfrm>
            <a:off x="960120" y="1527048"/>
            <a:ext cx="10774375"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43000" y="1581912"/>
            <a:ext cx="3017520" cy="548640"/>
          </a:xfrm>
          <a:prstGeom prst="rect">
            <a:avLst/>
          </a:prstGeom>
          <a:noFill/>
        </p:spPr>
        <p:txBody>
          <a:bodyPr wrap="square" lIns="0" tIns="0" rIns="0" bIns="0" anchor="ctr">
            <a:spAutoFit/>
          </a:bodyPr>
          <a:lstStyle/>
          <a:p>
            <a:pPr algn="l">
              <a:lnSpc>
                <a:spcPct val="100000"/>
              </a:lnSpc>
              <a:spcAft>
                <a:spcPts val="0"/>
              </a:spcAft>
            </a:pPr>
            <a:r>
              <a:rPr sz="1100" b="1" i="0">
                <a:solidFill>
                  <a:srgbClr val="051C2C"/>
                </a:solidFill>
                <a:latin typeface="Arial"/>
              </a:rPr>
              <a:t>Commission the ten-call validation</a:t>
            </a:r>
          </a:p>
        </p:txBody>
      </p:sp>
      <p:sp>
        <p:nvSpPr>
          <p:cNvPr id="12" name="TextBox 11"/>
          <p:cNvSpPr txBox="1"/>
          <p:nvPr/>
        </p:nvSpPr>
        <p:spPr>
          <a:xfrm>
            <a:off x="4251960" y="1581912"/>
            <a:ext cx="5120640" cy="548640"/>
          </a:xfrm>
          <a:prstGeom prst="rect">
            <a:avLst/>
          </a:prstGeom>
          <a:noFill/>
        </p:spPr>
        <p:txBody>
          <a:bodyPr wrap="square" lIns="0" tIns="0" rIns="0" bIns="0" anchor="ctr">
            <a:spAutoFit/>
          </a:bodyPr>
          <a:lstStyle/>
          <a:p>
            <a:pPr algn="l">
              <a:lnSpc>
                <a:spcPct val="108000"/>
              </a:lnSpc>
              <a:spcAft>
                <a:spcPts val="0"/>
              </a:spcAft>
            </a:pPr>
            <a:r>
              <a:rPr sz="950" b="0" i="0">
                <a:solidFill>
                  <a:srgbClr val="262626"/>
                </a:solidFill>
                <a:latin typeface="Arial"/>
              </a:rPr>
              <a:t>Buyback exposure, PMS fleet-data coverage, fleet-size distribution. Everything else is gated on this.</a:t>
            </a:r>
          </a:p>
        </p:txBody>
      </p:sp>
      <p:sp>
        <p:nvSpPr>
          <p:cNvPr id="13" name="TextBox 12"/>
          <p:cNvSpPr txBox="1"/>
          <p:nvPr/>
        </p:nvSpPr>
        <p:spPr>
          <a:xfrm>
            <a:off x="9464040" y="1581912"/>
            <a:ext cx="1143000" cy="548640"/>
          </a:xfrm>
          <a:prstGeom prst="rect">
            <a:avLst/>
          </a:prstGeom>
          <a:noFill/>
        </p:spPr>
        <p:txBody>
          <a:bodyPr wrap="square" lIns="0" tIns="0" rIns="0" bIns="0" anchor="ctr">
            <a:spAutoFit/>
          </a:bodyPr>
          <a:lstStyle/>
          <a:p>
            <a:pPr algn="l">
              <a:spcAft>
                <a:spcPts val="0"/>
              </a:spcAft>
            </a:pPr>
            <a:r>
              <a:rPr sz="900" b="0" i="0">
                <a:solidFill>
                  <a:srgbClr val="7F7F7F"/>
                </a:solidFill>
                <a:latin typeface="Arial"/>
              </a:rPr>
              <a:t>Emmanuel</a:t>
            </a:r>
          </a:p>
        </p:txBody>
      </p:sp>
      <p:sp>
        <p:nvSpPr>
          <p:cNvPr id="14" name="TextBox 13"/>
          <p:cNvSpPr txBox="1"/>
          <p:nvPr/>
        </p:nvSpPr>
        <p:spPr>
          <a:xfrm>
            <a:off x="10652760" y="1581912"/>
            <a:ext cx="987552" cy="548640"/>
          </a:xfrm>
          <a:prstGeom prst="rect">
            <a:avLst/>
          </a:prstGeom>
          <a:noFill/>
        </p:spPr>
        <p:txBody>
          <a:bodyPr wrap="square" lIns="0" tIns="0" rIns="0" bIns="0" anchor="ctr">
            <a:spAutoFit/>
          </a:bodyPr>
          <a:lstStyle/>
          <a:p>
            <a:pPr algn="r">
              <a:spcAft>
                <a:spcPts val="0"/>
              </a:spcAft>
            </a:pPr>
            <a:r>
              <a:rPr sz="900" b="1" i="0">
                <a:solidFill>
                  <a:srgbClr val="051C2C"/>
                </a:solidFill>
                <a:latin typeface="Arial"/>
              </a:rPr>
              <a:t>Week 1</a:t>
            </a:r>
          </a:p>
        </p:txBody>
      </p:sp>
      <p:cxnSp>
        <p:nvCxnSpPr>
          <p:cNvPr id="15" name="Connector 14"/>
          <p:cNvCxnSpPr/>
          <p:nvPr/>
        </p:nvCxnSpPr>
        <p:spPr>
          <a:xfrm>
            <a:off x="960120" y="2185416"/>
            <a:ext cx="1077437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57200" y="2240280"/>
            <a:ext cx="502920" cy="658368"/>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2240280"/>
            <a:ext cx="502920" cy="658368"/>
          </a:xfrm>
          <a:prstGeom prst="rect">
            <a:avLst/>
          </a:prstGeom>
          <a:noFill/>
        </p:spPr>
        <p:txBody>
          <a:bodyPr wrap="square" lIns="0" tIns="0" rIns="0" bIns="0" anchor="ctr">
            <a:spAutoFit/>
          </a:bodyPr>
          <a:lstStyle/>
          <a:p>
            <a:pPr algn="ctr">
              <a:spcAft>
                <a:spcPts val="0"/>
              </a:spcAft>
            </a:pPr>
            <a:r>
              <a:rPr sz="1800" b="0" i="0">
                <a:solidFill>
                  <a:srgbClr val="FFFFFF"/>
                </a:solidFill>
                <a:latin typeface="Georgia"/>
              </a:rPr>
              <a:t>2</a:t>
            </a:r>
          </a:p>
        </p:txBody>
      </p:sp>
      <p:sp>
        <p:nvSpPr>
          <p:cNvPr id="18" name="Rectangle 17"/>
          <p:cNvSpPr/>
          <p:nvPr/>
        </p:nvSpPr>
        <p:spPr>
          <a:xfrm>
            <a:off x="960120" y="2240280"/>
            <a:ext cx="10774375"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43000" y="2295144"/>
            <a:ext cx="3017520" cy="548640"/>
          </a:xfrm>
          <a:prstGeom prst="rect">
            <a:avLst/>
          </a:prstGeom>
          <a:noFill/>
        </p:spPr>
        <p:txBody>
          <a:bodyPr wrap="square" lIns="0" tIns="0" rIns="0" bIns="0" anchor="ctr">
            <a:spAutoFit/>
          </a:bodyPr>
          <a:lstStyle/>
          <a:p>
            <a:pPr algn="l">
              <a:lnSpc>
                <a:spcPct val="100000"/>
              </a:lnSpc>
              <a:spcAft>
                <a:spcPts val="0"/>
              </a:spcAft>
            </a:pPr>
            <a:r>
              <a:rPr sz="1100" b="1" i="0">
                <a:solidFill>
                  <a:srgbClr val="051C2C"/>
                </a:solidFill>
                <a:latin typeface="Arial"/>
              </a:rPr>
              <a:t>Pull the fleet size behind every top-20 account</a:t>
            </a:r>
          </a:p>
        </p:txBody>
      </p:sp>
      <p:sp>
        <p:nvSpPr>
          <p:cNvPr id="20" name="TextBox 19"/>
          <p:cNvSpPr txBox="1"/>
          <p:nvPr/>
        </p:nvSpPr>
        <p:spPr>
          <a:xfrm>
            <a:off x="4251960" y="2295144"/>
            <a:ext cx="5120640" cy="548640"/>
          </a:xfrm>
          <a:prstGeom prst="rect">
            <a:avLst/>
          </a:prstGeom>
          <a:noFill/>
        </p:spPr>
        <p:txBody>
          <a:bodyPr wrap="square" lIns="0" tIns="0" rIns="0" bIns="0" anchor="ctr">
            <a:spAutoFit/>
          </a:bodyPr>
          <a:lstStyle/>
          <a:p>
            <a:pPr algn="l">
              <a:lnSpc>
                <a:spcPct val="108000"/>
              </a:lnSpc>
              <a:spcAft>
                <a:spcPts val="0"/>
              </a:spcAft>
            </a:pPr>
            <a:r>
              <a:rPr sz="950" b="0" i="0">
                <a:solidFill>
                  <a:srgbClr val="262626"/>
                </a:solidFill>
                <a:latin typeface="Arial"/>
              </a:rPr>
              <a:t>Run $4 / $6 / $8 per vehicle per month against them. If those numbers cannot be produced, that is itself the most important finding of the week.</a:t>
            </a:r>
          </a:p>
        </p:txBody>
      </p:sp>
      <p:sp>
        <p:nvSpPr>
          <p:cNvPr id="21" name="TextBox 20"/>
          <p:cNvSpPr txBox="1"/>
          <p:nvPr/>
        </p:nvSpPr>
        <p:spPr>
          <a:xfrm>
            <a:off x="9464040" y="2295144"/>
            <a:ext cx="1143000" cy="548640"/>
          </a:xfrm>
          <a:prstGeom prst="rect">
            <a:avLst/>
          </a:prstGeom>
          <a:noFill/>
        </p:spPr>
        <p:txBody>
          <a:bodyPr wrap="square" lIns="0" tIns="0" rIns="0" bIns="0" anchor="ctr">
            <a:spAutoFit/>
          </a:bodyPr>
          <a:lstStyle/>
          <a:p>
            <a:pPr algn="l">
              <a:spcAft>
                <a:spcPts val="0"/>
              </a:spcAft>
            </a:pPr>
            <a:r>
              <a:rPr sz="900" b="0" i="0">
                <a:solidFill>
                  <a:srgbClr val="7F7F7F"/>
                </a:solidFill>
                <a:latin typeface="Arial"/>
              </a:rPr>
              <a:t>Head of sales</a:t>
            </a:r>
          </a:p>
        </p:txBody>
      </p:sp>
      <p:sp>
        <p:nvSpPr>
          <p:cNvPr id="22" name="TextBox 21"/>
          <p:cNvSpPr txBox="1"/>
          <p:nvPr/>
        </p:nvSpPr>
        <p:spPr>
          <a:xfrm>
            <a:off x="10652760" y="2295144"/>
            <a:ext cx="987552" cy="548640"/>
          </a:xfrm>
          <a:prstGeom prst="rect">
            <a:avLst/>
          </a:prstGeom>
          <a:noFill/>
        </p:spPr>
        <p:txBody>
          <a:bodyPr wrap="square" lIns="0" tIns="0" rIns="0" bIns="0" anchor="ctr">
            <a:spAutoFit/>
          </a:bodyPr>
          <a:lstStyle/>
          <a:p>
            <a:pPr algn="r">
              <a:spcAft>
                <a:spcPts val="0"/>
              </a:spcAft>
            </a:pPr>
            <a:r>
              <a:rPr sz="900" b="1" i="0">
                <a:solidFill>
                  <a:srgbClr val="051C2C"/>
                </a:solidFill>
                <a:latin typeface="Arial"/>
              </a:rPr>
              <a:t>Week 1</a:t>
            </a:r>
          </a:p>
        </p:txBody>
      </p:sp>
      <p:cxnSp>
        <p:nvCxnSpPr>
          <p:cNvPr id="23" name="Connector 22"/>
          <p:cNvCxnSpPr/>
          <p:nvPr/>
        </p:nvCxnSpPr>
        <p:spPr>
          <a:xfrm>
            <a:off x="960120" y="2898648"/>
            <a:ext cx="1077437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57200" y="2953512"/>
            <a:ext cx="502920" cy="65836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7200" y="2953512"/>
            <a:ext cx="502920" cy="658368"/>
          </a:xfrm>
          <a:prstGeom prst="rect">
            <a:avLst/>
          </a:prstGeom>
          <a:noFill/>
        </p:spPr>
        <p:txBody>
          <a:bodyPr wrap="square" lIns="0" tIns="0" rIns="0" bIns="0" anchor="ctr">
            <a:spAutoFit/>
          </a:bodyPr>
          <a:lstStyle/>
          <a:p>
            <a:pPr algn="ctr">
              <a:spcAft>
                <a:spcPts val="0"/>
              </a:spcAft>
            </a:pPr>
            <a:r>
              <a:rPr sz="1800" b="0" i="0">
                <a:solidFill>
                  <a:srgbClr val="FFFFFF"/>
                </a:solidFill>
                <a:latin typeface="Georgia"/>
              </a:rPr>
              <a:t>3</a:t>
            </a:r>
          </a:p>
        </p:txBody>
      </p:sp>
      <p:sp>
        <p:nvSpPr>
          <p:cNvPr id="26" name="Rectangle 25"/>
          <p:cNvSpPr/>
          <p:nvPr/>
        </p:nvSpPr>
        <p:spPr>
          <a:xfrm>
            <a:off x="960120" y="2953512"/>
            <a:ext cx="10774375"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43000" y="3008376"/>
            <a:ext cx="3017520" cy="548640"/>
          </a:xfrm>
          <a:prstGeom prst="rect">
            <a:avLst/>
          </a:prstGeom>
          <a:noFill/>
        </p:spPr>
        <p:txBody>
          <a:bodyPr wrap="square" lIns="0" tIns="0" rIns="0" bIns="0" anchor="ctr">
            <a:spAutoFit/>
          </a:bodyPr>
          <a:lstStyle/>
          <a:p>
            <a:pPr algn="l">
              <a:lnSpc>
                <a:spcPct val="100000"/>
              </a:lnSpc>
              <a:spcAft>
                <a:spcPts val="0"/>
              </a:spcAft>
            </a:pPr>
            <a:r>
              <a:rPr sz="1100" b="1" i="0">
                <a:solidFill>
                  <a:srgbClr val="051C2C"/>
                </a:solidFill>
                <a:latin typeface="Arial"/>
              </a:rPr>
              <a:t>Freeze the old stack</a:t>
            </a:r>
          </a:p>
        </p:txBody>
      </p:sp>
      <p:sp>
        <p:nvSpPr>
          <p:cNvPr id="28" name="TextBox 27"/>
          <p:cNvSpPr txBox="1"/>
          <p:nvPr/>
        </p:nvSpPr>
        <p:spPr>
          <a:xfrm>
            <a:off x="4251960" y="3008376"/>
            <a:ext cx="5120640" cy="548640"/>
          </a:xfrm>
          <a:prstGeom prst="rect">
            <a:avLst/>
          </a:prstGeom>
          <a:noFill/>
        </p:spPr>
        <p:txBody>
          <a:bodyPr wrap="square" lIns="0" tIns="0" rIns="0" bIns="0" anchor="ctr">
            <a:spAutoFit/>
          </a:bodyPr>
          <a:lstStyle/>
          <a:p>
            <a:pPr algn="l">
              <a:lnSpc>
                <a:spcPct val="108000"/>
              </a:lnSpc>
              <a:spcAft>
                <a:spcPts val="0"/>
              </a:spcAft>
            </a:pPr>
            <a:r>
              <a:rPr sz="950" b="0" i="0">
                <a:solidFill>
                  <a:srgbClr val="262626"/>
                </a:solidFill>
                <a:latin typeface="Arial"/>
              </a:rPr>
              <a:t>No new features, effective immediately. Maintenance only.</a:t>
            </a:r>
          </a:p>
        </p:txBody>
      </p:sp>
      <p:sp>
        <p:nvSpPr>
          <p:cNvPr id="29" name="TextBox 28"/>
          <p:cNvSpPr txBox="1"/>
          <p:nvPr/>
        </p:nvSpPr>
        <p:spPr>
          <a:xfrm>
            <a:off x="9464040" y="3008376"/>
            <a:ext cx="1143000" cy="548640"/>
          </a:xfrm>
          <a:prstGeom prst="rect">
            <a:avLst/>
          </a:prstGeom>
          <a:noFill/>
        </p:spPr>
        <p:txBody>
          <a:bodyPr wrap="square" lIns="0" tIns="0" rIns="0" bIns="0" anchor="ctr">
            <a:spAutoFit/>
          </a:bodyPr>
          <a:lstStyle/>
          <a:p>
            <a:pPr algn="l">
              <a:spcAft>
                <a:spcPts val="0"/>
              </a:spcAft>
            </a:pPr>
            <a:r>
              <a:rPr sz="900" b="0" i="0">
                <a:solidFill>
                  <a:srgbClr val="7F7F7F"/>
                </a:solidFill>
                <a:latin typeface="Arial"/>
              </a:rPr>
              <a:t>CTO</a:t>
            </a:r>
          </a:p>
        </p:txBody>
      </p:sp>
      <p:sp>
        <p:nvSpPr>
          <p:cNvPr id="30" name="TextBox 29"/>
          <p:cNvSpPr txBox="1"/>
          <p:nvPr/>
        </p:nvSpPr>
        <p:spPr>
          <a:xfrm>
            <a:off x="10652760" y="3008376"/>
            <a:ext cx="987552" cy="548640"/>
          </a:xfrm>
          <a:prstGeom prst="rect">
            <a:avLst/>
          </a:prstGeom>
          <a:noFill/>
        </p:spPr>
        <p:txBody>
          <a:bodyPr wrap="square" lIns="0" tIns="0" rIns="0" bIns="0" anchor="ctr">
            <a:spAutoFit/>
          </a:bodyPr>
          <a:lstStyle/>
          <a:p>
            <a:pPr algn="r">
              <a:spcAft>
                <a:spcPts val="0"/>
              </a:spcAft>
            </a:pPr>
            <a:r>
              <a:rPr sz="900" b="1" i="0">
                <a:solidFill>
                  <a:srgbClr val="051C2C"/>
                </a:solidFill>
                <a:latin typeface="Arial"/>
              </a:rPr>
              <a:t>Immediate</a:t>
            </a:r>
          </a:p>
        </p:txBody>
      </p:sp>
      <p:cxnSp>
        <p:nvCxnSpPr>
          <p:cNvPr id="31" name="Connector 30"/>
          <p:cNvCxnSpPr/>
          <p:nvPr/>
        </p:nvCxnSpPr>
        <p:spPr>
          <a:xfrm>
            <a:off x="960120" y="3611880"/>
            <a:ext cx="1077437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57200" y="3666744"/>
            <a:ext cx="502920" cy="65836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3666744"/>
            <a:ext cx="502920" cy="658368"/>
          </a:xfrm>
          <a:prstGeom prst="rect">
            <a:avLst/>
          </a:prstGeom>
          <a:noFill/>
        </p:spPr>
        <p:txBody>
          <a:bodyPr wrap="square" lIns="0" tIns="0" rIns="0" bIns="0" anchor="ctr">
            <a:spAutoFit/>
          </a:bodyPr>
          <a:lstStyle/>
          <a:p>
            <a:pPr algn="ctr">
              <a:spcAft>
                <a:spcPts val="0"/>
              </a:spcAft>
            </a:pPr>
            <a:r>
              <a:rPr sz="1800" b="0" i="0">
                <a:solidFill>
                  <a:srgbClr val="FFFFFF"/>
                </a:solidFill>
                <a:latin typeface="Georgia"/>
              </a:rPr>
              <a:t>4</a:t>
            </a:r>
          </a:p>
        </p:txBody>
      </p:sp>
      <p:sp>
        <p:nvSpPr>
          <p:cNvPr id="34" name="Rectangle 33"/>
          <p:cNvSpPr/>
          <p:nvPr/>
        </p:nvSpPr>
        <p:spPr>
          <a:xfrm>
            <a:off x="960120" y="3666744"/>
            <a:ext cx="10774375"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43000" y="3721608"/>
            <a:ext cx="3017520" cy="548640"/>
          </a:xfrm>
          <a:prstGeom prst="rect">
            <a:avLst/>
          </a:prstGeom>
          <a:noFill/>
        </p:spPr>
        <p:txBody>
          <a:bodyPr wrap="square" lIns="0" tIns="0" rIns="0" bIns="0" anchor="ctr">
            <a:spAutoFit/>
          </a:bodyPr>
          <a:lstStyle/>
          <a:p>
            <a:pPr algn="l">
              <a:lnSpc>
                <a:spcPct val="100000"/>
              </a:lnSpc>
              <a:spcAft>
                <a:spcPts val="0"/>
              </a:spcAft>
            </a:pPr>
            <a:r>
              <a:rPr sz="1100" b="1" i="0">
                <a:solidFill>
                  <a:srgbClr val="051C2C"/>
                </a:solidFill>
                <a:latin typeface="Arial"/>
              </a:rPr>
              <a:t>Stand up the two-person AI-native pod</a:t>
            </a:r>
          </a:p>
        </p:txBody>
      </p:sp>
      <p:sp>
        <p:nvSpPr>
          <p:cNvPr id="36" name="TextBox 35"/>
          <p:cNvSpPr txBox="1"/>
          <p:nvPr/>
        </p:nvSpPr>
        <p:spPr>
          <a:xfrm>
            <a:off x="4251960" y="3721608"/>
            <a:ext cx="5120640" cy="548640"/>
          </a:xfrm>
          <a:prstGeom prst="rect">
            <a:avLst/>
          </a:prstGeom>
          <a:noFill/>
        </p:spPr>
        <p:txBody>
          <a:bodyPr wrap="square" lIns="0" tIns="0" rIns="0" bIns="0" anchor="ctr">
            <a:spAutoFit/>
          </a:bodyPr>
          <a:lstStyle/>
          <a:p>
            <a:pPr algn="l">
              <a:lnSpc>
                <a:spcPct val="108000"/>
              </a:lnSpc>
              <a:spcAft>
                <a:spcPts val="0"/>
              </a:spcAft>
            </a:pPr>
            <a:r>
              <a:rPr sz="950" b="0" i="0">
                <a:solidFill>
                  <a:srgbClr val="262626"/>
                </a:solidFill>
                <a:latin typeface="Arial"/>
              </a:rPr>
              <a:t>First delivery: the Analyst, on a two-week clock. Its second purpose is to prove the delivery-cost thesis to the board.</a:t>
            </a:r>
          </a:p>
        </p:txBody>
      </p:sp>
      <p:sp>
        <p:nvSpPr>
          <p:cNvPr id="37" name="TextBox 36"/>
          <p:cNvSpPr txBox="1"/>
          <p:nvPr/>
        </p:nvSpPr>
        <p:spPr>
          <a:xfrm>
            <a:off x="9464040" y="3721608"/>
            <a:ext cx="1143000" cy="548640"/>
          </a:xfrm>
          <a:prstGeom prst="rect">
            <a:avLst/>
          </a:prstGeom>
          <a:noFill/>
        </p:spPr>
        <p:txBody>
          <a:bodyPr wrap="square" lIns="0" tIns="0" rIns="0" bIns="0" anchor="ctr">
            <a:spAutoFit/>
          </a:bodyPr>
          <a:lstStyle/>
          <a:p>
            <a:pPr algn="l">
              <a:spcAft>
                <a:spcPts val="0"/>
              </a:spcAft>
            </a:pPr>
            <a:r>
              <a:rPr sz="900" b="0" i="0">
                <a:solidFill>
                  <a:srgbClr val="7F7F7F"/>
                </a:solidFill>
                <a:latin typeface="Arial"/>
              </a:rPr>
              <a:t>Emmanuel / CTO</a:t>
            </a:r>
          </a:p>
        </p:txBody>
      </p:sp>
      <p:sp>
        <p:nvSpPr>
          <p:cNvPr id="38" name="TextBox 37"/>
          <p:cNvSpPr txBox="1"/>
          <p:nvPr/>
        </p:nvSpPr>
        <p:spPr>
          <a:xfrm>
            <a:off x="10652760" y="3721608"/>
            <a:ext cx="987552" cy="548640"/>
          </a:xfrm>
          <a:prstGeom prst="rect">
            <a:avLst/>
          </a:prstGeom>
          <a:noFill/>
        </p:spPr>
        <p:txBody>
          <a:bodyPr wrap="square" lIns="0" tIns="0" rIns="0" bIns="0" anchor="ctr">
            <a:spAutoFit/>
          </a:bodyPr>
          <a:lstStyle/>
          <a:p>
            <a:pPr algn="r">
              <a:spcAft>
                <a:spcPts val="0"/>
              </a:spcAft>
            </a:pPr>
            <a:r>
              <a:rPr sz="900" b="1" i="0">
                <a:solidFill>
                  <a:srgbClr val="051C2C"/>
                </a:solidFill>
                <a:latin typeface="Arial"/>
              </a:rPr>
              <a:t>Week 2</a:t>
            </a:r>
          </a:p>
        </p:txBody>
      </p:sp>
      <p:cxnSp>
        <p:nvCxnSpPr>
          <p:cNvPr id="39" name="Connector 38"/>
          <p:cNvCxnSpPr/>
          <p:nvPr/>
        </p:nvCxnSpPr>
        <p:spPr>
          <a:xfrm>
            <a:off x="960120" y="4325112"/>
            <a:ext cx="1077437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57200" y="4379976"/>
            <a:ext cx="502920" cy="65836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57200" y="4379976"/>
            <a:ext cx="502920" cy="658368"/>
          </a:xfrm>
          <a:prstGeom prst="rect">
            <a:avLst/>
          </a:prstGeom>
          <a:noFill/>
        </p:spPr>
        <p:txBody>
          <a:bodyPr wrap="square" lIns="0" tIns="0" rIns="0" bIns="0" anchor="ctr">
            <a:spAutoFit/>
          </a:bodyPr>
          <a:lstStyle/>
          <a:p>
            <a:pPr algn="ctr">
              <a:spcAft>
                <a:spcPts val="0"/>
              </a:spcAft>
            </a:pPr>
            <a:r>
              <a:rPr sz="1800" b="0" i="0">
                <a:solidFill>
                  <a:srgbClr val="FFFFFF"/>
                </a:solidFill>
                <a:latin typeface="Georgia"/>
              </a:rPr>
              <a:t>5</a:t>
            </a:r>
          </a:p>
        </p:txBody>
      </p:sp>
      <p:sp>
        <p:nvSpPr>
          <p:cNvPr id="42" name="Rectangle 41"/>
          <p:cNvSpPr/>
          <p:nvPr/>
        </p:nvSpPr>
        <p:spPr>
          <a:xfrm>
            <a:off x="960120" y="4379976"/>
            <a:ext cx="10774375"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43000" y="4434840"/>
            <a:ext cx="3017520" cy="548640"/>
          </a:xfrm>
          <a:prstGeom prst="rect">
            <a:avLst/>
          </a:prstGeom>
          <a:noFill/>
        </p:spPr>
        <p:txBody>
          <a:bodyPr wrap="square" lIns="0" tIns="0" rIns="0" bIns="0" anchor="ctr">
            <a:spAutoFit/>
          </a:bodyPr>
          <a:lstStyle/>
          <a:p>
            <a:pPr algn="l">
              <a:lnSpc>
                <a:spcPct val="100000"/>
              </a:lnSpc>
              <a:spcAft>
                <a:spcPts val="0"/>
              </a:spcAft>
            </a:pPr>
            <a:r>
              <a:rPr sz="1100" b="1" i="0">
                <a:solidFill>
                  <a:srgbClr val="051C2C"/>
                </a:solidFill>
                <a:latin typeface="Arial"/>
              </a:rPr>
              <a:t>Turn on recommendation telemetry</a:t>
            </a:r>
          </a:p>
        </p:txBody>
      </p:sp>
      <p:sp>
        <p:nvSpPr>
          <p:cNvPr id="44" name="TextBox 43"/>
          <p:cNvSpPr txBox="1"/>
          <p:nvPr/>
        </p:nvSpPr>
        <p:spPr>
          <a:xfrm>
            <a:off x="4251960" y="4434840"/>
            <a:ext cx="5120640" cy="548640"/>
          </a:xfrm>
          <a:prstGeom prst="rect">
            <a:avLst/>
          </a:prstGeom>
          <a:noFill/>
        </p:spPr>
        <p:txBody>
          <a:bodyPr wrap="square" lIns="0" tIns="0" rIns="0" bIns="0" anchor="ctr">
            <a:spAutoFit/>
          </a:bodyPr>
          <a:lstStyle/>
          <a:p>
            <a:pPr algn="l">
              <a:lnSpc>
                <a:spcPct val="108000"/>
              </a:lnSpc>
              <a:spcAft>
                <a:spcPts val="0"/>
              </a:spcAft>
            </a:pPr>
            <a:r>
              <a:rPr sz="950" b="0" i="0">
                <a:solidFill>
                  <a:srgbClr val="262626"/>
                </a:solidFill>
                <a:latin typeface="Arial"/>
              </a:rPr>
              <a:t>Accept, modify, reject — and the outcome. Cheap today, impossible to reconstruct later.</a:t>
            </a:r>
          </a:p>
        </p:txBody>
      </p:sp>
      <p:sp>
        <p:nvSpPr>
          <p:cNvPr id="45" name="TextBox 44"/>
          <p:cNvSpPr txBox="1"/>
          <p:nvPr/>
        </p:nvSpPr>
        <p:spPr>
          <a:xfrm>
            <a:off x="9464040" y="4434840"/>
            <a:ext cx="1143000" cy="548640"/>
          </a:xfrm>
          <a:prstGeom prst="rect">
            <a:avLst/>
          </a:prstGeom>
          <a:noFill/>
        </p:spPr>
        <p:txBody>
          <a:bodyPr wrap="square" lIns="0" tIns="0" rIns="0" bIns="0" anchor="ctr">
            <a:spAutoFit/>
          </a:bodyPr>
          <a:lstStyle/>
          <a:p>
            <a:pPr algn="l">
              <a:spcAft>
                <a:spcPts val="0"/>
              </a:spcAft>
            </a:pPr>
            <a:r>
              <a:rPr sz="900" b="0" i="0">
                <a:solidFill>
                  <a:srgbClr val="7F7F7F"/>
                </a:solidFill>
                <a:latin typeface="Arial"/>
              </a:rPr>
              <a:t>Engineering</a:t>
            </a:r>
          </a:p>
        </p:txBody>
      </p:sp>
      <p:sp>
        <p:nvSpPr>
          <p:cNvPr id="46" name="TextBox 45"/>
          <p:cNvSpPr txBox="1"/>
          <p:nvPr/>
        </p:nvSpPr>
        <p:spPr>
          <a:xfrm>
            <a:off x="10652760" y="4434840"/>
            <a:ext cx="987552" cy="548640"/>
          </a:xfrm>
          <a:prstGeom prst="rect">
            <a:avLst/>
          </a:prstGeom>
          <a:noFill/>
        </p:spPr>
        <p:txBody>
          <a:bodyPr wrap="square" lIns="0" tIns="0" rIns="0" bIns="0" anchor="ctr">
            <a:spAutoFit/>
          </a:bodyPr>
          <a:lstStyle/>
          <a:p>
            <a:pPr algn="r">
              <a:spcAft>
                <a:spcPts val="0"/>
              </a:spcAft>
            </a:pPr>
            <a:r>
              <a:rPr sz="900" b="1" i="0">
                <a:solidFill>
                  <a:srgbClr val="051C2C"/>
                </a:solidFill>
                <a:latin typeface="Arial"/>
              </a:rPr>
              <a:t>Week 2</a:t>
            </a:r>
          </a:p>
        </p:txBody>
      </p:sp>
      <p:cxnSp>
        <p:nvCxnSpPr>
          <p:cNvPr id="47" name="Connector 46"/>
          <p:cNvCxnSpPr/>
          <p:nvPr/>
        </p:nvCxnSpPr>
        <p:spPr>
          <a:xfrm>
            <a:off x="960120" y="5038344"/>
            <a:ext cx="1077437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457200" y="5093208"/>
            <a:ext cx="502920" cy="65836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57200" y="5093208"/>
            <a:ext cx="502920" cy="658368"/>
          </a:xfrm>
          <a:prstGeom prst="rect">
            <a:avLst/>
          </a:prstGeom>
          <a:noFill/>
        </p:spPr>
        <p:txBody>
          <a:bodyPr wrap="square" lIns="0" tIns="0" rIns="0" bIns="0" anchor="ctr">
            <a:spAutoFit/>
          </a:bodyPr>
          <a:lstStyle/>
          <a:p>
            <a:pPr algn="ctr">
              <a:spcAft>
                <a:spcPts val="0"/>
              </a:spcAft>
            </a:pPr>
            <a:r>
              <a:rPr sz="1800" b="0" i="0">
                <a:solidFill>
                  <a:srgbClr val="FFFFFF"/>
                </a:solidFill>
                <a:latin typeface="Georgia"/>
              </a:rPr>
              <a:t>6</a:t>
            </a:r>
          </a:p>
        </p:txBody>
      </p:sp>
      <p:sp>
        <p:nvSpPr>
          <p:cNvPr id="50" name="Rectangle 49"/>
          <p:cNvSpPr/>
          <p:nvPr/>
        </p:nvSpPr>
        <p:spPr>
          <a:xfrm>
            <a:off x="960120" y="5093208"/>
            <a:ext cx="10774375"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143000" y="5148072"/>
            <a:ext cx="3017520" cy="548640"/>
          </a:xfrm>
          <a:prstGeom prst="rect">
            <a:avLst/>
          </a:prstGeom>
          <a:noFill/>
        </p:spPr>
        <p:txBody>
          <a:bodyPr wrap="square" lIns="0" tIns="0" rIns="0" bIns="0" anchor="ctr">
            <a:spAutoFit/>
          </a:bodyPr>
          <a:lstStyle/>
          <a:p>
            <a:pPr algn="l">
              <a:lnSpc>
                <a:spcPct val="100000"/>
              </a:lnSpc>
              <a:spcAft>
                <a:spcPts val="0"/>
              </a:spcAft>
            </a:pPr>
            <a:r>
              <a:rPr sz="1100" b="1" i="0">
                <a:solidFill>
                  <a:srgbClr val="051C2C"/>
                </a:solidFill>
                <a:latin typeface="Arial"/>
              </a:rPr>
              <a:t>Open the Indicata conversation</a:t>
            </a:r>
          </a:p>
        </p:txBody>
      </p:sp>
      <p:sp>
        <p:nvSpPr>
          <p:cNvPr id="52" name="TextBox 51"/>
          <p:cNvSpPr txBox="1"/>
          <p:nvPr/>
        </p:nvSpPr>
        <p:spPr>
          <a:xfrm>
            <a:off x="4251960" y="5148072"/>
            <a:ext cx="5120640" cy="548640"/>
          </a:xfrm>
          <a:prstGeom prst="rect">
            <a:avLst/>
          </a:prstGeom>
          <a:noFill/>
        </p:spPr>
        <p:txBody>
          <a:bodyPr wrap="square" lIns="0" tIns="0" rIns="0" bIns="0" anchor="ctr">
            <a:spAutoFit/>
          </a:bodyPr>
          <a:lstStyle/>
          <a:p>
            <a:pPr algn="l">
              <a:lnSpc>
                <a:spcPct val="108000"/>
              </a:lnSpc>
              <a:spcAft>
                <a:spcPts val="0"/>
              </a:spcAft>
            </a:pPr>
            <a:r>
              <a:rPr sz="950" b="0" i="0">
                <a:solidFill>
                  <a:srgbClr val="262626"/>
                </a:solidFill>
                <a:latin typeface="Arial"/>
              </a:rPr>
              <a:t>On the critical path for Horizon 2. Commercial negotiations take longer than integrations.</a:t>
            </a:r>
          </a:p>
        </p:txBody>
      </p:sp>
      <p:sp>
        <p:nvSpPr>
          <p:cNvPr id="53" name="TextBox 52"/>
          <p:cNvSpPr txBox="1"/>
          <p:nvPr/>
        </p:nvSpPr>
        <p:spPr>
          <a:xfrm>
            <a:off x="9464040" y="5148072"/>
            <a:ext cx="1143000" cy="548640"/>
          </a:xfrm>
          <a:prstGeom prst="rect">
            <a:avLst/>
          </a:prstGeom>
          <a:noFill/>
        </p:spPr>
        <p:txBody>
          <a:bodyPr wrap="square" lIns="0" tIns="0" rIns="0" bIns="0" anchor="ctr">
            <a:spAutoFit/>
          </a:bodyPr>
          <a:lstStyle/>
          <a:p>
            <a:pPr algn="l">
              <a:spcAft>
                <a:spcPts val="0"/>
              </a:spcAft>
            </a:pPr>
            <a:r>
              <a:rPr sz="900" b="0" i="0">
                <a:solidFill>
                  <a:srgbClr val="7F7F7F"/>
                </a:solidFill>
                <a:latin typeface="Arial"/>
              </a:rPr>
              <a:t>Emmanuel</a:t>
            </a:r>
          </a:p>
        </p:txBody>
      </p:sp>
      <p:sp>
        <p:nvSpPr>
          <p:cNvPr id="54" name="TextBox 53"/>
          <p:cNvSpPr txBox="1"/>
          <p:nvPr/>
        </p:nvSpPr>
        <p:spPr>
          <a:xfrm>
            <a:off x="10652760" y="5148072"/>
            <a:ext cx="987552" cy="548640"/>
          </a:xfrm>
          <a:prstGeom prst="rect">
            <a:avLst/>
          </a:prstGeom>
          <a:noFill/>
        </p:spPr>
        <p:txBody>
          <a:bodyPr wrap="square" lIns="0" tIns="0" rIns="0" bIns="0" anchor="ctr">
            <a:spAutoFit/>
          </a:bodyPr>
          <a:lstStyle/>
          <a:p>
            <a:pPr algn="r">
              <a:spcAft>
                <a:spcPts val="0"/>
              </a:spcAft>
            </a:pPr>
            <a:r>
              <a:rPr sz="900" b="1" i="0">
                <a:solidFill>
                  <a:srgbClr val="051C2C"/>
                </a:solidFill>
                <a:latin typeface="Arial"/>
              </a:rPr>
              <a:t>Week 2</a:t>
            </a:r>
          </a:p>
        </p:txBody>
      </p:sp>
      <p:cxnSp>
        <p:nvCxnSpPr>
          <p:cNvPr id="55" name="Connector 54"/>
          <p:cNvCxnSpPr/>
          <p:nvPr/>
        </p:nvCxnSpPr>
        <p:spPr>
          <a:xfrm>
            <a:off x="960120" y="5751576"/>
            <a:ext cx="1077437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143000" y="1463040"/>
            <a:ext cx="2743200" cy="228600"/>
          </a:xfrm>
          <a:prstGeom prst="rect">
            <a:avLst/>
          </a:prstGeom>
          <a:noFill/>
        </p:spPr>
        <p:txBody>
          <a:bodyPr wrap="square" lIns="0" tIns="0" rIns="0" bIns="0" anchor="t">
            <a:spAutoFit/>
          </a:bodyPr>
          <a:lstStyle/>
          <a:p>
            <a:pPr algn="l">
              <a:spcAft>
                <a:spcPts val="0"/>
              </a:spcAft>
            </a:pPr>
            <a:r>
              <a:rPr sz="750" b="1" i="0">
                <a:solidFill>
                  <a:srgbClr val="7F7F7F"/>
                </a:solidFill>
                <a:latin typeface="Arial"/>
              </a:rPr>
              <a:t>DECISION</a:t>
            </a:r>
          </a:p>
        </p:txBody>
      </p:sp>
      <p:sp>
        <p:nvSpPr>
          <p:cNvPr id="57" name="TextBox 56"/>
          <p:cNvSpPr txBox="1"/>
          <p:nvPr/>
        </p:nvSpPr>
        <p:spPr>
          <a:xfrm>
            <a:off x="9464040" y="1463040"/>
            <a:ext cx="1143000" cy="228600"/>
          </a:xfrm>
          <a:prstGeom prst="rect">
            <a:avLst/>
          </a:prstGeom>
          <a:noFill/>
        </p:spPr>
        <p:txBody>
          <a:bodyPr wrap="square" lIns="0" tIns="0" rIns="0" bIns="0" anchor="t">
            <a:spAutoFit/>
          </a:bodyPr>
          <a:lstStyle/>
          <a:p>
            <a:pPr algn="l">
              <a:spcAft>
                <a:spcPts val="0"/>
              </a:spcAft>
            </a:pPr>
            <a:r>
              <a:rPr sz="750" b="1" i="0">
                <a:solidFill>
                  <a:srgbClr val="7F7F7F"/>
                </a:solidFill>
                <a:latin typeface="Arial"/>
              </a:rPr>
              <a:t>OWNER</a:t>
            </a:r>
          </a:p>
        </p:txBody>
      </p:sp>
      <p:sp>
        <p:nvSpPr>
          <p:cNvPr id="58" name="TextBox 57"/>
          <p:cNvSpPr txBox="1"/>
          <p:nvPr/>
        </p:nvSpPr>
        <p:spPr>
          <a:xfrm>
            <a:off x="10652760" y="1463040"/>
            <a:ext cx="987552" cy="228600"/>
          </a:xfrm>
          <a:prstGeom prst="rect">
            <a:avLst/>
          </a:prstGeom>
          <a:noFill/>
        </p:spPr>
        <p:txBody>
          <a:bodyPr wrap="square" lIns="0" tIns="0" rIns="0" bIns="0" anchor="t">
            <a:spAutoFit/>
          </a:bodyPr>
          <a:lstStyle/>
          <a:p>
            <a:pPr algn="r">
              <a:spcAft>
                <a:spcPts val="0"/>
              </a:spcAft>
            </a:pPr>
            <a:r>
              <a:rPr sz="750" b="1" i="0">
                <a:solidFill>
                  <a:srgbClr val="7F7F7F"/>
                </a:solidFill>
                <a:latin typeface="Arial"/>
              </a:rPr>
              <a:t>WHEN</a:t>
            </a:r>
          </a:p>
        </p:txBody>
      </p:sp>
      <p:sp>
        <p:nvSpPr>
          <p:cNvPr id="59" name="TextBox 58"/>
          <p:cNvSpPr txBox="1"/>
          <p:nvPr/>
        </p:nvSpPr>
        <p:spPr>
          <a:xfrm>
            <a:off x="457200" y="5852160"/>
            <a:ext cx="11277295" cy="274320"/>
          </a:xfrm>
          <a:prstGeom prst="rect">
            <a:avLst/>
          </a:prstGeom>
          <a:noFill/>
        </p:spPr>
        <p:txBody>
          <a:bodyPr wrap="square" lIns="0" tIns="0" rIns="0" bIns="0" anchor="t">
            <a:spAutoFit/>
          </a:bodyPr>
          <a:lstStyle/>
          <a:p>
            <a:pPr algn="ctr">
              <a:spcAft>
                <a:spcPts val="0"/>
              </a:spcAft>
            </a:pPr>
            <a:r>
              <a:rPr sz="1200" b="0" i="0">
                <a:solidFill>
                  <a:srgbClr val="051C2C"/>
                </a:solidFill>
                <a:latin typeface="Georgia"/>
              </a:rPr>
              <a:t>The real risk is not choosing the wrong AI strategy. It is spending 2027 deciding.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84048"/>
            <a:ext cx="9692640" cy="914400"/>
          </a:xfrm>
          <a:prstGeom prst="rect">
            <a:avLst/>
          </a:prstGeom>
          <a:noFill/>
        </p:spPr>
        <p:txBody>
          <a:bodyPr wrap="square" lIns="0" tIns="0" rIns="0" bIns="0" anchor="t">
            <a:spAutoFit/>
          </a:bodyPr>
          <a:lstStyle/>
          <a:p>
            <a:pPr algn="l">
              <a:lnSpc>
                <a:spcPct val="105000"/>
              </a:lnSpc>
              <a:spcAft>
                <a:spcPts val="0"/>
              </a:spcAft>
            </a:pPr>
            <a:r>
              <a:rPr sz="2000" b="0" i="0">
                <a:solidFill>
                  <a:srgbClr val="051C2C"/>
                </a:solidFill>
                <a:latin typeface="Georgia"/>
              </a:rPr>
              <a:t>Appendix — every figure in this document is given, derived or assumed; none is verified against WeYield's accounts</a:t>
            </a:r>
          </a:p>
        </p:txBody>
      </p:sp>
      <p:cxnSp>
        <p:nvCxnSpPr>
          <p:cNvPr id="3" name="Connector 2"/>
          <p:cNvCxnSpPr/>
          <p:nvPr/>
        </p:nvCxnSpPr>
        <p:spPr>
          <a:xfrm>
            <a:off x="457200" y="1344168"/>
            <a:ext cx="11277295" cy="0"/>
          </a:xfrm>
          <a:prstGeom prst="line">
            <a:avLst/>
          </a:prstGeom>
          <a:ln w="9525">
            <a:solidFill>
              <a:srgbClr val="051C2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0" y="182880"/>
            <a:ext cx="2679192" cy="228600"/>
          </a:xfrm>
          <a:prstGeom prst="rect">
            <a:avLst/>
          </a:prstGeom>
          <a:noFill/>
        </p:spPr>
        <p:txBody>
          <a:bodyPr wrap="square" lIns="0" tIns="0" rIns="0" bIns="0" anchor="t">
            <a:spAutoFit/>
          </a:bodyPr>
          <a:lstStyle/>
          <a:p>
            <a:pPr algn="r">
              <a:spcAft>
                <a:spcPts val="400"/>
              </a:spcAft>
            </a:pPr>
            <a:r>
              <a:rPr sz="750" b="0" i="0">
                <a:solidFill>
                  <a:srgbClr val="7F7F7F"/>
                </a:solidFill>
                <a:latin typeface="Arial"/>
              </a:rPr>
              <a:t>APPENDIX</a:t>
            </a:r>
          </a:p>
        </p:txBody>
      </p:sp>
      <p:sp>
        <p:nvSpPr>
          <p:cNvPr id="5" name="TextBox 4"/>
          <p:cNvSpPr txBox="1"/>
          <p:nvPr/>
        </p:nvSpPr>
        <p:spPr>
          <a:xfrm>
            <a:off x="457200" y="6355080"/>
            <a:ext cx="9875520" cy="365760"/>
          </a:xfrm>
          <a:prstGeom prst="rect">
            <a:avLst/>
          </a:prstGeom>
          <a:noFill/>
        </p:spPr>
        <p:txBody>
          <a:bodyPr wrap="square" lIns="0" tIns="0" rIns="0" bIns="0" anchor="t">
            <a:spAutoFit/>
          </a:bodyPr>
          <a:lstStyle/>
          <a:p>
            <a:pPr algn="l">
              <a:lnSpc>
                <a:spcPct val="100000"/>
              </a:lnSpc>
              <a:spcAft>
                <a:spcPts val="0"/>
              </a:spcAft>
            </a:pPr>
            <a:r>
              <a:rPr sz="750" b="0" i="0">
                <a:solidFill>
                  <a:srgbClr val="7F7F7F"/>
                </a:solidFill>
                <a:latin typeface="Arial"/>
              </a:rPr>
              <a:t>Source: Olivier Jager, strategic review (CR_reunion_WeYield, 10 Sep 2026) and briefing call of the same date; The AI Turn for WeYield (Sep 2026). Prepared by Ram Badrinathan, September 2026.</a:t>
            </a:r>
          </a:p>
        </p:txBody>
      </p:sp>
      <p:sp>
        <p:nvSpPr>
          <p:cNvPr id="6" name="TextBox 5"/>
          <p:cNvSpPr txBox="1"/>
          <p:nvPr/>
        </p:nvSpPr>
        <p:spPr>
          <a:xfrm>
            <a:off x="10972800" y="6373368"/>
            <a:ext cx="758952" cy="228600"/>
          </a:xfrm>
          <a:prstGeom prst="rect">
            <a:avLst/>
          </a:prstGeom>
          <a:noFill/>
        </p:spPr>
        <p:txBody>
          <a:bodyPr wrap="square" lIns="0" tIns="0" rIns="0" bIns="0" anchor="t">
            <a:spAutoFit/>
          </a:bodyPr>
          <a:lstStyle/>
          <a:p>
            <a:pPr algn="r">
              <a:spcAft>
                <a:spcPts val="400"/>
              </a:spcAft>
            </a:pPr>
            <a:r>
              <a:rPr sz="850" b="0" i="0">
                <a:solidFill>
                  <a:srgbClr val="7F7F7F"/>
                </a:solidFill>
                <a:latin typeface="Arial"/>
              </a:rPr>
              <a:t>21</a:t>
            </a:r>
          </a:p>
        </p:txBody>
      </p:sp>
      <p:cxnSp>
        <p:nvCxnSpPr>
          <p:cNvPr id="7" name="Connector 6"/>
          <p:cNvCxnSpPr/>
          <p:nvPr/>
        </p:nvCxnSpPr>
        <p:spPr>
          <a:xfrm>
            <a:off x="457200" y="6281928"/>
            <a:ext cx="11277295" cy="0"/>
          </a:xfrm>
          <a:prstGeom prst="line">
            <a:avLst/>
          </a:prstGeom>
          <a:ln w="635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457200" y="1527048"/>
          <a:ext cx="11274551" cy="3858768"/>
        </p:xfrm>
        <a:graphic>
          <a:graphicData uri="http://schemas.openxmlformats.org/drawingml/2006/table">
            <a:tbl>
              <a:tblPr firstRow="0" bandRow="0">
                <a:tableStyleId>{2D5ABB26-0587-4C30-8999-92F81FD0307C}</a:tableStyleId>
              </a:tblPr>
              <a:tblGrid>
                <a:gridCol w="1371600"/>
                <a:gridCol w="5852160"/>
                <a:gridCol w="4050791"/>
              </a:tblGrid>
              <a:tr h="384048">
                <a:tc>
                  <a:txBody>
                    <a:bodyPr wrap="square"/>
                    <a:lstStyle/>
                    <a:p>
                      <a:r>
                        <a:rPr sz="950" b="1" i="0">
                          <a:solidFill>
                            <a:srgbClr val="FFFFFF"/>
                          </a:solidFill>
                          <a:latin typeface="Arial"/>
                        </a:rPr>
                        <a:t>Category</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Figures</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c>
                  <a:txBody>
                    <a:bodyPr wrap="square"/>
                    <a:lstStyle/>
                    <a:p>
                      <a:r>
                        <a:rPr sz="950" b="1" i="0">
                          <a:solidFill>
                            <a:srgbClr val="FFFFFF"/>
                          </a:solidFill>
                          <a:latin typeface="Arial"/>
                        </a:rPr>
                        <a:t>Treatment</a:t>
                      </a:r>
                    </a:p>
                  </a:txBody>
                  <a:tcPr marL="54864" marR="54864" marT="41148" marB="41148" anchor="ctr">
                    <a:lnL w="0">
                      <a:noFill/>
                    </a:lnL>
                    <a:lnR w="0">
                      <a:noFill/>
                    </a:lnR>
                    <a:lnT w="0">
                      <a:noFill/>
                    </a:lnT>
                    <a:lnB w="9525" cap="flat" cmpd="sng" algn="ctr">
                      <a:solidFill>
                        <a:srgbClr val="051C2C"/>
                      </a:solidFill>
                      <a:prstDash val="solid"/>
                    </a:lnB>
                    <a:solidFill>
                      <a:srgbClr val="051C2C"/>
                    </a:solidFill>
                  </a:tcPr>
                </a:tc>
              </a:tr>
              <a:tr h="868680">
                <a:tc>
                  <a:txBody>
                    <a:bodyPr wrap="square"/>
                    <a:lstStyle/>
                    <a:p>
                      <a:r>
                        <a:rPr sz="950" b="1" i="0">
                          <a:solidFill>
                            <a:srgbClr val="262626"/>
                          </a:solidFill>
                          <a:latin typeface="Arial"/>
                        </a:rPr>
                        <a:t>Given</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€1.5M revenue · ~120 customers · 9 employees, 2 in sales · 600–1,000 addressable · 10–15% growth · EBITDA flat/contracting · ~€2M standing offer · 2–3 year exit intent · 4% industry net margin · average deal “under €40K” · +6% RPD at Aircar</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As reported by Olivier Jager, 10 September 2026. Not independently verified.</a:t>
                      </a:r>
                    </a:p>
                  </a:txBody>
                  <a:tcPr marL="54864" marR="54864" marT="41148" marB="41148" anchor="t">
                    <a:lnL w="0">
                      <a:noFill/>
                    </a:lnL>
                    <a:lnR w="0">
                      <a:noFill/>
                    </a:lnR>
                    <a:lnT w="0">
                      <a:noFill/>
                    </a:lnT>
                    <a:lnB w="9525" cap="flat" cmpd="sng" algn="ctr">
                      <a:solidFill>
                        <a:srgbClr val="D9D9D9"/>
                      </a:solidFill>
                      <a:prstDash val="solid"/>
                    </a:lnB>
                    <a:noFill/>
                  </a:tcPr>
                </a:tc>
              </a:tr>
              <a:tr h="868680">
                <a:tc>
                  <a:txBody>
                    <a:bodyPr wrap="square"/>
                    <a:lstStyle/>
                    <a:p>
                      <a:r>
                        <a:rPr sz="950" b="1" i="0">
                          <a:solidFill>
                            <a:srgbClr val="262626"/>
                          </a:solidFill>
                          <a:latin typeface="Arial"/>
                        </a:rPr>
                        <a:t>Derived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€12.5K implied ACV · 12–20% penetration · €7.5–12.5M TAM at current ACV · 1.3× revenue multiple · Rule of 40 ≈ 15 · ~€85K new ARR per rep</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Arithmetic on the given figures only.</a:t>
                      </a:r>
                    </a:p>
                  </a:txBody>
                  <a:tcPr marL="54864" marR="54864" marT="41148" marB="41148" anchor="t">
                    <a:lnL w="0">
                      <a:noFill/>
                    </a:lnL>
                    <a:lnR w="0">
                      <a:noFill/>
                    </a:lnR>
                    <a:lnT w="0">
                      <a:noFill/>
                    </a:lnT>
                    <a:lnB w="9525" cap="flat" cmpd="sng" algn="ctr">
                      <a:solidFill>
                        <a:srgbClr val="D9D9D9"/>
                      </a:solidFill>
                      <a:prstDash val="solid"/>
                    </a:lnB>
                    <a:noFill/>
                  </a:tcPr>
                </a:tc>
              </a:tr>
              <a:tr h="868680">
                <a:tc>
                  <a:txBody>
                    <a:bodyPr wrap="square"/>
                    <a:lstStyle/>
                    <a:p>
                      <a:r>
                        <a:rPr sz="950" b="1" i="0">
                          <a:solidFill>
                            <a:srgbClr val="262626"/>
                          </a:solidFill>
                          <a:latin typeface="Arial"/>
                        </a:rPr>
                        <a:t>Assumed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Cost base ~€1.4M · people ~€1.0–1.05M · ~5 of 9 heads in engineering · €90K loaded rep cost · €700 RPU/month · €15K disposal value · 20/100 account distribution · all Year 1–3 projections · indicative multiple ranges</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1" i="0">
                          <a:solidFill>
                            <a:srgbClr val="262626"/>
                          </a:solidFill>
                          <a:latin typeface="Arial"/>
                        </a:rPr>
                        <a:t>Not verified.</a:t>
                      </a:r>
                      <a:r>
                        <a:rPr sz="950" b="0" i="0">
                          <a:solidFill>
                            <a:srgbClr val="262626"/>
                          </a:solidFill>
                          <a:latin typeface="Arial"/>
                        </a:rPr>
                        <a:t> Must be checked against WeYield's accounts before any external use.</a:t>
                      </a:r>
                    </a:p>
                  </a:txBody>
                  <a:tcPr marL="54864" marR="54864" marT="41148" marB="41148" anchor="t">
                    <a:lnL w="0">
                      <a:noFill/>
                    </a:lnL>
                    <a:lnR w="0">
                      <a:noFill/>
                    </a:lnR>
                    <a:lnT w="0">
                      <a:noFill/>
                    </a:lnT>
                    <a:lnB w="9525" cap="flat" cmpd="sng" algn="ctr">
                      <a:solidFill>
                        <a:srgbClr val="D9D9D9"/>
                      </a:solidFill>
                      <a:prstDash val="solid"/>
                    </a:lnB>
                    <a:noFill/>
                  </a:tcPr>
                </a:tc>
              </a:tr>
              <a:tr h="868680">
                <a:tc>
                  <a:txBody>
                    <a:bodyPr wrap="square"/>
                    <a:lstStyle/>
                    <a:p>
                      <a:r>
                        <a:rPr sz="950" b="1" i="0">
                          <a:solidFill>
                            <a:srgbClr val="262626"/>
                          </a:solidFill>
                          <a:latin typeface="Arial"/>
                        </a:rPr>
                        <a:t>Unresolved</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“Average deal under €40,000” vs €12,500 implied · 600 vs 600–1,000 addressable · “120 customers” vs “100+ users” · identity of the ~€2M acquirer</a:t>
                      </a:r>
                    </a:p>
                  </a:txBody>
                  <a:tcPr marL="54864" marR="54864" marT="41148" marB="41148" anchor="t">
                    <a:lnL w="0">
                      <a:noFill/>
                    </a:lnL>
                    <a:lnR w="0">
                      <a:noFill/>
                    </a:lnR>
                    <a:lnT w="0">
                      <a:noFill/>
                    </a:lnT>
                    <a:lnB w="9525" cap="flat" cmpd="sng" algn="ctr">
                      <a:solidFill>
                        <a:srgbClr val="D9D9D9"/>
                      </a:solidFill>
                      <a:prstDash val="solid"/>
                    </a:lnB>
                    <a:noFill/>
                  </a:tcPr>
                </a:tc>
                <a:tc>
                  <a:txBody>
                    <a:bodyPr wrap="square"/>
                    <a:lstStyle/>
                    <a:p>
                      <a:r>
                        <a:rPr sz="950" b="0" i="0">
                          <a:solidFill>
                            <a:srgbClr val="262626"/>
                          </a:solidFill>
                          <a:latin typeface="Arial"/>
                        </a:rPr>
                        <a:t>Flagged for confirmation on the call. </a:t>
                      </a:r>
                      <a:r>
                        <a:rPr sz="950" b="1" i="0">
                          <a:solidFill>
                            <a:srgbClr val="262626"/>
                          </a:solidFill>
                          <a:latin typeface="Arial"/>
                        </a:rPr>
                        <a:t>Probable reconciliation of the first:</a:t>
                      </a:r>
                      <a:r>
                        <a:rPr sz="950" b="0" i="0">
                          <a:solidFill>
                            <a:srgbClr val="262626"/>
                          </a:solidFill>
                          <a:latin typeface="Arial"/>
                        </a:rPr>
                        <a:t> ~20 accounts at €35–40K ≈ half of revenue; ~100 accounts at €7–8K ≈ the other half. If so, both figures are true — and the repricing opportunity is concentrated in 20 accounts.</a:t>
                      </a:r>
                    </a:p>
                  </a:txBody>
                  <a:tcPr marL="54864" marR="54864" marT="41148" marB="41148" anchor="t">
                    <a:lnL w="0">
                      <a:noFill/>
                    </a:lnL>
                    <a:lnR w="0">
                      <a:noFill/>
                    </a:lnR>
                    <a:lnT w="0">
                      <a:noFill/>
                    </a:lnT>
                    <a:lnB w="9525" cap="flat" cmpd="sng" algn="ctr">
                      <a:solidFill>
                        <a:srgbClr val="D9D9D9"/>
                      </a:solidFill>
                      <a:prstDash val="solid"/>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