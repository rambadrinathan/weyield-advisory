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" cy="5486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572768"/>
            <a:ext cx="96012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0" i="0">
                <a:solidFill>
                  <a:srgbClr val="FFFFFF"/>
                </a:solidFill>
                <a:latin typeface="Georgia"/>
              </a:rPr>
              <a:t>Building the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0" i="0">
                <a:solidFill>
                  <a:srgbClr val="FFFFFF"/>
                </a:solidFill>
                <a:latin typeface="Georgia"/>
              </a:rPr>
              <a:t>AI-native WeYield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46704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2251FF"/>
                </a:solidFill>
                <a:latin typeface="Arial"/>
              </a:rPr>
              <a:t>Version 2 — rewritten after our conversation of 13 September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03904"/>
            <a:ext cx="8961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 i="0">
                <a:solidFill>
                  <a:srgbClr val="99B4FF"/>
                </a:solidFill>
                <a:latin typeface="Arial"/>
              </a:rPr>
              <a:t>You have already built the hard half. This is about the half that is missing — and about the car, not the 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Strategic recommendation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99B4FF"/>
                </a:solidFill>
                <a:latin typeface="Arial"/>
              </a:rPr>
              <a:t>Prepared for Emmanuel Scuto, Chief Executive Officer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9B4FF"/>
                </a:solidFill>
                <a:latin typeface="Arial"/>
              </a:rPr>
              <a:t>Ram Badrinathan  ·  14 September 2026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126480"/>
            <a:ext cx="11277295" cy="0"/>
          </a:xfrm>
          <a:prstGeom prst="line">
            <a:avLst/>
          </a:prstGeom>
          <a:ln w="6350">
            <a:solidFill>
              <a:srgbClr val="2A3F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217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99B4FF"/>
                </a:solidFill>
                <a:latin typeface="Arial"/>
              </a:rPr>
              <a:t>PRELIMINARY — FOR DISCUSSION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2179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99B4FF"/>
                </a:solidFill>
                <a:latin typeface="Arial"/>
              </a:rPr>
              <a:t>Corrected against Emmanuel's own account, 13 Sep. Still not verified against company records.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What version 1 got wrong — corrected from your own account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VERSION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Source: conversation with Emmanuel Scuto, 13 September 2026. Version 1 was built from Olivier Jager's briefing and weyield.io alone; each row below replaces an inference with something you said.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27048"/>
          <a:ext cx="11274552" cy="433425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2377440"/>
                <a:gridCol w="4206240"/>
                <a:gridCol w="3456432"/>
              </a:tblGrid>
              <a:tr h="384048">
                <a:tc>
                  <a:txBody>
                    <a:bodyPr wrap="square"/>
                    <a:lstStyle/>
                    <a:p/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Version 1 assumed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You said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What it changes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The agent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That an AI layer had to be built from scratch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Christian has trained a 3B model on three years of your own recorded consultant calls. Self-hosted, no token cost, 95–97%, already with customers.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The whole posture.</a:t>
                      </a:r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 This deck is now about completing it, not starting it.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Geography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Europe-centric, with a long tail on islands and North Africa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“No, no — around the world, all of the world.”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The low-emission-zone analysis is Europe-only and cannot carry the residual argument on its own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Market size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600 to 1,000 operators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“100 plus out of the market of 1,000”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Penetration is ~10%, and the ceiling arithmetic moves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Profitability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EBITDA flat to contracting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“More or less we are </a:t>
                      </a:r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not making money over the last 10 years</a:t>
                      </a:r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.”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This is not a margin problem to optimise. It is a model that has never paid.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Exit horizon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Two to three years, sale to a third party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Five to six years, handing to your two C-levels — or reselling with them as shareholders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Changes what the plan is optimising for. </a:t>
                      </a:r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This contradicts Olivier's note — worth reconciling.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The buyer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An operator with a tool budget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“The last industry in travel accessible to you and I.” Craftsmen. One customer with 15 companies still updates rates with an Excel macro.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The single most important design constraint, and version 1 barely registered it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You have already built the part everyone else finds hard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1 · WHERE YOU ACTUALLY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Source: Emmanuel Scuto, 13 September 2026. Model size, quality figure and deployment described by him; not independently verified.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527048"/>
            <a:ext cx="5760720" cy="2468880"/>
          </a:xfrm>
          <a:prstGeom prst="rect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57200" y="1527048"/>
            <a:ext cx="54864" cy="24688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655064"/>
            <a:ext cx="5449824" cy="2249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051C2C"/>
                </a:solidFill>
                <a:latin typeface="Arial"/>
              </a:rPr>
              <a:t>What Christian built in three months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Three years of </a:t>
            </a:r>
            <a:r>
              <a:rPr sz="1050" b="1" i="0">
                <a:solidFill>
                  <a:srgbClr val="262626"/>
                </a:solidFill>
                <a:latin typeface="Arial"/>
              </a:rPr>
              <a:t>every consultant–customer conversation</a:t>
            </a:r>
            <a:r>
              <a:rPr sz="1050" b="0" i="0">
                <a:solidFill>
                  <a:srgbClr val="262626"/>
                </a:solidFill>
                <a:latin typeface="Arial"/>
              </a:rPr>
              <a:t>, recorded with consent. Turned into question-and-answer pairs, and used to fine-tune a </a:t>
            </a:r>
            <a:r>
              <a:rPr sz="1050" b="1" i="0">
                <a:solidFill>
                  <a:srgbClr val="262626"/>
                </a:solidFill>
                <a:latin typeface="Arial"/>
              </a:rPr>
              <a:t>3-billion-parameter open model</a:t>
            </a:r>
            <a:r>
              <a:rPr sz="1050" b="0" i="0">
                <a:solidFill>
                  <a:srgbClr val="262626"/>
                </a:solidFill>
                <a:latin typeface="Arial"/>
              </a:rPr>
              <a:t> — self-hosted, on your own infrastructure.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 i="0">
                <a:solidFill>
                  <a:srgbClr val="262626"/>
                </a:solidFill>
                <a:latin typeface="Arial"/>
              </a:rPr>
              <a:t>“We don't buy any tokens because it's on our side. We do what we want.”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The output: a </a:t>
            </a:r>
            <a:r>
              <a:rPr sz="1050" b="1" i="0">
                <a:solidFill>
                  <a:srgbClr val="262626"/>
                </a:solidFill>
                <a:latin typeface="Arial"/>
              </a:rPr>
              <a:t>daily summary telling the customer what to do today</a:t>
            </a:r>
            <a:r>
              <a:rPr sz="1050" b="0" i="0">
                <a:solidFill>
                  <a:srgbClr val="262626"/>
                </a:solidFill>
                <a:latin typeface="Arial"/>
              </a:rPr>
              <a:t>, across horizons. Quality at </a:t>
            </a:r>
            <a:r>
              <a:rPr sz="1050" b="1" i="0">
                <a:solidFill>
                  <a:srgbClr val="262626"/>
                </a:solidFill>
                <a:latin typeface="Arial"/>
              </a:rPr>
              <a:t>95–97%</a:t>
            </a:r>
            <a:r>
              <a:rPr sz="1050" b="0" i="0">
                <a:solidFill>
                  <a:srgbClr val="262626"/>
                </a:solidFill>
                <a:latin typeface="Arial"/>
              </a:rPr>
              <a:t> of how your own analysts would have written it. Already in customer testing.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78808"/>
            <a:ext cx="5760720" cy="1874519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8368" y="4315968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99B4FF"/>
                </a:solidFill>
                <a:latin typeface="Arial"/>
              </a:rPr>
              <a:t>WHY THIS IS RARE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608576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Almost nobody has a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proprietary training corpus</a:t>
            </a:r>
            <a:r>
              <a:rPr sz="1050" b="0" i="0">
                <a:solidFill>
                  <a:srgbClr val="FFFFFF"/>
                </a:solidFill>
                <a:latin typeface="Arial"/>
              </a:rPr>
              <a:t> in a vertical this narrow. Three years of expert conversation about car rental revenue management does not exist anywhere else, and cannot be bought. A generic model gave you hallucination; yours gives you 95–97% — that gap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is</a:t>
            </a:r>
            <a:r>
              <a:rPr sz="1050" b="0" i="0">
                <a:solidFill>
                  <a:srgbClr val="FFFFFF"/>
                </a:solidFill>
                <a:latin typeface="Arial"/>
              </a:rPr>
              <a:t> the corpus.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81328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What it means for this deck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0" y="1847088"/>
          <a:ext cx="5330952" cy="32369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299923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Version 1 said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Version 2 says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Build a weekly brief in a coach's voice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You have it.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Make it defensible and make it sell.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Ship the engine first, it takes eight weeks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The engine is largely running. </a:t>
                      </a:r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Eight weeks is now about the missing layer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, not the model.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Adopt a frontier model on EU infrastructure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Keep yours for the daily summary. Reach for a frontier model only where yours cannot go — see slide 16.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The methodology has to be written down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It already is — </a:t>
                      </a:r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inside the weights.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The risk is that it is </a:t>
                      </a:r>
                      <a:r>
                        <a:rPr sz="950" b="0" i="1">
                          <a:solidFill>
                            <a:srgbClr val="262626"/>
                          </a:solidFill>
                          <a:latin typeface="Arial"/>
                        </a:rPr>
                        <a:t>only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there.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400800" y="4910328"/>
            <a:ext cx="5330952" cy="1143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400800" y="4910328"/>
            <a:ext cx="54864" cy="11430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0" y="5038344"/>
            <a:ext cx="5020056" cy="923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0" i="0">
                <a:solidFill>
                  <a:srgbClr val="262626"/>
                </a:solidFill>
                <a:latin typeface="Arial"/>
              </a:rPr>
              <a:t>The uncomfortable implication: if the method now lives in a fine-tune nobody can read, </a:t>
            </a:r>
            <a:r>
              <a:rPr sz="1000" b="1" i="0">
                <a:solidFill>
                  <a:srgbClr val="262626"/>
                </a:solidFill>
                <a:latin typeface="Arial"/>
              </a:rPr>
              <a:t>you cannot audit it, price it, or defend a wrong answer.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That is what the next slides are about.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Executive summary — the product is right, the object is wrong, and the missing layer is trust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Source: Emmanuel Scuto, 13 September 2026; Olivier Jager's strategic review, 10 September 2026; weyield.io. Financial and market figures as reported by the company; nothing verified against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563624"/>
            <a:ext cx="310896" cy="310896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156362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27048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Arial"/>
              </a:rPr>
              <a:t>You have a genuine asset and a model that has never paid.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Ten years without making money, on a product the market calls a worldwide reference. That combination is not a pricing problem — it is a problem of what is being sold.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310896" cy="310896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95144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Arial"/>
              </a:rPr>
              <a:t>Your agent is real, and it is 3–5% wrong.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At 95–97% the model is good enough to impress and not good enough to sell on outcome. What is missing is not intelligence — it is a </a:t>
            </a:r>
            <a:r>
              <a:rPr sz="1100" b="1" i="0">
                <a:solidFill>
                  <a:srgbClr val="262626"/>
                </a:solidFill>
                <a:latin typeface="Arial"/>
              </a:rPr>
              <a:t>deterministic layer around it</a:t>
            </a:r>
            <a:r>
              <a:rPr sz="1100" b="0" i="0">
                <a:solidFill>
                  <a:srgbClr val="262626"/>
                </a:solidFill>
                <a:latin typeface="Arial"/>
              </a:rPr>
              <a:t>: computed facts, a rules engine, a verifier, and euro values on every recommendation.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99816"/>
            <a:ext cx="310896" cy="310896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30998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6324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Arial"/>
              </a:rPr>
              <a:t>Your customer is a craftsman, not an analyst.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Excel macros, no abstraction, “the last industry in travel accessible to you and I.” This kills the dashboard, validates email, and makes the coach more important, not less.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67912"/>
            <a:ext cx="310896" cy="310896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38679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31336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Arial"/>
              </a:rPr>
              <a:t>The profit is in the car, and you have never touched it.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Sixty to seventy per cent of your customers' cost is the vehicle itself. You optimise the rate. Nobody sells the buy-and-sell decision to this segment.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36008"/>
            <a:ext cx="310896" cy="310896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200" y="46360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99432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Arial"/>
              </a:rPr>
              <a:t>Two clocks are running.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The counter — the last place your customers make money — is being disinterme­diated. And OEMs are entering rental with unlimited capacity and the one thing your customers cannot offer: the car you actually booked.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04104"/>
            <a:ext cx="310896" cy="310896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" y="540410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67528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Arial"/>
              </a:rPr>
              <a:t>Build is no longer the constraint; distribution is.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The friction of making software has gone. Minimum viable product has become </a:t>
            </a:r>
            <a:r>
              <a:rPr sz="1100" b="1" i="0">
                <a:solidFill>
                  <a:srgbClr val="262626"/>
                </a:solidFill>
                <a:latin typeface="Arial"/>
              </a:rPr>
              <a:t>minimum viable distribution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— and that, not engineering, is what the next twelve months should be organised around.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A worldwide reference in its category that has not made money in ten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1 · WHERE YOU ACTUALLY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Source: Emmanuel Scuto, 13 September 2026, except where marked. Figures as stated by the company; not verified against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527048"/>
            <a:ext cx="181051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57200" y="1527048"/>
            <a:ext cx="1810512" cy="457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1709928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2012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1536192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>
                <a:solidFill>
                  <a:srgbClr val="262626"/>
                </a:solidFill>
                <a:latin typeface="Arial"/>
              </a:rPr>
              <a:t>Founded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7F7F7F"/>
                </a:solidFill>
                <a:latin typeface="Arial"/>
              </a:rPr>
              <a:t>Emmanuel's fourteenth 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4016" y="1527048"/>
            <a:ext cx="181051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414016" y="1527048"/>
            <a:ext cx="1810512" cy="457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1176" y="1709928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100+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1176" y="2240280"/>
            <a:ext cx="1536192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>
                <a:solidFill>
                  <a:srgbClr val="262626"/>
                </a:solidFill>
                <a:latin typeface="Arial"/>
              </a:rPr>
              <a:t>Customers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7F7F7F"/>
                </a:solidFill>
                <a:latin typeface="Arial"/>
              </a:rPr>
              <a:t>of a workable market of ~1,000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1527048"/>
            <a:ext cx="181051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70832" y="1527048"/>
            <a:ext cx="1810512" cy="457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07992" y="1709928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~10%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240280"/>
            <a:ext cx="1536192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>
                <a:solidFill>
                  <a:srgbClr val="262626"/>
                </a:solidFill>
                <a:latin typeface="Arial"/>
              </a:rPr>
              <a:t>Penetration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7F7F7F"/>
                </a:solidFill>
                <a:latin typeface="Arial"/>
              </a:rPr>
              <a:t>and the base is worldwide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7648" y="1527048"/>
            <a:ext cx="181051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327648" y="1527048"/>
            <a:ext cx="1810512" cy="457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64808" y="1709928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10 yrs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240280"/>
            <a:ext cx="1536192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>
                <a:solidFill>
                  <a:srgbClr val="262626"/>
                </a:solidFill>
                <a:latin typeface="Arial"/>
              </a:rPr>
              <a:t>Without profit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7F7F7F"/>
                </a:solidFill>
                <a:latin typeface="Arial"/>
              </a:rPr>
              <a:t>“more or less we are not making money”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71800"/>
            <a:ext cx="181051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57200" y="2971800"/>
            <a:ext cx="1810512" cy="457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4360" y="3154680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685032"/>
            <a:ext cx="1536192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>
                <a:solidFill>
                  <a:srgbClr val="262626"/>
                </a:solidFill>
                <a:latin typeface="Arial"/>
              </a:rPr>
              <a:t>People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7F7F7F"/>
                </a:solidFill>
                <a:latin typeface="Arial"/>
              </a:rPr>
              <a:t>Christian CTO, PhD maths and 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14016" y="2971800"/>
            <a:ext cx="181051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2414016" y="2971800"/>
            <a:ext cx="1810512" cy="457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551176" y="3154680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1 + 1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51176" y="3685032"/>
            <a:ext cx="1536192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>
                <a:solidFill>
                  <a:srgbClr val="262626"/>
                </a:solidFill>
                <a:latin typeface="Arial"/>
              </a:rPr>
              <a:t>In sales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7F7F7F"/>
                </a:solidFill>
                <a:latin typeface="Arial"/>
              </a:rPr>
              <a:t>one hire 10 months ago, 8 to ramp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0832" y="2971800"/>
            <a:ext cx="181051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370832" y="2971800"/>
            <a:ext cx="1810512" cy="457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507992" y="3154680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5–6 yrs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3685032"/>
            <a:ext cx="1536192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>
                <a:solidFill>
                  <a:srgbClr val="262626"/>
                </a:solidFill>
                <a:latin typeface="Arial"/>
              </a:rPr>
              <a:t>Exit horizon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7F7F7F"/>
                </a:solidFill>
                <a:latin typeface="Arial"/>
              </a:rPr>
              <a:t>to the two C-levels, or resale with them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7648" y="2971800"/>
            <a:ext cx="181051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327648" y="2971800"/>
            <a:ext cx="1810512" cy="457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64808" y="3154680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3 yrs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3685032"/>
            <a:ext cx="1536192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 i="0">
                <a:solidFill>
                  <a:srgbClr val="262626"/>
                </a:solidFill>
                <a:latin typeface="Arial"/>
              </a:rPr>
              <a:t>Of recorded calls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7F7F7F"/>
                </a:solidFill>
                <a:latin typeface="Arial"/>
              </a:rPr>
              <a:t>the training corpus, and the moat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1527048"/>
            <a:ext cx="3319272" cy="2331720"/>
          </a:xfrm>
          <a:prstGeom prst="rect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412480" y="1527048"/>
            <a:ext cx="54864" cy="23317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595359" y="1655064"/>
            <a:ext cx="3008376" cy="2112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051C2C"/>
                </a:solidFill>
                <a:latin typeface="Arial"/>
              </a:rPr>
              <a:t>Emmanuel's own diagnosis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“We are a </a:t>
            </a:r>
            <a:r>
              <a:rPr sz="950" b="1" i="0">
                <a:solidFill>
                  <a:srgbClr val="262626"/>
                </a:solidFill>
                <a:latin typeface="Arial"/>
              </a:rPr>
              <a:t>product mindset type of team</a:t>
            </a:r>
            <a:r>
              <a:rPr sz="950" b="0" i="0">
                <a:solidFill>
                  <a:srgbClr val="262626"/>
                </a:solidFill>
                <a:latin typeface="Arial"/>
              </a:rPr>
              <a:t> who love developing features and we believe improving the service and avoiding the attrition of our customers — but as a matter of fact </a:t>
            </a:r>
            <a:r>
              <a:rPr sz="950" b="1" i="0">
                <a:solidFill>
                  <a:srgbClr val="262626"/>
                </a:solidFill>
                <a:latin typeface="Arial"/>
              </a:rPr>
              <a:t>we don't make any penny</a:t>
            </a:r>
            <a:r>
              <a:rPr sz="950" b="0" i="0">
                <a:solidFill>
                  <a:srgbClr val="262626"/>
                </a:solidFill>
                <a:latin typeface="Arial"/>
              </a:rPr>
              <a:t>. So there is a trick somewhere.”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“The cost of delivering this service is expensive… we </a:t>
            </a:r>
            <a:r>
              <a:rPr sz="950" b="1" i="0">
                <a:solidFill>
                  <a:srgbClr val="262626"/>
                </a:solidFill>
                <a:latin typeface="Arial"/>
              </a:rPr>
              <a:t>didn't find the formula to turn lead into gold</a:t>
            </a:r>
            <a:r>
              <a:rPr sz="950" b="0" i="0">
                <a:solidFill>
                  <a:srgbClr val="262626"/>
                </a:solidFill>
                <a:latin typeface="Arial"/>
              </a:rPr>
              <a:t>.”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3995928"/>
            <a:ext cx="3319272" cy="2057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412480" y="3995928"/>
            <a:ext cx="54864" cy="20574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595359" y="4123944"/>
            <a:ext cx="3008376" cy="1837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051C2C"/>
                </a:solidFill>
                <a:latin typeface="Arial"/>
              </a:rPr>
              <a:t>The differentiation that costs the money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Regain, Margin Fuel and RateHighway tackle </a:t>
            </a:r>
            <a:r>
              <a:rPr sz="950" b="1" i="0">
                <a:solidFill>
                  <a:srgbClr val="262626"/>
                </a:solidFill>
                <a:latin typeface="Arial"/>
              </a:rPr>
              <a:t>rate updating</a:t>
            </a:r>
            <a:r>
              <a:rPr sz="950" b="0" i="0">
                <a:solidFill>
                  <a:srgbClr val="262626"/>
                </a:solidFill>
                <a:latin typeface="Arial"/>
              </a:rPr>
              <a:t>. WeYield chose instead to build </a:t>
            </a:r>
            <a:r>
              <a:rPr sz="950" b="1" i="0">
                <a:solidFill>
                  <a:srgbClr val="262626"/>
                </a:solidFill>
                <a:latin typeface="Arial"/>
              </a:rPr>
              <a:t>the skill of the person</a:t>
            </a:r>
            <a:r>
              <a:rPr sz="950" b="0" i="0">
                <a:solidFill>
                  <a:srgbClr val="262626"/>
                </a:solidFill>
                <a:latin typeface="Arial"/>
              </a:rPr>
              <a:t> — to teach them to read the market and decide.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That is why it is a reference. It is also why it is expensive to deliver. </a:t>
            </a:r>
            <a:r>
              <a:rPr sz="950" b="1" i="0">
                <a:solidFill>
                  <a:srgbClr val="262626"/>
                </a:solidFill>
                <a:latin typeface="Arial"/>
              </a:rPr>
              <a:t>Both facts have the same cause.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The design constraint version 1 missed: your customer is a craftsman, not an analyst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2 · WHAT THE MARKET ACTUALLY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Source: Emmanuel Scuto, 13 September 2026 — all quotations are his. This slide is the reason several version-1 recommendations have been withdrawn.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527048"/>
            <a:ext cx="5577840" cy="2148840"/>
          </a:xfrm>
          <a:prstGeom prst="rect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57200" y="1527048"/>
            <a:ext cx="54864" cy="2148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655064"/>
            <a:ext cx="5266944" cy="1929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051C2C"/>
                </a:solidFill>
                <a:latin typeface="Arial"/>
              </a:rPr>
              <a:t>Who actually buys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0" i="0">
                <a:solidFill>
                  <a:srgbClr val="262626"/>
                </a:solidFill>
                <a:latin typeface="Arial"/>
              </a:rPr>
              <a:t>“</a:t>
            </a:r>
            <a:r>
              <a:rPr sz="1000" b="1" i="0">
                <a:solidFill>
                  <a:srgbClr val="262626"/>
                </a:solidFill>
                <a:latin typeface="Arial"/>
              </a:rPr>
              <a:t>The last industry in travel accessible to you and I.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You have $100,000, you can buy ten cars and become a car rental company. In the US some people get their pension at once, buy fifty cars, and become a car rental company.”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0" i="0">
                <a:solidFill>
                  <a:srgbClr val="262626"/>
                </a:solidFill>
                <a:latin typeface="Arial"/>
              </a:rPr>
              <a:t>“It is </a:t>
            </a:r>
            <a:r>
              <a:rPr sz="1000" b="1" i="0">
                <a:solidFill>
                  <a:srgbClr val="262626"/>
                </a:solidFill>
                <a:latin typeface="Arial"/>
              </a:rPr>
              <a:t>not an engineer type of business</a:t>
            </a:r>
            <a:r>
              <a:rPr sz="1000" b="0" i="0">
                <a:solidFill>
                  <a:srgbClr val="262626"/>
                </a:solidFill>
                <a:latin typeface="Arial"/>
              </a:rPr>
              <a:t>. People don't have a high level of abstraction… good entrepreneurs, smart, but not with this techno mindset. </a:t>
            </a:r>
            <a:r>
              <a:rPr sz="1000" b="1" i="0">
                <a:solidFill>
                  <a:srgbClr val="262626"/>
                </a:solidFill>
                <a:latin typeface="Arial"/>
              </a:rPr>
              <a:t>They are more followers.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Managing a bit like a craftsman opening his bakery.”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58768"/>
            <a:ext cx="5577840" cy="2194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8368" y="399592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B3661A"/>
                </a:solidFill>
                <a:latin typeface="Arial"/>
              </a:rPr>
              <a:t>TWO FACTS THAT SHOULD DECIDE THE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315968"/>
            <a:ext cx="52120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A customer running </a:t>
            </a:r>
            <a:r>
              <a:rPr sz="1050" b="1" i="0">
                <a:solidFill>
                  <a:srgbClr val="262626"/>
                </a:solidFill>
                <a:latin typeface="Arial"/>
              </a:rPr>
              <a:t>15 car rental companies worldwide</a:t>
            </a:r>
            <a:r>
              <a:rPr sz="1050" b="0" i="0">
                <a:solidFill>
                  <a:srgbClr val="262626"/>
                </a:solidFill>
                <a:latin typeface="Arial"/>
              </a:rPr>
              <a:t> still updates rates with </a:t>
            </a:r>
            <a:r>
              <a:rPr sz="1050" b="1" i="0">
                <a:solidFill>
                  <a:srgbClr val="262626"/>
                </a:solidFill>
                <a:latin typeface="Arial"/>
              </a:rPr>
              <a:t>a macro in Excel</a:t>
            </a:r>
            <a:r>
              <a:rPr sz="1050" b="0" i="0">
                <a:solidFill>
                  <a:srgbClr val="262626"/>
                </a:solidFill>
                <a:latin typeface="Arial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Your </a:t>
            </a:r>
            <a:r>
              <a:rPr sz="1050" b="1" i="0">
                <a:solidFill>
                  <a:srgbClr val="262626"/>
                </a:solidFill>
                <a:latin typeface="Arial"/>
              </a:rPr>
              <a:t>number-one customer</a:t>
            </a:r>
            <a:r>
              <a:rPr sz="1050" b="0" i="0">
                <a:solidFill>
                  <a:srgbClr val="262626"/>
                </a:solidFill>
                <a:latin typeface="Arial"/>
              </a:rPr>
              <a:t> reverted to </a:t>
            </a:r>
            <a:r>
              <a:rPr sz="1050" b="1" i="0">
                <a:solidFill>
                  <a:srgbClr val="262626"/>
                </a:solidFill>
                <a:latin typeface="Arial"/>
              </a:rPr>
              <a:t>VBA macros</a:t>
            </a:r>
            <a:r>
              <a:rPr sz="1050" b="0" i="0">
                <a:solidFill>
                  <a:srgbClr val="262626"/>
                </a:solidFill>
                <a:latin typeface="Arial"/>
              </a:rPr>
              <a:t> last summer when a competitor's rate updater failed.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1">
                <a:solidFill>
                  <a:srgbClr val="7F7F7F"/>
                </a:solidFill>
                <a:latin typeface="Arial"/>
              </a:rPr>
              <a:t>These are not laggards. They are the market.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481328"/>
            <a:ext cx="5422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What this changes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09360" y="1847088"/>
          <a:ext cx="5422392" cy="3493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91640"/>
                <a:gridCol w="373075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Version 2 position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A dashboard or portal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No. It will not be opened. Email, and the language they read.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Self-serve sign-up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Withdrawn as designed. This buyer does not onboard themselves — but an </a:t>
                      </a:r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agent that reads their messy export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is exactly right.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The coach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More important, not less. The human is what makes the output trusted by someone who cannot audit it.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Explainability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Not a feature for regulators. It is how a craftsman decides whether to act.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Where AI actually lands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Inside </a:t>
                      </a:r>
                      <a:r>
                        <a:rPr sz="950" b="0" i="1">
                          <a:solidFill>
                            <a:srgbClr val="262626"/>
                          </a:solidFill>
                          <a:latin typeface="Arial"/>
                        </a:rPr>
                        <a:t>your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cost of delivery first — not inside their workflow. They will not adopt what they cannot picture.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Sixty to seventy per cent of your customer's cost is the car — and that is the part you do not touch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2 · WHAT THE MARKET ACTUALLY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Cost share and operational examples: Emmanuel Scuto, 13 September 2026. Status column inferred from weyield.io and confirmed in conversation. ACRISS codes define the substitution ladder.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527048"/>
            <a:ext cx="3200400" cy="4526280"/>
          </a:xfrm>
          <a:prstGeom prst="rect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57200" y="1527048"/>
            <a:ext cx="54864" cy="45262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655064"/>
            <a:ext cx="2889504" cy="4306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051C2C"/>
                </a:solidFill>
                <a:latin typeface="Arial"/>
              </a:rPr>
              <a:t>In his words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0" i="0">
                <a:solidFill>
                  <a:srgbClr val="262626"/>
                </a:solidFill>
                <a:latin typeface="Arial"/>
              </a:rPr>
              <a:t>“What drives most of the car rental activity is </a:t>
            </a:r>
            <a:r>
              <a:rPr sz="1000" b="1" i="0">
                <a:solidFill>
                  <a:srgbClr val="262626"/>
                </a:solidFill>
                <a:latin typeface="Arial"/>
              </a:rPr>
              <a:t>the operations</a:t>
            </a:r>
            <a:r>
              <a:rPr sz="1000" b="0" i="0">
                <a:solidFill>
                  <a:srgbClr val="262626"/>
                </a:solidFill>
                <a:latin typeface="Arial"/>
              </a:rPr>
              <a:t>. Moving cars, delivering cars, problems with staff, clients… a car expected back tomorrow at Charles de Gaulle comes back Monday somewhere else, and it is </a:t>
            </a:r>
            <a:r>
              <a:rPr sz="1000" b="1" i="0">
                <a:solidFill>
                  <a:srgbClr val="262626"/>
                </a:solidFill>
                <a:latin typeface="Arial"/>
              </a:rPr>
              <a:t>not ready to re-rent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because it is half broken.”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0" i="0">
                <a:solidFill>
                  <a:srgbClr val="262626"/>
                </a:solidFill>
                <a:latin typeface="Arial"/>
              </a:rPr>
              <a:t>“Between </a:t>
            </a:r>
            <a:r>
              <a:rPr sz="1000" b="1" i="0">
                <a:solidFill>
                  <a:srgbClr val="262626"/>
                </a:solidFill>
                <a:latin typeface="Arial"/>
              </a:rPr>
              <a:t>60% and 70% of cost is related to the car itself</a:t>
            </a:r>
            <a:r>
              <a:rPr sz="1000" b="0" i="0">
                <a:solidFill>
                  <a:srgbClr val="262626"/>
                </a:solidFill>
                <a:latin typeface="Arial"/>
              </a:rPr>
              <a:t>. And we are touching only </a:t>
            </a:r>
            <a:r>
              <a:rPr sz="1000" b="1" i="0">
                <a:solidFill>
                  <a:srgbClr val="262626"/>
                </a:solidFill>
                <a:latin typeface="Arial"/>
              </a:rPr>
              <a:t>this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proportion.”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0" i="0">
                <a:solidFill>
                  <a:srgbClr val="262626"/>
                </a:solidFill>
                <a:latin typeface="Arial"/>
              </a:rPr>
              <a:t>“</a:t>
            </a:r>
            <a:r>
              <a:rPr sz="1000" b="1" i="0">
                <a:solidFill>
                  <a:srgbClr val="262626"/>
                </a:solidFill>
                <a:latin typeface="Arial"/>
              </a:rPr>
              <a:t>Everything else is a pain, is extremely costing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— and they have more and more cost.”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86200" y="1527048"/>
          <a:ext cx="7845552" cy="34015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05840"/>
                <a:gridCol w="2788920"/>
                <a:gridCol w="2331720"/>
                <a:gridCol w="171907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Lever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The decision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Who makes it today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WeYield today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Price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Rate by car group, channel, booking window, length of rental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Revenue manager — your user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E7F4F"/>
                          </a:solidFill>
                          <a:latin typeface="Arial"/>
                        </a:rPr>
                        <a:t>Covered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Move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Transfer units between stations; recover a car that came back in the wrong place, damaged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Operations, by instinct, under daily pressure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B36B00"/>
                          </a:solidFill>
                          <a:latin typeface="Arial"/>
                        </a:rPr>
                        <a:t>Analytics only — no redistribution recommended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Substitute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Walk the customer up the ACRISS ladder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Counter staff, ad hoc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B51D1D"/>
                          </a:solidFill>
                          <a:latin typeface="Arial"/>
                        </a:rPr>
                        <a:t>Not covered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Buy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How many of each group, when, at what price — and what they will be worth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Owner, annually, by gut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B36B00"/>
                          </a:solidFill>
                          <a:latin typeface="Arial"/>
                        </a:rPr>
                        <a:t>Demand-side only — no cost or residual view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Sell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When to de-fleet each cohort — the decision that sets the year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Owner, by gut or by lease expiry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B36B00"/>
                          </a:solidFill>
                          <a:latin typeface="Arial"/>
                        </a:rPr>
                        <a:t>Demand-side only — no residual view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The year is decided on the residual — and you have already started testing this with customers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3 · WHERE THE PROFIT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475488"/>
            <a:ext cx="1188720" cy="246888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750" b="1" i="0">
                <a:solidFill>
                  <a:srgbClr val="051C2C"/>
                </a:solidFill>
                <a:latin typeface="Arial"/>
              </a:rPr>
              <a:t>ILLUSTRATIVE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Assumptions: 1,000-vehicle operator; €700 revenue per unit per month; ~4% net margin; €15K average disposal value; 24-month hold. Quotations: Emmanuel Scuto, 13 September 2026. Hertz Tesla write-down per public filings 2023–24.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1618488"/>
            <a:ext cx="1371600" cy="86868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709928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21408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9B4FF"/>
                </a:solidFill>
                <a:latin typeface="Arial"/>
              </a:rPr>
              <a:t>the operator's annual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18488"/>
            <a:ext cx="3657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=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618488"/>
            <a:ext cx="3108960" cy="8686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286000" y="1709928"/>
            <a:ext cx="292607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Arial"/>
              </a:rPr>
              <a:t>Rental revenue − Operating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121408"/>
            <a:ext cx="2926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Revenue management · WeYield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618488"/>
            <a:ext cx="3657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618488"/>
            <a:ext cx="3566160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760720" y="1709928"/>
            <a:ext cx="338327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Residual realised − Depreciation booked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121408"/>
            <a:ext cx="3383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E8EEFF"/>
                </a:solidFill>
                <a:latin typeface="Arial"/>
              </a:rPr>
              <a:t>60–70% of their cost sits here · unserved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618488"/>
            <a:ext cx="3657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618488"/>
            <a:ext cx="2130552" cy="8686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0" y="1709928"/>
            <a:ext cx="1947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Arial"/>
              </a:rPr>
              <a:t>Holding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121408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financing, insurance,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761488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Sizing the second bracket for a 1,000-vehicle operator, €K per year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18688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Annual net profit at 4% margin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218688"/>
            <a:ext cx="1613001" cy="38404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69433" y="3218688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51C2C"/>
                </a:solidFill>
                <a:latin typeface="Arial"/>
              </a:rPr>
              <a:t>€336K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1363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Value of +1% residual realisation — 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913632"/>
            <a:ext cx="360044" cy="384048"/>
          </a:xfrm>
          <a:prstGeom prst="rect">
            <a:avLst/>
          </a:prstGeom>
          <a:solidFill>
            <a:srgbClr val="99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16477" y="3913632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51C2C"/>
                </a:solidFill>
                <a:latin typeface="Arial"/>
              </a:rPr>
              <a:t>€75K  (22% of profit)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60857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Value of +1% residual realisation — high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4608576"/>
            <a:ext cx="720089" cy="38404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176522" y="4608576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51C2C"/>
                </a:solidFill>
                <a:latin typeface="Arial"/>
              </a:rPr>
              <a:t>€150K  (45% of profit)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383280" y="3172968"/>
            <a:ext cx="0" cy="1865376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406640" y="2807208"/>
            <a:ext cx="4325112" cy="1737360"/>
          </a:xfrm>
          <a:prstGeom prst="rect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406640" y="2807208"/>
            <a:ext cx="54864" cy="17373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19" y="2935224"/>
            <a:ext cx="4014216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051C2C"/>
                </a:solidFill>
                <a:latin typeface="Arial"/>
              </a:rPr>
              <a:t>You are already validating this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0" i="0">
                <a:solidFill>
                  <a:srgbClr val="262626"/>
                </a:solidFill>
                <a:latin typeface="Arial"/>
              </a:rPr>
              <a:t>“The thing with the car was a </a:t>
            </a:r>
            <a:r>
              <a:rPr sz="1000" b="1" i="0">
                <a:solidFill>
                  <a:srgbClr val="262626"/>
                </a:solidFill>
                <a:latin typeface="Arial"/>
              </a:rPr>
              <a:t>mind blower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for me. I was discussing over the last two days with </a:t>
            </a:r>
            <a:r>
              <a:rPr sz="1000" b="1" i="0">
                <a:solidFill>
                  <a:srgbClr val="262626"/>
                </a:solidFill>
                <a:latin typeface="Arial"/>
              </a:rPr>
              <a:t>some of my customers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and I will continue.”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0" i="0">
                <a:solidFill>
                  <a:srgbClr val="262626"/>
                </a:solidFill>
                <a:latin typeface="Arial"/>
              </a:rPr>
              <a:t>“</a:t>
            </a:r>
            <a:r>
              <a:rPr sz="1000" b="1" i="0">
                <a:solidFill>
                  <a:srgbClr val="262626"/>
                </a:solidFill>
                <a:latin typeface="Arial"/>
              </a:rPr>
              <a:t>That's something I never touched — this car issue.</a:t>
            </a:r>
            <a:r>
              <a:rPr sz="1000" b="0" i="0">
                <a:solidFill>
                  <a:srgbClr val="262626"/>
                </a:solidFill>
                <a:latin typeface="Arial"/>
              </a:rPr>
              <a:t>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4681728"/>
            <a:ext cx="4325112" cy="1371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406640" y="4681728"/>
            <a:ext cx="54864" cy="13716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589519" y="4809744"/>
            <a:ext cx="4014216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051C2C"/>
                </a:solidFill>
                <a:latin typeface="Arial"/>
              </a:rPr>
              <a:t>And Olivier's provocation goes further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“Eventually </a:t>
            </a:r>
            <a:r>
              <a:rPr sz="950" b="1" i="0">
                <a:solidFill>
                  <a:srgbClr val="262626"/>
                </a:solidFill>
                <a:latin typeface="Arial"/>
              </a:rPr>
              <a:t>the owner could get rid of the general manager.</a:t>
            </a:r>
            <a:r>
              <a:rPr sz="950" b="0" i="0">
                <a:solidFill>
                  <a:srgbClr val="262626"/>
                </a:solidFill>
                <a:latin typeface="Arial"/>
              </a:rPr>
              <a:t> What if the company could run without the GM?” If the decisions come from the system, the org chart changes — and so does what you can charge.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Six forces, and the two most violent are ones you named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3 · WHERE THE PROFIT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Forces 1 and 2 and the distribution point: Emmanuel Scuto, 13 September 2026. Others: industry reporting on OEM repurchase programmes post-2021, Hertz/Tesla write-downs, Indicata and Autovista data products, RateHighway's expandable pricing framework.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527048"/>
            <a:ext cx="1792224" cy="7132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52704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527048"/>
            <a:ext cx="12618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Chinese EVs are being built inside European factories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1792224" cy="2926080"/>
          </a:xfrm>
          <a:prstGeom prst="rect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76072" y="2359152"/>
            <a:ext cx="1554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262626"/>
                </a:solidFill>
                <a:latin typeface="Arial"/>
              </a:rPr>
              <a:t>European manufacturers are renting factory capacity to Chinese makers, who then reach the European market with </a:t>
            </a:r>
            <a:r>
              <a:rPr sz="900" b="1" i="0">
                <a:solidFill>
                  <a:srgbClr val="262626"/>
                </a:solidFill>
                <a:latin typeface="Arial"/>
              </a:rPr>
              <a:t>no import tariff — because it is no longer an import</a:t>
            </a:r>
            <a:r>
              <a:rPr sz="900" b="0" i="0">
                <a:solidFill>
                  <a:srgbClr val="262626"/>
                </a:solidFill>
                <a:latin typeface="Arial"/>
              </a:rPr>
              <a:t>. “The pressure on car will be more and more.” A sustained downward force on new prices, and therefore on every residual behind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2251FF"/>
                </a:solidFill>
                <a:latin typeface="Arial"/>
              </a:rPr>
              <a:t>YOUR OBSERVATION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40864" y="1527048"/>
            <a:ext cx="1792224" cy="7132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432304" y="152704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9776" y="1527048"/>
            <a:ext cx="12618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OEMs have started renting cars themselves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0864" y="2240280"/>
            <a:ext cx="1792224" cy="2926080"/>
          </a:xfrm>
          <a:prstGeom prst="rect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459736" y="2359152"/>
            <a:ext cx="1554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262626"/>
                </a:solidFill>
                <a:latin typeface="Arial"/>
              </a:rPr>
              <a:t>Unlimited capacity. Located in the suburbs, where people actually live. And the one thing your customers cannot match: </a:t>
            </a:r>
            <a:r>
              <a:rPr sz="900" b="1" i="0">
                <a:solidFill>
                  <a:srgbClr val="262626"/>
                </a:solidFill>
                <a:latin typeface="Arial"/>
              </a:rPr>
              <a:t>rent an Audi, get an Audi</a:t>
            </a:r>
            <a:r>
              <a:rPr sz="900" b="0" i="0">
                <a:solidFill>
                  <a:srgbClr val="262626"/>
                </a:solidFill>
                <a:latin typeface="Arial"/>
              </a:rPr>
              <a:t> — not “this car or similar”. Not at airports or stations yet. That is the only thing holding.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0864" y="5212080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2251FF"/>
                </a:solidFill>
                <a:latin typeface="Arial"/>
              </a:rPr>
              <a:t>YOUR OBSERVATION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1527048"/>
            <a:ext cx="1792224" cy="71323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315968" y="152704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1527048"/>
            <a:ext cx="12618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The risk moved to the operator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4528" y="2240280"/>
            <a:ext cx="1792224" cy="29260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343400" y="2359152"/>
            <a:ext cx="1554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262626"/>
                </a:solidFill>
                <a:latin typeface="Arial"/>
              </a:rPr>
              <a:t>OEM buyback and repurchase contracted after 2021. The long tail now carries residual exposure it never held — and mostly cannot see on its own reporting.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1527048"/>
            <a:ext cx="1792224" cy="71323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199631" y="152704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1527048"/>
            <a:ext cx="12618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The risk became unforecastable by instinct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8192" y="2240280"/>
            <a:ext cx="1792224" cy="29260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27064" y="2359152"/>
            <a:ext cx="1554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262626"/>
                </a:solidFill>
                <a:latin typeface="Arial"/>
              </a:rPr>
              <a:t>EV collapse and diesel access rules destroyed the intuitions that used to substitute for a model.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91856" y="1527048"/>
            <a:ext cx="1792224" cy="71323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083296" y="152704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8" y="1527048"/>
            <a:ext cx="12618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The missing input became purchasable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1856" y="2240280"/>
            <a:ext cx="1792224" cy="29260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10728" y="2359152"/>
            <a:ext cx="1554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262626"/>
                </a:solidFill>
                <a:latin typeface="Arial"/>
              </a:rPr>
              <a:t>Used-vehicle intelligence is now an API — Indicata, Autovista, BCA, Manheim. Five years ago this was a licensing project.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1527048"/>
            <a:ext cx="1792224" cy="71323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966960" y="152704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4432" y="1527048"/>
            <a:ext cx="12618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Standing still stopped being safe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0" y="2240280"/>
            <a:ext cx="1792224" cy="29260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994392" y="2359152"/>
            <a:ext cx="1554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262626"/>
                </a:solidFill>
                <a:latin typeface="Arial"/>
              </a:rPr>
              <a:t>RateHighway is building a framework that hosts third-party pricing engines. A pricing engine inside someone else's store is a commodity.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522976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051C2C"/>
                </a:solidFill>
                <a:latin typeface="Georgia"/>
              </a:rPr>
              <a:t>Both of the forces you named point at the same place: the value of the car. Neither points at the 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The last place your customers make money is being engineered away — which puts a clock on one of the five moves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3 · WHERE THE PROFIT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Source: Emmanuel Scuto, 13 September 2026. Ancillary share and margin are industry norms, not WeYield figures — confirm before quoting to a customer.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49961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The rental journey, and where the margin used to sit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47088"/>
            <a:ext cx="2194560" cy="8686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85216" y="1956816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Arial"/>
              </a:rPr>
              <a:t>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304288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Arial"/>
              </a:rPr>
              <a:t>OTA or 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2048256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7F7F7F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1847088"/>
            <a:ext cx="2194560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89504" y="1956816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Pre-arrival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304288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E8EEFF"/>
                </a:solidFill>
                <a:latin typeface="Arial"/>
              </a:rPr>
              <a:t>48 hours out — email,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048256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7F7F7F"/>
                </a:solidFill>
                <a:latin typeface="Arial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65776" y="1847088"/>
            <a:ext cx="2194560" cy="8686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93792" y="1956816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Arial"/>
              </a:rPr>
              <a:t>The counter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2304288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Arial"/>
              </a:rPr>
              <a:t>upgrade, waiver, extras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048256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7F7F7F"/>
                </a:solidFill>
                <a:latin typeface="Arial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1847088"/>
            <a:ext cx="2194560" cy="8686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98080" y="1956816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Arial"/>
              </a:rPr>
              <a:t>The rental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304288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Arial"/>
              </a:rPr>
              <a:t>you have no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6336" y="2048256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7F7F7F"/>
                </a:solidFill>
                <a:latin typeface="Arial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74352" y="1847088"/>
            <a:ext cx="2194560" cy="8686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02368" y="1956816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Arial"/>
              </a:rPr>
              <a:t>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304288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Arial"/>
              </a:rPr>
              <a:t>damage, fuel, delay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65776" y="2779776"/>
            <a:ext cx="2194560" cy="274320"/>
          </a:xfrm>
          <a:prstGeom prst="rect">
            <a:avLst/>
          </a:prstGeom>
          <a:solidFill>
            <a:srgbClr val="A83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065776" y="277977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BEING REMOVED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61488" y="2779776"/>
            <a:ext cx="219456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761488" y="277977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WHERE IT GOES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264408"/>
            <a:ext cx="5577840" cy="1417320"/>
          </a:xfrm>
          <a:prstGeom prst="rect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57200" y="3264408"/>
            <a:ext cx="54864" cy="1417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" y="3392424"/>
            <a:ext cx="5266944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051C2C"/>
                </a:solidFill>
                <a:latin typeface="Arial"/>
              </a:rPr>
              <a:t>What you said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“They want to go </a:t>
            </a:r>
            <a:r>
              <a:rPr sz="950" b="1" i="0">
                <a:solidFill>
                  <a:srgbClr val="262626"/>
                </a:solidFill>
                <a:latin typeface="Arial"/>
              </a:rPr>
              <a:t>directly from the reservation to the rental</a:t>
            </a:r>
            <a:r>
              <a:rPr sz="950" b="0" i="0">
                <a:solidFill>
                  <a:srgbClr val="262626"/>
                </a:solidFill>
                <a:latin typeface="Arial"/>
              </a:rPr>
              <a:t> with everything electronic. No queue, no paper check. </a:t>
            </a:r>
            <a:r>
              <a:rPr sz="950" b="0" i="1">
                <a:solidFill>
                  <a:srgbClr val="262626"/>
                </a:solidFill>
                <a:latin typeface="Arial"/>
              </a:rPr>
              <a:t>Mr Ram, we have checked your papers, go to parking lot 15 and get your key.</a:t>
            </a:r>
            <a:r>
              <a:rPr sz="950" b="0" i="0">
                <a:solidFill>
                  <a:srgbClr val="262626"/>
                </a:solidFill>
                <a:latin typeface="Arial"/>
              </a:rPr>
              <a:t>”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“</a:t>
            </a:r>
            <a:r>
              <a:rPr sz="950" b="1" i="0">
                <a:solidFill>
                  <a:srgbClr val="262626"/>
                </a:solidFill>
                <a:latin typeface="Arial"/>
              </a:rPr>
              <a:t>The last part of the equation where they were able to make money — the counter sales — will eventually be disrupted pretty soon.</a:t>
            </a:r>
            <a:r>
              <a:rPr sz="950" b="0" i="0">
                <a:solidFill>
                  <a:srgbClr val="262626"/>
                </a:solidFill>
                <a:latin typeface="Arial"/>
              </a:rPr>
              <a:t>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3264408"/>
            <a:ext cx="5586984" cy="1417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44768" y="3264408"/>
            <a:ext cx="54864" cy="1417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27648" y="3392424"/>
            <a:ext cx="5276088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051C2C"/>
                </a:solidFill>
                <a:latin typeface="Arial"/>
              </a:rPr>
              <a:t>What it does to the plan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Ancillaries are a quarter to a third of revenue at 80–90% margin. Version 1 proposed pricing them </a:t>
            </a:r>
            <a:r>
              <a:rPr sz="950" b="1" i="0">
                <a:solidFill>
                  <a:srgbClr val="262626"/>
                </a:solidFill>
                <a:latin typeface="Arial"/>
              </a:rPr>
              <a:t>at the counter and before arrival</a:t>
            </a:r>
            <a:r>
              <a:rPr sz="950" b="0" i="0">
                <a:solidFill>
                  <a:srgbClr val="262626"/>
                </a:solidFill>
                <a:latin typeface="Arial"/>
              </a:rPr>
              <a:t>. The counter half now has a shelf life.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 i="0">
                <a:solidFill>
                  <a:srgbClr val="262626"/>
                </a:solidFill>
                <a:latin typeface="Arial"/>
              </a:rPr>
              <a:t>The pre-arrival offer becomes the whole product</a:t>
            </a:r>
            <a:r>
              <a:rPr sz="950" b="0" i="0">
                <a:solidFill>
                  <a:srgbClr val="262626"/>
                </a:solidFill>
                <a:latin typeface="Arial"/>
              </a:rPr>
              <a:t> — and it is the half that needs no counter integration, so this is a simplification, not a loss.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818888"/>
            <a:ext cx="11277295" cy="82296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85800" y="4818888"/>
            <a:ext cx="1082009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And the same disintermediation is a reason the fleet product matters more.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If the counter margin goes and the OTA margin is already subsidised away, the operator's profit collapses onto exactly one thing: what the car was bought for and what it sells for. That is the bracket nobody serves.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Recommendation — finish what Christian started, then change the object and the buyer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4 · 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Note: the three changes are sequenced, not parallel. Change 0 is new in version 2 and comes before everything, because the asset already exists and is not yet defensible or saleable.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527048"/>
            <a:ext cx="3639312" cy="685800"/>
          </a:xfrm>
          <a:prstGeom prst="rect">
            <a:avLst/>
          </a:prstGeom>
          <a:solidFill>
            <a:srgbClr val="1D7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Georgi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527048"/>
            <a:ext cx="28163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Georgia"/>
              </a:rPr>
              <a:t>Complete the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3639312" cy="3246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7F7F"/>
                </a:solidFill>
                <a:latin typeface="Arial"/>
              </a:rPr>
              <a:t>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A 3B fine-tune at 95–97%, unaudited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72968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D7049"/>
                </a:solidFill>
                <a:latin typeface="Arial"/>
              </a:rPr>
              <a:t>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32735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Arial"/>
              </a:rPr>
              <a:t>The same model wrapped in a deterministic layer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151376"/>
            <a:ext cx="32735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242816"/>
            <a:ext cx="327355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Computed facts, a coach-owned rules engine, a verifier that drops any sentence whose numbers do not check, euro values, and accept/reject telemetry. </a:t>
            </a:r>
            <a:r>
              <a:rPr sz="950" b="1" i="0">
                <a:solidFill>
                  <a:srgbClr val="262626"/>
                </a:solidFill>
                <a:latin typeface="Arial"/>
              </a:rPr>
              <a:t>This is eight weeks and it is the whole difference between impressive and sellable.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1527048"/>
            <a:ext cx="3639312" cy="6858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16552" y="1527048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192" y="1527048"/>
            <a:ext cx="28163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Georgia"/>
              </a:rPr>
              <a:t>Change the object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2212848"/>
            <a:ext cx="3639312" cy="3246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62272" y="2350008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7F7F"/>
                </a:solidFill>
                <a:latin typeface="Arial"/>
              </a:rPr>
              <a:t>FROM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2560320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The rate — one lever of five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3172968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51C2C"/>
                </a:solidFill>
                <a:latin typeface="Arial"/>
              </a:rPr>
              <a:t>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3383280"/>
            <a:ext cx="32735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Arial"/>
              </a:rPr>
              <a:t>The fleet plan, and then the operation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62272" y="4151376"/>
            <a:ext cx="32735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62272" y="4242816"/>
            <a:ext cx="327355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Sixty to seventy per cent of their cost is the car. You said it yourself: you have to </a:t>
            </a:r>
            <a:r>
              <a:rPr sz="950" b="0" i="1">
                <a:solidFill>
                  <a:srgbClr val="262626"/>
                </a:solidFill>
                <a:latin typeface="Arial"/>
              </a:rPr>
              <a:t>enter into</a:t>
            </a:r>
            <a:r>
              <a:rPr sz="950" b="0" i="0">
                <a:solidFill>
                  <a:srgbClr val="262626"/>
                </a:solidFill>
                <a:latin typeface="Arial"/>
              </a:rPr>
              <a:t> the operation, and every decision should come from your brain.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1583" y="1527048"/>
            <a:ext cx="3639312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38744" y="1527048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7384" y="1527048"/>
            <a:ext cx="28163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Georgia"/>
              </a:rPr>
              <a:t>Change the buyer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01583" y="2212848"/>
            <a:ext cx="3639312" cy="3246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84463" y="2350008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7F7F"/>
                </a:solidFill>
                <a:latin typeface="Arial"/>
              </a:rPr>
              <a:t>FROM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3" y="2560320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The revenue manager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3" y="3172968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51FF"/>
                </a:solidFill>
                <a:latin typeface="Arial"/>
              </a:rPr>
              <a:t>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3" y="3383280"/>
            <a:ext cx="32735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Arial"/>
              </a:rPr>
              <a:t>The owner — who has a P&amp;L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84463" y="4151376"/>
            <a:ext cx="32735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84463" y="4242816"/>
            <a:ext cx="327355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Your site already names the CEO as an audience and gives him nothing to read. The fleet P&amp;L is that artefact. Owners have a profit and loss; clerks have a tool budget.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596128"/>
            <a:ext cx="11277295" cy="4572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0080" y="5596128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Version 1 put “change the cost to serve” third. It is now first and renumbered zero — because you have already paid most of that cost, and the return on finishing it is higher than starting anything new.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What is missing is not intelligence. It is everything that makes an answer defensible.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4 · 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Note: 95–97% accuracy means three to five answers in a hundred are wrong. For a daily recommendation across 100+ accounts that is several wrong answers every week, and you cannot currently tell which 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4813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The pipeline you have, and the four pieces around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47088"/>
            <a:ext cx="2331720" cy="7772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85216" y="193852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Arial"/>
              </a:rPr>
              <a:t>Your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26771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Arial"/>
              </a:rPr>
              <a:t>PH · MR · RH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984248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7F7F7F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847088"/>
            <a:ext cx="2331720" cy="777240"/>
          </a:xfrm>
          <a:prstGeom prst="rect">
            <a:avLst/>
          </a:prstGeom>
          <a:solidFill>
            <a:srgbClr val="1D7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236976" y="193852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Christian's 3B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6" y="226771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8EEFF"/>
                </a:solidFill>
                <a:latin typeface="Arial"/>
              </a:rPr>
              <a:t>fine-tuned on 3 years of 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79" y="1984248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7F7F7F"/>
                </a:solidFill>
                <a:latin typeface="Arial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847088"/>
            <a:ext cx="2331720" cy="7772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88736" y="193852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Arial"/>
              </a:rPr>
              <a:t>A daily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8736" y="226771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Arial"/>
              </a:rPr>
              <a:t>in customer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88336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D7049"/>
                </a:solidFill>
                <a:latin typeface="Arial"/>
              </a:rPr>
              <a:t>WHAT YOU HAVE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54096"/>
            <a:ext cx="2770632" cy="28346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57200" y="3054096"/>
            <a:ext cx="2770632" cy="5486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200400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Arial"/>
              </a:rPr>
              <a:t>A facts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3566160"/>
            <a:ext cx="24780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Every figure computed deterministically before the model sees it, with an ID and a link. The model writes; it never calculates.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3504" y="4727448"/>
            <a:ext cx="2478024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3504" y="4818888"/>
            <a:ext cx="247802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2251FF"/>
                </a:solidFill>
                <a:latin typeface="Arial"/>
              </a:rPr>
              <a:t>Removes the arithmetic hallucination entirely — the class of error that embarrasses you in front of a customer.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74136" y="3054096"/>
            <a:ext cx="2770632" cy="28346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374136" y="3054096"/>
            <a:ext cx="2770632" cy="5486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520440" y="3200400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Arial"/>
              </a:rPr>
              <a:t>A rules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566160"/>
            <a:ext cx="24780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The actions the model may propose come from a table the coach owns and edits — not from the weights. Ten rules to start, one a week after.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520440" y="4727448"/>
            <a:ext cx="2478024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520440" y="4818888"/>
            <a:ext cx="247802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2251FF"/>
                </a:solidFill>
                <a:latin typeface="Arial"/>
              </a:rPr>
              <a:t>Makes the method </a:t>
            </a:r>
            <a:r>
              <a:rPr sz="950" b="1" i="0">
                <a:solidFill>
                  <a:srgbClr val="2251FF"/>
                </a:solidFill>
                <a:latin typeface="Arial"/>
              </a:rPr>
              <a:t>visible and editable again</a:t>
            </a:r>
            <a:r>
              <a:rPr sz="950" b="0" i="0">
                <a:solidFill>
                  <a:srgbClr val="2251FF"/>
                </a:solidFill>
                <a:latin typeface="Arial"/>
              </a:rPr>
              <a:t>. Right now it is locked inside a fine-tune nobody can read.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91072" y="3054096"/>
            <a:ext cx="2770632" cy="28346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291072" y="3054096"/>
            <a:ext cx="2770632" cy="5486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37376" y="3200400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Arial"/>
              </a:rPr>
              <a:t>A verifier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3566160"/>
            <a:ext cx="24780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Every number in every sentence matched back to a computed fact before send. No match, the sentence is dropped. No exceptions.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37376" y="4727448"/>
            <a:ext cx="2478024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37376" y="4818888"/>
            <a:ext cx="247802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2251FF"/>
                </a:solidFill>
                <a:latin typeface="Arial"/>
              </a:rPr>
              <a:t>This is what turns 95–97% into something you can put a price on. </a:t>
            </a:r>
            <a:r>
              <a:rPr sz="950" b="1" i="0">
                <a:solidFill>
                  <a:srgbClr val="2251FF"/>
                </a:solidFill>
                <a:latin typeface="Arial"/>
              </a:rPr>
              <a:t>It is the single highest-value piece of engineering on this page.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08008" y="3054096"/>
            <a:ext cx="2770632" cy="28346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9208008" y="3054096"/>
            <a:ext cx="2770632" cy="5486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354312" y="3200400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Arial"/>
              </a:rPr>
              <a:t>Accept / reject telemetry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3566160"/>
            <a:ext cx="24780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Log what was recommended, what the customer did, and what happened at T+7 and T+28.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354312" y="4727448"/>
            <a:ext cx="2478024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354312" y="4818888"/>
            <a:ext cx="247802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2251FF"/>
                </a:solidFill>
                <a:latin typeface="Arial"/>
              </a:rPr>
              <a:t>The evidence base for outcome pricing — and it </a:t>
            </a:r>
            <a:r>
              <a:rPr sz="950" b="1" i="0">
                <a:solidFill>
                  <a:srgbClr val="2251FF"/>
                </a:solidFill>
                <a:latin typeface="Arial"/>
              </a:rPr>
              <a:t>cannot be backfilled</a:t>
            </a:r>
            <a:r>
              <a:rPr sz="950" b="0" i="0">
                <a:solidFill>
                  <a:srgbClr val="2251FF"/>
                </a:solidFill>
                <a:latin typeface="Arial"/>
              </a:rPr>
              <a:t>. Every week without it is a week of history that never exists.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980176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251FF"/>
                </a:solidFill>
                <a:latin typeface="Arial"/>
              </a:rPr>
              <a:t>MISSING — AND ALL FOUR ARE CODE, NOT MODEL 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Keep your model. Reach for a frontier model only where yours structurally cannot go.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4 · 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Note: version 1 recommended a frontier model on EU infrastructure without knowing a fine-tune existed. That recommendation is withdrawn for the daily summary and narrowed to the four cases on the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527048"/>
            <a:ext cx="5577840" cy="2423160"/>
          </a:xfrm>
          <a:prstGeom prst="rect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57200" y="1527048"/>
            <a:ext cx="54864" cy="24231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655064"/>
            <a:ext cx="5266944" cy="2203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051C2C"/>
                </a:solidFill>
                <a:latin typeface="Arial"/>
              </a:rPr>
              <a:t>Why your fine-tune is the right default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262626"/>
                </a:solidFill>
                <a:latin typeface="Arial"/>
              </a:rPr>
              <a:t>Zero marginal cost.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No token bill, so cadence and volume are free decisions rather than budget decisions. This is a real strategic advantage and version 1 missed it.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262626"/>
                </a:solidFill>
                <a:latin typeface="Arial"/>
              </a:rPr>
              <a:t>Data sovereignty.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French company, worldwide customers, no third-party processor in the path. The DPA conversation is one page.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262626"/>
                </a:solidFill>
                <a:latin typeface="Arial"/>
              </a:rPr>
              <a:t>It knows things no frontier model does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— three years of how your own consultants actually reason about this market.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33087"/>
            <a:ext cx="5577840" cy="19202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57200" y="4133087"/>
            <a:ext cx="54864" cy="1920240"/>
          </a:xfrm>
          <a:prstGeom prst="rect">
            <a:avLst/>
          </a:prstGeom>
          <a:solidFill>
            <a:srgbClr val="B3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4261103"/>
            <a:ext cx="5266944" cy="170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051C2C"/>
                </a:solidFill>
                <a:latin typeface="Arial"/>
              </a:rPr>
              <a:t>And where it will struggle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0" i="0">
                <a:solidFill>
                  <a:srgbClr val="262626"/>
                </a:solidFill>
                <a:latin typeface="Arial"/>
              </a:rPr>
              <a:t>A 3B model is strong at the pattern it was trained on and weak outside it: </a:t>
            </a:r>
            <a:r>
              <a:rPr sz="1000" b="1" i="0">
                <a:solidFill>
                  <a:srgbClr val="262626"/>
                </a:solidFill>
                <a:latin typeface="Arial"/>
              </a:rPr>
              <a:t>multilingual nuance across a worldwide base</a:t>
            </a:r>
            <a:r>
              <a:rPr sz="1000" b="0" i="0">
                <a:solidFill>
                  <a:srgbClr val="262626"/>
                </a:solidFill>
                <a:latin typeface="Arial"/>
              </a:rPr>
              <a:t>, long chains of reasoning, tool use and agentic loops, and anything it has never seen. It will also be </a:t>
            </a:r>
            <a:r>
              <a:rPr sz="1000" b="1" i="0">
                <a:solidFill>
                  <a:srgbClr val="262626"/>
                </a:solidFill>
                <a:latin typeface="Arial"/>
              </a:rPr>
              <a:t>confidently wrong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in exactly those cases.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09360" y="1527048"/>
          <a:ext cx="5422392" cy="3675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00400"/>
                <a:gridCol w="222199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Which model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The daily summary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— the thing it was trained for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Yours.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Do not change it.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Writing to a customer in their own language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across a worldwide base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Frontier. Multilingual quality is where a 3B model shows its size.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The reply loop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— a customer asks </a:t>
                      </a:r>
                      <a:r>
                        <a:rPr sz="950" b="0" i="1">
                          <a:solidFill>
                            <a:srgbClr val="262626"/>
                          </a:solidFill>
                          <a:latin typeface="Arial"/>
                        </a:rPr>
                        <a:t>why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, and it must reason over the facts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Frontier, on a bounded set of queries.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Agentic work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— the go-to-market fleet, onboarding, reading a messy PMS export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Frontier. Tool use and long loops are not what a 3B fine-tune does.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The verifier's judge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on a 10% sample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Frontier — you want the auditor to be stronger than the author.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309360" y="5184648"/>
            <a:ext cx="5422392" cy="868680"/>
          </a:xfrm>
          <a:prstGeom prst="rect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309360" y="5184648"/>
            <a:ext cx="54864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2240" y="5312664"/>
            <a:ext cx="5111496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0" i="0">
                <a:solidFill>
                  <a:srgbClr val="262626"/>
                </a:solidFill>
                <a:latin typeface="Arial"/>
              </a:rPr>
              <a:t>The pattern is </a:t>
            </a:r>
            <a:r>
              <a:rPr sz="1000" b="1" i="0">
                <a:solidFill>
                  <a:srgbClr val="262626"/>
                </a:solidFill>
                <a:latin typeface="Arial"/>
              </a:rPr>
              <a:t>cheap model in the loop, strong model at the edges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— and a deterministic verifier over both, so the choice of model stops being a question of trust.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The product is a Fleet P&amp;L Copilot — three surfaces on one governance layer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5 · THE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Note: WeYield already markets a “Pricing Co-pilot”, so this extends the company's own vocabulary. Residual inputs require the data partnership on slide 16. Sample feed item is illustrative of format 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14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527048"/>
            <a:ext cx="3639312" cy="7315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72768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Georgia"/>
              </a:rPr>
              <a:t>The Fleet P&amp;L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20240"/>
            <a:ext cx="28620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9B4FF"/>
                </a:solidFill>
                <a:latin typeface="Arial"/>
              </a:rPr>
              <a:t>The owner's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58568"/>
            <a:ext cx="3639312" cy="2743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1792" y="2395728"/>
            <a:ext cx="3310128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Per car group, per station, per cohort: revenue, direct cost, </a:t>
            </a:r>
            <a:r>
              <a:rPr sz="950" b="1" i="0">
                <a:solidFill>
                  <a:srgbClr val="262626"/>
                </a:solidFill>
                <a:latin typeface="Arial"/>
              </a:rPr>
              <a:t>booked depreciation</a:t>
            </a:r>
            <a:r>
              <a:rPr sz="950" b="0" i="0">
                <a:solidFill>
                  <a:srgbClr val="262626"/>
                </a:solidFill>
                <a:latin typeface="Arial"/>
              </a:rPr>
              <a:t>, </a:t>
            </a:r>
            <a:r>
              <a:rPr sz="950" b="1" i="0">
                <a:solidFill>
                  <a:srgbClr val="262626"/>
                </a:solidFill>
                <a:latin typeface="Arial"/>
              </a:rPr>
              <a:t>marked-to-market residual</a:t>
            </a:r>
            <a:r>
              <a:rPr sz="950" b="0" i="0">
                <a:solidFill>
                  <a:srgbClr val="262626"/>
                </a:solidFill>
                <a:latin typeface="Arial"/>
              </a:rPr>
              <a:t>, and the delta.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No operator in this segment has this. The rental report and the depreciation schedule do not reconcile until the car is sold — two years too late.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 i="0">
                <a:solidFill>
                  <a:srgbClr val="262626"/>
                </a:solidFill>
                <a:latin typeface="Arial"/>
              </a:rPr>
              <a:t>Build this first.</a:t>
            </a:r>
            <a:r>
              <a:rPr sz="950" b="0" i="0">
                <a:solidFill>
                  <a:srgbClr val="262626"/>
                </a:solidFill>
                <a:latin typeface="Arial"/>
              </a:rPr>
              <a:t> It changes the buyer before the agent has to be right about anything.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527048"/>
            <a:ext cx="3639312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16552" y="1527048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1572768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Georgia"/>
              </a:rPr>
              <a:t>The Decision 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1920240"/>
            <a:ext cx="28620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9B4FF"/>
                </a:solidFill>
                <a:latin typeface="Arial"/>
              </a:rPr>
              <a:t>What your agent already does, made defensible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2258568"/>
            <a:ext cx="3639312" cy="2743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43983" y="2395728"/>
            <a:ext cx="3310128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Your daily summary, plus: every figure computed, a euro value on every action, and an explicit </a:t>
            </a:r>
            <a:r>
              <a:rPr sz="950" b="0" i="1">
                <a:solidFill>
                  <a:srgbClr val="262626"/>
                </a:solidFill>
                <a:latin typeface="Arial"/>
              </a:rPr>
              <a:t>what happens if you do nothing</a:t>
            </a:r>
            <a:r>
              <a:rPr sz="950" b="0" i="0">
                <a:solidFill>
                  <a:srgbClr val="262626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1">
                <a:solidFill>
                  <a:srgbClr val="262626"/>
                </a:solidFill>
                <a:latin typeface="Arial"/>
              </a:rPr>
              <a:t>“Your 2023 diesel Clios reach 24 months in November. De-fleet 40 units now rather than February: est. €68K preserved.”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The gap between this and what you have today is the four pieces on slide 12.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3" y="1527048"/>
            <a:ext cx="3639312" cy="7315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38744" y="1527048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3" y="1572768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Georgia"/>
              </a:rPr>
              <a:t>The 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1663" y="1920240"/>
            <a:ext cx="28620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9B4FF"/>
                </a:solidFill>
                <a:latin typeface="Arial"/>
              </a:rPr>
              <a:t>Ask-your-data, grounded, in their language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3" y="2258568"/>
            <a:ext cx="3639312" cy="2743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66175" y="2395728"/>
            <a:ext cx="3310128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Plain-language questions; every answer traceable to the figures underneath.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For a craftsman who will not open a dashboard, </a:t>
            </a:r>
            <a:r>
              <a:rPr sz="950" b="1" i="0">
                <a:solidFill>
                  <a:srgbClr val="262626"/>
                </a:solidFill>
                <a:latin typeface="Arial"/>
              </a:rPr>
              <a:t>the conversation is the interface</a:t>
            </a:r>
            <a:r>
              <a:rPr sz="950" b="0" i="0">
                <a:solidFill>
                  <a:srgbClr val="262626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Cheapest to build, and the reply channel is where the telemetry comes from.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38928"/>
            <a:ext cx="11277295" cy="9144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5184648"/>
            <a:ext cx="457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Georgia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2120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Georgia"/>
              </a:rPr>
              <a:t>The governance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596128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9B4FF"/>
                </a:solidFill>
                <a:latin typeface="Arial"/>
              </a:rPr>
              <a:t>Guardrails · accept / modify / reject logged · full 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212080"/>
            <a:ext cx="7223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Sell </a:t>
            </a:r>
            <a:r>
              <a:rPr sz="950" b="1" i="0">
                <a:solidFill>
                  <a:srgbClr val="FFFFFF"/>
                </a:solidFill>
                <a:latin typeface="Arial"/>
              </a:rPr>
              <a:t>explainable and governed, never autonomous.</a:t>
            </a:r>
            <a:r>
              <a:rPr sz="950" b="0" i="0">
                <a:solidFill>
                  <a:srgbClr val="FFFFFF"/>
                </a:solidFill>
                <a:latin typeface="Arial"/>
              </a:rPr>
              <a:t> For a buyer who cannot audit a model, showing the reasoning is not a compliance feature — it is the only way the recommendation gets acted on. Your whole heritage is teaching these operators to think. </a:t>
            </a:r>
            <a:r>
              <a:rPr sz="950" b="1" i="0">
                <a:solidFill>
                  <a:srgbClr val="FFFFFF"/>
                </a:solidFill>
                <a:latin typeface="Arial"/>
              </a:rPr>
              <a:t>Make explainability the feature, not the apology.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Rebuild the layer around the model; never touch the integrations or the numeric core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5 · THE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Note: gradient-boosted models outperform language models on numeric demand forecasting; the interface, judgement and execution layers wrap around the numeric core. Two-way integration remains the industry's binding constraint.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527048"/>
            <a:ext cx="5513832" cy="5486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527048"/>
            <a:ext cx="51480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NEVER REWRITE  —  the moat and the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75688"/>
            <a:ext cx="5513832" cy="29260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5056632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164592" indent="-164592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000" b="1" i="0">
                <a:solidFill>
                  <a:srgbClr val="262626"/>
                </a:solidFill>
                <a:latin typeface="Arial"/>
              </a:rPr>
              <a:t>The integration lattice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— Wheels/Invensys, MyRentCar, RateHighway, PMS/CRS write-back. Reliable two-way exchange is the binding constraint in this industry, not modelling. Every integration you have is a mile of track laid.</a:t>
            </a:r>
          </a:p>
          <a:p>
            <a:pPr algn="l" marL="164592" indent="-164592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000" b="1" i="0">
                <a:solidFill>
                  <a:srgbClr val="262626"/>
                </a:solidFill>
                <a:latin typeface="Arial"/>
              </a:rPr>
              <a:t>The numeric forecasting core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— gradient-boosted models beat language models at demand forecasting and will continue to.</a:t>
            </a:r>
          </a:p>
          <a:p>
            <a:pPr algn="l" marL="164592" indent="-164592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000" b="1" i="0">
                <a:solidFill>
                  <a:srgbClr val="262626"/>
                </a:solidFill>
                <a:latin typeface="Arial"/>
              </a:rPr>
              <a:t>Christian's fine-tune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— it is an asset, not technical debt. Wrap it, do not replace it.</a:t>
            </a:r>
          </a:p>
          <a:p>
            <a:pPr algn="l" marL="164592" indent="-164592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000" b="1" i="0">
                <a:solidFill>
                  <a:srgbClr val="262626"/>
                </a:solidFill>
                <a:latin typeface="Arial"/>
              </a:rPr>
              <a:t>The rate-shop collection pipeline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— and extend it to used-car listings rather than building anything new.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27048"/>
            <a:ext cx="5513832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0" y="1527048"/>
            <a:ext cx="51480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BUILD — the deterministic layer, and the surfaces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075688"/>
            <a:ext cx="5513832" cy="2926080"/>
          </a:xfrm>
          <a:prstGeom prst="rect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6520" y="2258568"/>
            <a:ext cx="5056632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164592" indent="-164592">
              <a:lnSpc>
                <a:spcPct val="110000"/>
              </a:lnSpc>
              <a:spcAft>
                <a:spcPts val="600"/>
              </a:spcAft>
              <a:buFont typeface="Arial"/>
              <a:buChar char="•"/>
            </a:pPr>
            <a:r>
              <a:rPr sz="1000" b="1" i="0">
                <a:solidFill>
                  <a:srgbClr val="262626"/>
                </a:solidFill>
                <a:latin typeface="Arial"/>
              </a:rPr>
              <a:t>The facts builder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— every number computed before the model sees it</a:t>
            </a:r>
          </a:p>
          <a:p>
            <a:pPr algn="l" marL="164592" indent="-164592">
              <a:lnSpc>
                <a:spcPct val="110000"/>
              </a:lnSpc>
              <a:spcAft>
                <a:spcPts val="600"/>
              </a:spcAft>
              <a:buFont typeface="Arial"/>
              <a:buChar char="•"/>
            </a:pPr>
            <a:r>
              <a:rPr sz="1000" b="1" i="0">
                <a:solidFill>
                  <a:srgbClr val="262626"/>
                </a:solidFill>
                <a:latin typeface="Arial"/>
              </a:rPr>
              <a:t>The rules engine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— as data in a table the coach edits, never as code</a:t>
            </a:r>
          </a:p>
          <a:p>
            <a:pPr algn="l" marL="164592" indent="-164592">
              <a:lnSpc>
                <a:spcPct val="110000"/>
              </a:lnSpc>
              <a:spcAft>
                <a:spcPts val="600"/>
              </a:spcAft>
              <a:buFont typeface="Arial"/>
              <a:buChar char="•"/>
            </a:pPr>
            <a:r>
              <a:rPr sz="1000" b="1" i="0">
                <a:solidFill>
                  <a:srgbClr val="262626"/>
                </a:solidFill>
                <a:latin typeface="Arial"/>
              </a:rPr>
              <a:t>The verifier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— a library every surface imports, with its own tests</a:t>
            </a:r>
          </a:p>
          <a:p>
            <a:pPr algn="l" marL="164592" indent="-164592">
              <a:lnSpc>
                <a:spcPct val="110000"/>
              </a:lnSpc>
              <a:spcAft>
                <a:spcPts val="600"/>
              </a:spcAft>
              <a:buFont typeface="Arial"/>
              <a:buChar char="•"/>
            </a:pPr>
            <a:r>
              <a:rPr sz="1000" b="1" i="0">
                <a:solidFill>
                  <a:srgbClr val="262626"/>
                </a:solidFill>
                <a:latin typeface="Arial"/>
              </a:rPr>
              <a:t>Telemetry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— recommendation, response, outcome at T+7 and T+28</a:t>
            </a:r>
          </a:p>
          <a:p>
            <a:pPr algn="l" marL="164592" indent="-164592">
              <a:lnSpc>
                <a:spcPct val="110000"/>
              </a:lnSpc>
              <a:spcAft>
                <a:spcPts val="600"/>
              </a:spcAft>
              <a:buFont typeface="Arial"/>
              <a:buChar char="•"/>
            </a:pPr>
            <a:r>
              <a:rPr sz="1000" b="1" i="0">
                <a:solidFill>
                  <a:srgbClr val="262626"/>
                </a:solidFill>
                <a:latin typeface="Arial"/>
              </a:rPr>
              <a:t>The Fleet P&amp;L screen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— the artefact the owner actually reads</a:t>
            </a:r>
          </a:p>
          <a:p>
            <a:pPr algn="l" marL="164592" indent="-164592">
              <a:lnSpc>
                <a:spcPct val="110000"/>
              </a:lnSpc>
              <a:spcAft>
                <a:spcPts val="600"/>
              </a:spcAft>
              <a:buFont typeface="Arial"/>
              <a:buChar char="•"/>
            </a:pPr>
            <a:r>
              <a:rPr sz="1000" b="1" i="0">
                <a:solidFill>
                  <a:srgbClr val="262626"/>
                </a:solidFill>
                <a:latin typeface="Arial"/>
              </a:rPr>
              <a:t>Onboarding that reads a messy export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— the only way this buyer ever gets set up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sz="1000" b="0" i="1">
                <a:solidFill>
                  <a:srgbClr val="051C2C"/>
                </a:solidFill>
                <a:latin typeface="Arial"/>
              </a:rPr>
              <a:t>None of this is model work. All of it is ordinary software, and it is what your fine-tune is currently missing.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38928"/>
            <a:ext cx="11277295" cy="9144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5138928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The discipline that makes it work without a migration project:</a:t>
            </a:r>
            <a:r>
              <a:rPr sz="1050" b="0" i="0">
                <a:solidFill>
                  <a:srgbClr val="FFFFFF"/>
                </a:solidFill>
                <a:latin typeface="Arial"/>
              </a:rPr>
              <a:t> from today, every new feature ships in the new layer, and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the old stack receives no new features — maintenance only.</a:t>
            </a:r>
            <a:r>
              <a:rPr sz="1050" b="0" i="0">
                <a:solidFill>
                  <a:srgbClr val="FFFFFF"/>
                </a:solidFill>
                <a:latin typeface="Arial"/>
              </a:rPr>
              <a:t> Over eighteen months the new layer absorbs most of the user-facing surface, and the old one shrinks by attrition rather than by decision.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Four data assets — you hold three of them, and one is rarer than you may realise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5 · THE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Source: WeYield product footprint per weyield.io and Emmanuel Scuto, 13 September 2026. Indicata (Autorola) and Autovista are candidate partners, not confirmed counterparties. Coverage outside Europe must be checked market by market — the base is worldwide.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16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27048"/>
          <a:ext cx="7589520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17520"/>
                <a:gridCol w="1234440"/>
                <a:gridCol w="33375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Data asset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Three years of recorded expert conversation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— every consultant call, with consent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E7F4F"/>
                          </a:solidFill>
                          <a:latin typeface="Arial"/>
                        </a:rPr>
                        <a:t>HELD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The rarest thing you own.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It is already in the weights; also keep it as a queryable corpus, or the method stays locked where nobody can read it.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Cross-tenant rate shop, pace, utilisation and fleet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— worldwide, not just Europe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E7F4F"/>
                          </a:solidFill>
                          <a:latin typeface="Arial"/>
                        </a:rPr>
                        <a:t>HELD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Instrument at daily grain per account. Verify 24-month reconstructability. This is the benchmark product.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Forward demand signal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— ForwardKeys embedded, IATA under exploration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E7F4F"/>
                          </a:solidFill>
                          <a:latin typeface="Arial"/>
                        </a:rPr>
                        <a:t>HELD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Deepen. Olivier's own background here is an asset to use.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Used-vehicle residual data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— by market, model, specification, mileage, age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B51D1D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Partnership, not modelling.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Indicata first. Open it as a data barter: they want rental de-fleet transactions in exactly the secondary markets where you have customers and they have gaps.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Recommendation accept / reject telemetry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B51D1D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Turn on this month. Cheap now, impossible to backfill, and it is what outcome pricing rests on.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275320" y="1527048"/>
            <a:ext cx="3456432" cy="2240280"/>
          </a:xfrm>
          <a:prstGeom prst="rect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275320" y="1527048"/>
            <a:ext cx="54864" cy="22402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58200" y="1655064"/>
            <a:ext cx="3145536" cy="2020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051C2C"/>
                </a:solidFill>
                <a:latin typeface="Arial"/>
              </a:rPr>
              <a:t>The defensible statement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262626"/>
                </a:solidFill>
                <a:latin typeface="Arial"/>
              </a:rPr>
              <a:t>Forward demand + realised pace + used-vehicle residuals + three years of how experts reason.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Nobody holds all four for this segment.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0" i="0">
                <a:solidFill>
                  <a:srgbClr val="262626"/>
                </a:solidFill>
                <a:latin typeface="Arial"/>
              </a:rPr>
              <a:t>A foundation model cannot acquire the fourth. A funded newcomer cannot buy it. It took you three years of recording to make.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3904487"/>
            <a:ext cx="3456432" cy="21488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275320" y="3904487"/>
            <a:ext cx="54864" cy="2148840"/>
          </a:xfrm>
          <a:prstGeom prst="rect">
            <a:avLst/>
          </a:prstGeom>
          <a:solidFill>
            <a:srgbClr val="B3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58200" y="4032503"/>
            <a:ext cx="3145536" cy="1929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051C2C"/>
                </a:solidFill>
                <a:latin typeface="Arial"/>
              </a:rPr>
              <a:t>The risk inside the asset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A fine-tune is a </a:t>
            </a:r>
            <a:r>
              <a:rPr sz="950" b="1" i="0">
                <a:solidFill>
                  <a:srgbClr val="262626"/>
                </a:solidFill>
                <a:latin typeface="Arial"/>
              </a:rPr>
              <a:t>write-only</a:t>
            </a:r>
            <a:r>
              <a:rPr sz="950" b="0" i="0">
                <a:solidFill>
                  <a:srgbClr val="262626"/>
                </a:solidFill>
                <a:latin typeface="Arial"/>
              </a:rPr>
              <a:t> form of knowledge. You cannot read it, diff it, correct one rule in it, or explain a specific answer from it.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Keep the corpus and the rules in a form a human can edit. Otherwise the moat and the black box are the same object.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Three horizons — and horizon one is shorter than it was, because the model already exists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6 · 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Note: no external capital assumed. Horizon 1 is now about the deterministic layer and pricing, not about building an agent — that work is largely done.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17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527048"/>
            <a:ext cx="3639312" cy="9601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" y="1572768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99B4FF"/>
                </a:solidFill>
                <a:latin typeface="Arial"/>
              </a:rPr>
              <a:t>HORIZON 1  ·  MONTHS 0–6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10512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Georgia"/>
              </a:rPr>
              <a:t>Make it defensible, and make it 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7984"/>
            <a:ext cx="3310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9B4FF"/>
                </a:solidFill>
                <a:latin typeface="Arial"/>
              </a:rPr>
              <a:t>From a demo to a priced product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87168"/>
            <a:ext cx="3639312" cy="30632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1792" y="2596896"/>
            <a:ext cx="3310128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164592" indent="-164592">
              <a:lnSpc>
                <a:spcPct val="108000"/>
              </a:lnSpc>
              <a:spcAft>
                <a:spcPts val="500"/>
              </a:spcAft>
              <a:buFont typeface="Arial"/>
              <a:buChar char="•"/>
            </a:pPr>
            <a:r>
              <a:rPr sz="919" b="1" i="0">
                <a:solidFill>
                  <a:srgbClr val="262626"/>
                </a:solidFill>
                <a:latin typeface="Arial"/>
              </a:rPr>
              <a:t>Validate the three kill-risks</a:t>
            </a:r>
            <a:r>
              <a:rPr sz="919" b="0" i="0">
                <a:solidFill>
                  <a:srgbClr val="262626"/>
                </a:solidFill>
                <a:latin typeface="Arial"/>
              </a:rPr>
              <a:t> — ten customer calls. Gates everything.</a:t>
            </a:r>
          </a:p>
          <a:p>
            <a:pPr algn="l" marL="164592" indent="-164592">
              <a:lnSpc>
                <a:spcPct val="108000"/>
              </a:lnSpc>
              <a:spcAft>
                <a:spcPts val="500"/>
              </a:spcAft>
              <a:buFont typeface="Arial"/>
              <a:buChar char="•"/>
            </a:pPr>
            <a:r>
              <a:rPr sz="919" b="1" i="0">
                <a:solidFill>
                  <a:srgbClr val="262626"/>
                </a:solidFill>
                <a:latin typeface="Arial"/>
              </a:rPr>
              <a:t>Build the four missing pieces</a:t>
            </a:r>
            <a:r>
              <a:rPr sz="919" b="0" i="0">
                <a:solidFill>
                  <a:srgbClr val="262626"/>
                </a:solidFill>
                <a:latin typeface="Arial"/>
              </a:rPr>
              <a:t> — facts, rules, verifier, telemetry.</a:t>
            </a:r>
          </a:p>
          <a:p>
            <a:pPr algn="l" marL="164592" indent="-164592">
              <a:lnSpc>
                <a:spcPct val="108000"/>
              </a:lnSpc>
              <a:spcAft>
                <a:spcPts val="500"/>
              </a:spcAft>
              <a:buFont typeface="Arial"/>
              <a:buChar char="•"/>
            </a:pPr>
            <a:r>
              <a:rPr sz="919" b="1" i="0">
                <a:solidFill>
                  <a:srgbClr val="262626"/>
                </a:solidFill>
                <a:latin typeface="Arial"/>
              </a:rPr>
              <a:t>Reprice the top 20</a:t>
            </a:r>
            <a:r>
              <a:rPr sz="919" b="0" i="0">
                <a:solidFill>
                  <a:srgbClr val="262626"/>
                </a:solidFill>
                <a:latin typeface="Arial"/>
              </a:rPr>
              <a:t> onto a per-vehicle model. Zero code, ~95% margin.</a:t>
            </a:r>
          </a:p>
          <a:p>
            <a:pPr algn="l" marL="164592" indent="-164592">
              <a:lnSpc>
                <a:spcPct val="108000"/>
              </a:lnSpc>
              <a:spcAft>
                <a:spcPts val="500"/>
              </a:spcAft>
              <a:buFont typeface="Arial"/>
              <a:buChar char="•"/>
            </a:pPr>
            <a:r>
              <a:rPr sz="919" b="1" i="0">
                <a:solidFill>
                  <a:srgbClr val="262626"/>
                </a:solidFill>
                <a:latin typeface="Arial"/>
              </a:rPr>
              <a:t>AI inside the company</a:t>
            </a:r>
            <a:r>
              <a:rPr sz="919" b="0" i="0">
                <a:solidFill>
                  <a:srgbClr val="262626"/>
                </a:solidFill>
                <a:latin typeface="Arial"/>
              </a:rPr>
              <a:t> — support, onboarding, config, coaching prep.</a:t>
            </a:r>
          </a:p>
          <a:p>
            <a:pPr algn="l" marL="164592" indent="-164592">
              <a:lnSpc>
                <a:spcPct val="108000"/>
              </a:lnSpc>
              <a:spcAft>
                <a:spcPts val="500"/>
              </a:spcAft>
              <a:buFont typeface="Arial"/>
              <a:buChar char="•"/>
            </a:pPr>
            <a:r>
              <a:rPr sz="919" b="1" i="0">
                <a:solidFill>
                  <a:srgbClr val="262626"/>
                </a:solidFill>
                <a:latin typeface="Arial"/>
              </a:rPr>
              <a:t>Write the rules down</a:t>
            </a:r>
            <a:r>
              <a:rPr sz="919" b="0" i="0">
                <a:solidFill>
                  <a:srgbClr val="262626"/>
                </a:solidFill>
                <a:latin typeface="Arial"/>
              </a:rPr>
              <a:t> with the coach — out of the weights, into a 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3218688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7F7F7F"/>
                </a:solidFill>
                <a:latin typeface="Arial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527048"/>
            <a:ext cx="3639312" cy="9601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43983" y="1572768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99B4FF"/>
                </a:solidFill>
                <a:latin typeface="Arial"/>
              </a:rPr>
              <a:t>HORIZON 2  ·  MONTHS 6–18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3" y="1810512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Georgia"/>
              </a:rPr>
              <a:t>Change the object and the buyer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3" y="2157984"/>
            <a:ext cx="3310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9B4FF"/>
                </a:solidFill>
                <a:latin typeface="Arial"/>
              </a:rPr>
              <a:t>The car, and the owner who buys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2487168"/>
            <a:ext cx="3639312" cy="30632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43983" y="2596896"/>
            <a:ext cx="3310128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164592" indent="-164592">
              <a:lnSpc>
                <a:spcPct val="108000"/>
              </a:lnSpc>
              <a:spcAft>
                <a:spcPts val="500"/>
              </a:spcAft>
              <a:buFont typeface="Arial"/>
              <a:buChar char="•"/>
            </a:pPr>
            <a:r>
              <a:rPr sz="919" b="1" i="0">
                <a:solidFill>
                  <a:srgbClr val="262626"/>
                </a:solidFill>
                <a:latin typeface="Arial"/>
              </a:rPr>
              <a:t>Close the residual-data partnership</a:t>
            </a:r>
            <a:r>
              <a:rPr sz="919" b="0" i="0">
                <a:solidFill>
                  <a:srgbClr val="262626"/>
                </a:solidFill>
                <a:latin typeface="Arial"/>
              </a:rPr>
              <a:t> — Indicata or equivalent. Critical path.</a:t>
            </a:r>
          </a:p>
          <a:p>
            <a:pPr algn="l" marL="164592" indent="-164592">
              <a:lnSpc>
                <a:spcPct val="108000"/>
              </a:lnSpc>
              <a:spcAft>
                <a:spcPts val="500"/>
              </a:spcAft>
              <a:buFont typeface="Arial"/>
              <a:buChar char="•"/>
            </a:pPr>
            <a:r>
              <a:rPr sz="919" b="1" i="0">
                <a:solidFill>
                  <a:srgbClr val="262626"/>
                </a:solidFill>
                <a:latin typeface="Arial"/>
              </a:rPr>
              <a:t>Ship the Fleet P&amp;L</a:t>
            </a:r>
            <a:r>
              <a:rPr sz="919" b="0" i="0">
                <a:solidFill>
                  <a:srgbClr val="262626"/>
                </a:solidFill>
                <a:latin typeface="Arial"/>
              </a:rPr>
              <a:t> — the owner's report.</a:t>
            </a:r>
          </a:p>
          <a:p>
            <a:pPr algn="l" marL="164592" indent="-164592">
              <a:lnSpc>
                <a:spcPct val="108000"/>
              </a:lnSpc>
              <a:spcAft>
                <a:spcPts val="500"/>
              </a:spcAft>
              <a:buFont typeface="Arial"/>
              <a:buChar char="•"/>
            </a:pPr>
            <a:r>
              <a:rPr sz="919" b="1" i="0">
                <a:solidFill>
                  <a:srgbClr val="262626"/>
                </a:solidFill>
                <a:latin typeface="Arial"/>
              </a:rPr>
              <a:t>Move the pricing model</a:t>
            </a:r>
            <a:r>
              <a:rPr sz="919" b="0" i="0">
                <a:solidFill>
                  <a:srgbClr val="262626"/>
                </a:solidFill>
                <a:latin typeface="Arial"/>
              </a:rPr>
              <a:t> — base + per-vehicle + outcome-linked.</a:t>
            </a:r>
          </a:p>
          <a:p>
            <a:pPr algn="l" marL="164592" indent="-164592">
              <a:lnSpc>
                <a:spcPct val="108000"/>
              </a:lnSpc>
              <a:spcAft>
                <a:spcPts val="500"/>
              </a:spcAft>
              <a:buFont typeface="Arial"/>
              <a:buChar char="•"/>
            </a:pPr>
            <a:r>
              <a:rPr sz="919" b="1" i="0">
                <a:solidFill>
                  <a:srgbClr val="262626"/>
                </a:solidFill>
                <a:latin typeface="Arial"/>
              </a:rPr>
              <a:t>Enter the operation</a:t>
            </a:r>
            <a:r>
              <a:rPr sz="919" b="0" i="0">
                <a:solidFill>
                  <a:srgbClr val="262626"/>
                </a:solidFill>
                <a:latin typeface="Arial"/>
              </a:rPr>
              <a:t> — start with the two levers your data already reaches: transfers and de-fleet timing.</a:t>
            </a:r>
          </a:p>
          <a:p>
            <a:pPr algn="l" marL="164592" indent="-164592">
              <a:lnSpc>
                <a:spcPct val="108000"/>
              </a:lnSpc>
              <a:spcAft>
                <a:spcPts val="500"/>
              </a:spcAft>
              <a:buFont typeface="Arial"/>
              <a:buChar char="•"/>
            </a:pPr>
            <a:r>
              <a:rPr sz="919" b="1" i="0">
                <a:solidFill>
                  <a:srgbClr val="262626"/>
                </a:solidFill>
                <a:latin typeface="Arial"/>
              </a:rPr>
              <a:t>Hire salespeople</a:t>
            </a:r>
            <a:r>
              <a:rPr sz="919" b="0" i="0">
                <a:solidFill>
                  <a:srgbClr val="262626"/>
                </a:solidFill>
                <a:latin typeface="Arial"/>
              </a:rPr>
              <a:t> — only now, once ACV supports the payback.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2983" y="3218688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7F7F7F"/>
                </a:solidFill>
                <a:latin typeface="Arial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1583" y="1527048"/>
            <a:ext cx="3639312" cy="9601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66175" y="1572768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99B4FF"/>
                </a:solidFill>
                <a:latin typeface="Arial"/>
              </a:rPr>
              <a:t>HORIZON 3  ·  MONTHS 18–36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1810512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Georgia"/>
              </a:rPr>
              <a:t>Compound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2157984"/>
            <a:ext cx="3310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9B4FF"/>
                </a:solidFill>
                <a:latin typeface="Arial"/>
              </a:rPr>
              <a:t>Distribution, not engineering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1583" y="2487168"/>
            <a:ext cx="3639312" cy="30632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66175" y="2596896"/>
            <a:ext cx="3310128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164592" indent="-164592">
              <a:lnSpc>
                <a:spcPct val="108000"/>
              </a:lnSpc>
              <a:spcAft>
                <a:spcPts val="500"/>
              </a:spcAft>
              <a:buFont typeface="Arial"/>
              <a:buChar char="•"/>
            </a:pPr>
            <a:r>
              <a:rPr sz="919" b="1" i="0">
                <a:solidFill>
                  <a:srgbClr val="262626"/>
                </a:solidFill>
                <a:latin typeface="Arial"/>
              </a:rPr>
              <a:t>Cross-tenant benchmarking as a product</a:t>
            </a:r>
            <a:r>
              <a:rPr sz="919" b="0" i="0">
                <a:solidFill>
                  <a:srgbClr val="262626"/>
                </a:solidFill>
                <a:latin typeface="Arial"/>
              </a:rPr>
              <a:t> — the thing no single operator can compute.</a:t>
            </a:r>
          </a:p>
          <a:p>
            <a:pPr algn="l" marL="164592" indent="-164592">
              <a:lnSpc>
                <a:spcPct val="108000"/>
              </a:lnSpc>
              <a:spcAft>
                <a:spcPts val="500"/>
              </a:spcAft>
              <a:buFont typeface="Arial"/>
              <a:buChar char="•"/>
            </a:pPr>
            <a:r>
              <a:rPr sz="919" b="1" i="0">
                <a:solidFill>
                  <a:srgbClr val="262626"/>
                </a:solidFill>
                <a:latin typeface="Arial"/>
              </a:rPr>
              <a:t>Network Edition</a:t>
            </a:r>
            <a:r>
              <a:rPr sz="919" b="0" i="0">
                <a:solidFill>
                  <a:srgbClr val="262626"/>
                </a:solidFill>
                <a:latin typeface="Arial"/>
              </a:rPr>
              <a:t> — one franchisor deal reaches 50–200 operators.</a:t>
            </a:r>
          </a:p>
          <a:p>
            <a:pPr algn="l" marL="164592" indent="-164592">
              <a:lnSpc>
                <a:spcPct val="108000"/>
              </a:lnSpc>
              <a:spcAft>
                <a:spcPts val="500"/>
              </a:spcAft>
              <a:buFont typeface="Arial"/>
              <a:buChar char="•"/>
            </a:pPr>
            <a:r>
              <a:rPr sz="919" b="1" i="0">
                <a:solidFill>
                  <a:srgbClr val="262626"/>
                </a:solidFill>
                <a:latin typeface="Arial"/>
              </a:rPr>
              <a:t>Re-scope the coach</a:t>
            </a:r>
            <a:r>
              <a:rPr sz="919" b="0" i="0">
                <a:solidFill>
                  <a:srgbClr val="262626"/>
                </a:solidFill>
                <a:latin typeface="Arial"/>
              </a:rPr>
              <a:t> from analyst to supervisor across 5× the accounts — the gross-margin unlock.</a:t>
            </a:r>
          </a:p>
          <a:p>
            <a:pPr algn="l" marL="164592" indent="-164592">
              <a:lnSpc>
                <a:spcPct val="108000"/>
              </a:lnSpc>
              <a:spcAft>
                <a:spcPts val="500"/>
              </a:spcAft>
              <a:buFont typeface="Arial"/>
              <a:buChar char="•"/>
            </a:pPr>
            <a:r>
              <a:rPr sz="919" b="1" i="0">
                <a:solidFill>
                  <a:srgbClr val="262626"/>
                </a:solidFill>
                <a:latin typeface="Arial"/>
              </a:rPr>
              <a:t>Answer-layer monitoring</a:t>
            </a:r>
            <a:r>
              <a:rPr sz="919" b="0" i="0">
                <a:solidFill>
                  <a:srgbClr val="262626"/>
                </a:solidFill>
                <a:latin typeface="Arial"/>
              </a:rPr>
              <a:t> — does your customer appear when a traveller asks an assistant?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41848"/>
            <a:ext cx="11277295" cy="41148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5641848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Sequence: Verify → Price → Cost → Sell → Build. Horizon 1 pays for Horizon 2; Horizon 2 pays for Horizon 3. You never have to ask anyone for money.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Minimum viable product has become minimum viable distribution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6 · 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Note: the concept Emmanuel asked to keep. Lead-generation channels described by him, 13 September 2026: gated market-trends product, LinkedIn scraping, ERP partner introductions, and an existing contact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18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4813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What changed, and what it means for where effort goes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65376"/>
            <a:ext cx="5577840" cy="13716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984248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7F7F7F"/>
                </a:solidFill>
                <a:latin typeface="Arial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58568"/>
            <a:ext cx="5212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Building software was hard and expensive. </a:t>
            </a:r>
            <a:r>
              <a:rPr sz="1050" b="1" i="0">
                <a:solidFill>
                  <a:srgbClr val="262626"/>
                </a:solidFill>
                <a:latin typeface="Arial"/>
              </a:rPr>
              <a:t>The product was the moat.</a:t>
            </a:r>
            <a:r>
              <a:rPr sz="1050" b="0" i="0">
                <a:solidFill>
                  <a:srgbClr val="262626"/>
                </a:solidFill>
                <a:latin typeface="Arial"/>
              </a:rPr>
              <a:t> You protected it by shipping features — which is exactly what your team learned to do, and exactly why it never paid.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865376"/>
            <a:ext cx="5586984" cy="13716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27648" y="1984248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E8EEFF"/>
                </a:solidFill>
                <a:latin typeface="Arial"/>
              </a:rPr>
              <a:t>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258568"/>
            <a:ext cx="5212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Building is nearly free, so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ten million people who could not build products now can.</a:t>
            </a:r>
            <a:r>
              <a:rPr sz="1050" b="0" i="0">
                <a:solidFill>
                  <a:srgbClr val="FFFFFF"/>
                </a:solidFill>
                <a:latin typeface="Arial"/>
              </a:rPr>
              <a:t> The moat moves to who can reach the customer.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Distribution is the scarce 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1985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What you already have — and it is more than version 1 credited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85616"/>
            <a:ext cx="2770632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03504" y="389534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The market-trends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4206240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Free, gated behind a form. A working lead magnet you already run.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4136" y="3785616"/>
            <a:ext cx="2770632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520440" y="389534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A contact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206240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Built on fifteen years of being the name people know in this category.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3785616"/>
            <a:ext cx="2770632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37376" y="389534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LinkedIn sourcing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4206240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Already scraping for new contacts.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08008" y="3785616"/>
            <a:ext cx="2770632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54312" y="389534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ERP partner introductions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4206240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You contact their clients on their behalf. </a:t>
            </a:r>
            <a:r>
              <a:rPr sz="950" b="1" i="0">
                <a:solidFill>
                  <a:srgbClr val="262626"/>
                </a:solidFill>
                <a:latin typeface="Arial"/>
              </a:rPr>
              <a:t>One-to-many, already proven.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01768"/>
            <a:ext cx="11274552" cy="1051560"/>
          </a:xfrm>
          <a:prstGeom prst="rect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57200" y="5001768"/>
            <a:ext cx="54864" cy="10515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5129784"/>
            <a:ext cx="10963656" cy="832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051C2C"/>
                </a:solidFill>
                <a:latin typeface="Arial"/>
              </a:rPr>
              <a:t>The one thing to add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262626"/>
                </a:solidFill>
                <a:latin typeface="Arial"/>
              </a:rPr>
              <a:t>A free public audit, computed from data you already collect.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Market Radar shops rates for any operator on earth, customer or not. So you can open a conversation with a quantified, provably true statement about their own business — </a:t>
            </a:r>
            <a:r>
              <a:rPr sz="1000" b="0" i="1">
                <a:solidFill>
                  <a:srgbClr val="262626"/>
                </a:solidFill>
                <a:latin typeface="Arial"/>
              </a:rPr>
              <a:t>“you were below all three of your closest competitors on 19 of the last 30 days”</a:t>
            </a:r>
            <a:r>
              <a:rPr sz="1000" b="0" i="0">
                <a:solidFill>
                  <a:srgbClr val="262626"/>
                </a:solidFill>
                <a:latin typeface="Arial"/>
              </a:rPr>
              <a:t> — which nobody else in this market can do. Publish it as a self-serve tool first: the operators who run it on themselves arrive with intent, and with consent.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The team does not grow much. What changes is what the nine people are pointed at.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6 · 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Note: current function split inferred from nine employees, one CTO and two in sales; confirm. French employment law makes reduction slow and costly, so the decoupling comes from not hiring.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19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27048"/>
          <a:ext cx="7498080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2377440"/>
                <a:gridCol w="3200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Today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Where it should point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Christian and engineering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Building features with unproven return, plus the fine-tune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The deterministic layer around the model, the integrations, and the data pipeline — the parts that are never rewritten and are the highest-skill work here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The consultants / coaches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Delivering expensive analysis by hand, one account at a time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Owning the rules table, reviewing tier-A briefs, and supervising agents across five times the accounts. </a:t>
                      </a:r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The method moves from their heads into something editable.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Sales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Emmanuel, plus one hire ten months in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Two to three — but only after ACV supports a twelve-month payback. Repricing first, hiring second.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Distribution / performance marketing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Digital marketing, self-described as “could be better”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A named owner with a budget. </a:t>
                      </a:r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This is now the scarce skill, not engineering.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Emmanuel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The only person who can sell, and the reference the market knows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The same — plus two months inside the tools, because the strategy cannot be delegated to someone who has not felt what the tools do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83879" y="1527048"/>
            <a:ext cx="3547872" cy="2194560"/>
          </a:xfrm>
          <a:prstGeom prst="rect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183879" y="1527048"/>
            <a:ext cx="54864" cy="21945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66759" y="1655064"/>
            <a:ext cx="3236976" cy="1975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 i="0">
                <a:solidFill>
                  <a:srgbClr val="051C2C"/>
                </a:solidFill>
                <a:latin typeface="Arial"/>
              </a:rPr>
              <a:t>The French constraint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Cutting is slow, expensive, requires documented justification, and signals distress to customers and acquirers alike.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So the decoupling comes from </a:t>
            </a:r>
            <a:r>
              <a:rPr sz="950" b="1" i="0">
                <a:solidFill>
                  <a:srgbClr val="262626"/>
                </a:solidFill>
                <a:latin typeface="Arial"/>
              </a:rPr>
              <a:t>not hiring</a:t>
            </a:r>
            <a:r>
              <a:rPr sz="950" b="0" i="0">
                <a:solidFill>
                  <a:srgbClr val="262626"/>
                </a:solidFill>
                <a:latin typeface="Arial"/>
              </a:rPr>
              <a:t>. The nine stay; the next nine are never hired; the work doubles.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3858768"/>
            <a:ext cx="3547872" cy="219456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66760" y="396849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99B4FF"/>
                </a:solidFill>
                <a:latin typeface="Arial"/>
              </a:rPr>
              <a:t>AND THE SUCCESSION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270248"/>
            <a:ext cx="32004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You plan to hand this to your two C-levels in five to six years. </a:t>
            </a:r>
            <a:r>
              <a:rPr sz="1000" b="1" i="0">
                <a:solidFill>
                  <a:srgbClr val="FFFFFF"/>
                </a:solidFill>
                <a:latin typeface="Arial"/>
              </a:rPr>
              <a:t>Everything on this page is also the succession plan</a:t>
            </a:r>
            <a:r>
              <a:rPr sz="1000" b="0" i="0">
                <a:solidFill>
                  <a:srgbClr val="FFFFFF"/>
                </a:solidFill>
                <a:latin typeface="Arial"/>
              </a:rPr>
              <a:t> — a method locked in one person's head cannot be handed over. A rules table, a verifier and a telemetry history can be.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Three facts still gate everything — and you have already started testing the first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7 ·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Note: kill-risk 3 uses the same fleet-size-by-account data the repricing exercise needs, so it costs nothing extra. A plan without these tests is a pitch.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20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27048"/>
          <a:ext cx="11274552" cy="3675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3200400"/>
                <a:gridCol w="286207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Kill-risk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Why it kills the thesis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Status after 13 Sep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If it fails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1 · Buyback exposure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Customers still on OEM buyback do not own residual risk, so the Fleet P&amp;L has no buyer.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In progress.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You have been discussing the car question with customers for two days and will continue. Ten structured calls finishes it.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Thesis narrows to the owned-at-risk segment; size it first. The move and substitute levers survive regardless.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2 · Fleet financials in the PMS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If acquisition cost, in-service date, mileage and disposal are absent from the integrated systems, the product becomes data entry — which this buyer will never do.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Open, and now more worrying.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You describe the ERPs as slow and unsophisticated, serving unsophisticated buyers. Assume the fields are thin.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First release becomes a fleet-data ingestion product. Six to nine months longer.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3 · Fleet-size distribution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Below roughly 200 cars, de-fleet decisions are too lumpy to optimise and value per account will not support the ACV step-up.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Open.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With ten-car and fifty-car operators in the base, the distribution matters more than version 1 assumed.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The fleet product is a top-quartile offer, not a platform offer. Viable, but a different sales model.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458968"/>
            <a:ext cx="11277295" cy="59436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5458968"/>
            <a:ext cx="1082009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A fourth risk, new in version 2:</a:t>
            </a:r>
            <a:r>
              <a:rPr sz="1000" b="0" i="0">
                <a:solidFill>
                  <a:srgbClr val="FFFFFF"/>
                </a:solidFill>
                <a:latin typeface="Arial"/>
              </a:rPr>
              <a:t> the method now lives inside a fine-tune. If Christian leaves, or the model needs retraining, or a customer disputes an answer — there is no artefact to point at. Getting the rules out of the weights and into a table is a </a:t>
            </a:r>
            <a:r>
              <a:rPr sz="1000" b="1" i="0">
                <a:solidFill>
                  <a:srgbClr val="FFFFFF"/>
                </a:solidFill>
                <a:latin typeface="Arial"/>
              </a:rPr>
              <a:t>succession</a:t>
            </a:r>
            <a:r>
              <a:rPr sz="1000" b="0" i="0">
                <a:solidFill>
                  <a:srgbClr val="FFFFFF"/>
                </a:solidFill>
                <a:latin typeface="Arial"/>
              </a:rPr>
              <a:t> issue as much as a product one.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Six decisions for this week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7 ·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Note: decisions 1, 2 and 5 cost nothing. Decision 3 is a policy change with immediate effect. Decision 6 is a commercial conversation whose lead time exceeds any integration.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21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527048"/>
            <a:ext cx="502920" cy="6583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527048"/>
            <a:ext cx="10774375" cy="65836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1581912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Get on the tools yourself, properly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581912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The €200-a-year plan will not show you anything. Take the €100-a-month plan and the command line for two months. The strategy cannot be delegated to someone who has not felt what the tools 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581912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Arial"/>
              </a:rPr>
              <a:t>Emmanuel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1581912"/>
            <a:ext cx="98755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51C2C"/>
                </a:solidFill>
                <a:latin typeface="Arial"/>
              </a:rPr>
              <a:t>This week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0120" y="2185416"/>
            <a:ext cx="1077437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57200" y="2240280"/>
            <a:ext cx="502920" cy="6583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200" y="224028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2240280"/>
            <a:ext cx="107743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43000" y="2295144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Finish the ten customer calls on the car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295144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Buyback mix, fleet-data fields, fleet size. You have started. Structure it and finish it — it gates everything else.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295144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Arial"/>
              </a:rPr>
              <a:t>Emmanuel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2295144"/>
            <a:ext cx="98755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51C2C"/>
                </a:solidFill>
                <a:latin typeface="Arial"/>
              </a:rPr>
              <a:t>Week 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0120" y="2898648"/>
            <a:ext cx="1077437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57200" y="2953512"/>
            <a:ext cx="502920" cy="658368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7200" y="2953512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2953512"/>
            <a:ext cx="10774375" cy="65836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43000" y="3008376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Turn on recommendation telemetry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3008376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What the agent recommended, what the customer did, what happened. Cheap today, impossible to reconstruct later.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008376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Arial"/>
              </a:rPr>
              <a:t>Christian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3008376"/>
            <a:ext cx="98755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51C2C"/>
                </a:solidFill>
                <a:latin typeface="Arial"/>
              </a:rPr>
              <a:t>Week 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0120" y="3611880"/>
            <a:ext cx="1077437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57200" y="3666744"/>
            <a:ext cx="502920" cy="658368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3666744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" y="3666744"/>
            <a:ext cx="107743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143000" y="372160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Get the rules out of the weights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3721608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Sit with a coach and write down ten rules as a table. Not as marketing — as specification the engine can execute and a human can edit.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3721608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Arial"/>
              </a:rPr>
              <a:t>Coach + Christian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2760" y="3721608"/>
            <a:ext cx="98755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51C2C"/>
                </a:solidFill>
                <a:latin typeface="Arial"/>
              </a:rPr>
              <a:t>Weeks 1–3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60120" y="4325112"/>
            <a:ext cx="1077437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57200" y="4379976"/>
            <a:ext cx="502920" cy="658368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4379976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" y="4379976"/>
            <a:ext cx="10774375" cy="65836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143000" y="44348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Pull the fleet size behind every top-20 account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443484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Then run per-vehicle pricing against them. If those numbers cannot be produced, that is itself the finding of the week.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64040" y="4434840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Arial"/>
              </a:rPr>
              <a:t>Sales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52760" y="4434840"/>
            <a:ext cx="98755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51C2C"/>
                </a:solidFill>
                <a:latin typeface="Arial"/>
              </a:rPr>
              <a:t>Week 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60120" y="5038344"/>
            <a:ext cx="1077437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457200" y="5093208"/>
            <a:ext cx="502920" cy="658368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57200" y="5093208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0120" y="5093208"/>
            <a:ext cx="107743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143000" y="5148072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Open the Indicata conversation as a data barter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51960" y="5148072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Critical path for Horizon 2. Commercial negotiations take longer than integrations, so it starts now, not when the module is designed.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64040" y="5148072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Arial"/>
              </a:rPr>
              <a:t>Emmanuel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52760" y="5148072"/>
            <a:ext cx="98755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51C2C"/>
                </a:solidFill>
                <a:latin typeface="Arial"/>
              </a:rPr>
              <a:t>Week 2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60120" y="5751576"/>
            <a:ext cx="1077437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143000" y="14630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7F7F7F"/>
                </a:solidFill>
                <a:latin typeface="Arial"/>
              </a:rPr>
              <a:t>DECISION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146304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7F7F7F"/>
                </a:solidFill>
                <a:latin typeface="Arial"/>
              </a:rPr>
              <a:t>OWNER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52760" y="1463040"/>
            <a:ext cx="9875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 i="0">
                <a:solidFill>
                  <a:srgbClr val="7F7F7F"/>
                </a:solidFill>
                <a:latin typeface="Arial"/>
              </a:rPr>
              <a:t>WHEN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85216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51C2C"/>
                </a:solidFill>
                <a:latin typeface="Georgia"/>
              </a:rPr>
              <a:t>The real risk is not choosing the wrong AI strategy. It is spending 2027 deciding.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051C2C"/>
                </a:solidFill>
                <a:latin typeface="Georgia"/>
              </a:rPr>
              <a:t>Appendix — what is given, what is derived, what is assumed, and what still conflicts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44168"/>
            <a:ext cx="11277295" cy="0"/>
          </a:xfrm>
          <a:prstGeom prst="line">
            <a:avLst/>
          </a:prstGeom>
          <a:ln w="9525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052560" y="182880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F7F7F"/>
                </a:solidFill>
                <a:latin typeface="Arial"/>
              </a:rPr>
              <a:t>Prepared by Ram Badrinathan, 14 September 2026. Version 2, rewritten after the conversation with Emmanuel Scuto of 13 September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73368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F7F7F"/>
                </a:solidFill>
                <a:latin typeface="Arial"/>
              </a:rPr>
              <a:t>22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81928"/>
            <a:ext cx="1127729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27048"/>
          <a:ext cx="11274551" cy="47274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5486400"/>
                <a:gridCol w="405079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Figures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54864" marR="54864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51C2C"/>
                      </a:solidFill>
                      <a:prstDash val="solid"/>
                    </a:lnB>
                    <a:solidFill>
                      <a:srgbClr val="051C2C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Given — Emmanuel, 13 Sep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Founded 2012 · 100+ customers of a workable ~1,000 · worldwide, not Europe-centric · no profit in ten years · 9 people · Christian CTO · one sales hire, 10 months · exit in 5–6 years to the two C-levels · 60–70% of operator cost is the car · 3 years of recorded calls · 3B fine-tune at 95–97%, self-hosted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As stated in conversation. Not verified against company records.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Given — Olivier, 10 Sep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€1.5M revenue · ~4% operator net margin · ~€2M standing offer · 10–15% growth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As reported. </a:t>
                      </a:r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Two items conflict with Emmanuel's account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— see the last row.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Derived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~10% market penetration · implied ACV · TAM at current pricing · Rule of 40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Arithmetic on the given figures only.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Assumed — not verified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€700 revenue per unit per month · €22K acquisition · €15K disposal · ancillary share and margin · loaded salesperson cost · cost-to-serve lines · all three-year projections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Invented to show a mechanism and its order of magnitude.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Every one is listed with its location in OPEN-QUESTIONS.md. Correct any and the exhibit should be redrawn.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Unresolved conflicts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Exit horizon: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Olivier says two to three years and a sale; Emmanuel says five to six and a handover to his C-levels. </a:t>
                      </a:r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Deal size:</a:t>
                      </a:r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 “under €40,000” against an implied average nearer €12,500.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Both change what the plan optimises for. Worth settling before this deck goes to anyone else.</a:t>
                      </a:r>
                    </a:p>
                  </a:txBody>
                  <a:tcPr marL="54864" marR="54864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